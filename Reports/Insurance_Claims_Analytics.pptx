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3.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4.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5.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301" r:id="rId14"/>
    <p:sldId id="302" r:id="rId15"/>
    <p:sldId id="303" r:id="rId16"/>
    <p:sldId id="284" r:id="rId17"/>
    <p:sldId id="304" r:id="rId18"/>
    <p:sldId id="305" r:id="rId19"/>
    <p:sldId id="306" r:id="rId20"/>
    <p:sldId id="269" r:id="rId21"/>
    <p:sldId id="307" r:id="rId22"/>
    <p:sldId id="270" r:id="rId23"/>
    <p:sldId id="308" r:id="rId24"/>
    <p:sldId id="309"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Claims</c:v>
                </c:pt>
              </c:strCache>
            </c:strRef>
          </c:tx>
          <c:spPr>
            <a:solidFill>
              <a:srgbClr val="2F75B5"/>
            </a:solidFill>
            <a:effectLst/>
          </c:spPr>
          <c:invertIfNegative val="0"/>
          <c:dLbls>
            <c:numFmt formatCode="#,##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Motor</c:v>
                </c:pt>
                <c:pt idx="1">
                  <c:v>Travel</c:v>
                </c:pt>
                <c:pt idx="2">
                  <c:v>Life</c:v>
                </c:pt>
                <c:pt idx="3">
                  <c:v>Health</c:v>
                </c:pt>
                <c:pt idx="4">
                  <c:v>Mobile</c:v>
                </c:pt>
                <c:pt idx="5">
                  <c:v>Property</c:v>
                </c:pt>
              </c:strCache>
            </c:strRef>
          </c:cat>
          <c:val>
            <c:numRef>
              <c:f>Sheet1!$B$2:$B$7</c:f>
              <c:numCache>
                <c:formatCode>General</c:formatCode>
                <c:ptCount val="6"/>
                <c:pt idx="0">
                  <c:v>1574</c:v>
                </c:pt>
                <c:pt idx="1">
                  <c:v>1670</c:v>
                </c:pt>
                <c:pt idx="2">
                  <c:v>1682</c:v>
                </c:pt>
                <c:pt idx="3">
                  <c:v>1690</c:v>
                </c:pt>
                <c:pt idx="4">
                  <c:v>1692</c:v>
                </c:pt>
                <c:pt idx="5">
                  <c:v>1692</c:v>
                </c:pt>
              </c:numCache>
            </c:numRef>
          </c:val>
          <c:extLst>
            <c:ext xmlns:c16="http://schemas.microsoft.com/office/drawing/2014/chart" uri="{C3380CC4-5D6E-409C-BE32-E72D297353CC}">
              <c16:uniqueId val="{00000000-0AB2-4628-BB39-052753CAB426}"/>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2115"/>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Claims</c:v>
                </c:pt>
              </c:strCache>
            </c:strRef>
          </c:tx>
          <c:spPr>
            <a:solidFill>
              <a:srgbClr val="17365D"/>
            </a:solidFill>
            <a:effectLst/>
          </c:spPr>
          <c:invertIfNegative val="0"/>
          <c:dLbls>
            <c:numFmt formatCode="#,##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High</c:v>
                </c:pt>
                <c:pt idx="1">
                  <c:v>Medium</c:v>
                </c:pt>
                <c:pt idx="2">
                  <c:v>Low</c:v>
                </c:pt>
              </c:strCache>
            </c:strRef>
          </c:cat>
          <c:val>
            <c:numRef>
              <c:f>Sheet1!$B$2:$B$4</c:f>
              <c:numCache>
                <c:formatCode>General</c:formatCode>
                <c:ptCount val="3"/>
                <c:pt idx="0">
                  <c:v>1455</c:v>
                </c:pt>
                <c:pt idx="1">
                  <c:v>4150</c:v>
                </c:pt>
                <c:pt idx="2">
                  <c:v>4395</c:v>
                </c:pt>
              </c:numCache>
            </c:numRef>
          </c:val>
          <c:extLst>
            <c:ext xmlns:c16="http://schemas.microsoft.com/office/drawing/2014/chart" uri="{C3380CC4-5D6E-409C-BE32-E72D297353CC}">
              <c16:uniqueId val="{00000000-178F-408E-911C-35E31B5B858C}"/>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5493.75"/>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Claims</c:v>
                </c:pt>
              </c:strCache>
            </c:strRef>
          </c:tx>
          <c:spPr>
            <a:solidFill>
              <a:srgbClr val="008C95"/>
            </a:solidFill>
            <a:effectLst/>
          </c:spPr>
          <c:invertIfNegative val="0"/>
          <c:dLbls>
            <c:numFmt formatCode="#,##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Minor Loss</c:v>
                </c:pt>
                <c:pt idx="1">
                  <c:v>Major Loss</c:v>
                </c:pt>
                <c:pt idx="2">
                  <c:v>Total Loss</c:v>
                </c:pt>
              </c:strCache>
            </c:strRef>
          </c:cat>
          <c:val>
            <c:numRef>
              <c:f>Sheet1!$B$2:$B$4</c:f>
              <c:numCache>
                <c:formatCode>General</c:formatCode>
                <c:ptCount val="3"/>
                <c:pt idx="0">
                  <c:v>3293</c:v>
                </c:pt>
                <c:pt idx="1">
                  <c:v>3317</c:v>
                </c:pt>
                <c:pt idx="2">
                  <c:v>3390</c:v>
                </c:pt>
              </c:numCache>
            </c:numRef>
          </c:val>
          <c:extLst>
            <c:ext xmlns:c16="http://schemas.microsoft.com/office/drawing/2014/chart" uri="{C3380CC4-5D6E-409C-BE32-E72D297353CC}">
              <c16:uniqueId val="{00000000-33F7-430D-89F5-80FC1CEF455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4237.5"/>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Total claim amount</c:v>
                </c:pt>
              </c:strCache>
            </c:strRef>
          </c:tx>
          <c:spPr>
            <a:solidFill>
              <a:srgbClr val="2F75B5"/>
            </a:solidFill>
            <a:effectLst/>
          </c:spPr>
          <c:invertIfNegative val="0"/>
          <c:dLbls>
            <c:numFmt formatCode="0.0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Life</c:v>
                </c:pt>
                <c:pt idx="1">
                  <c:v>Property</c:v>
                </c:pt>
                <c:pt idx="2">
                  <c:v>Health</c:v>
                </c:pt>
                <c:pt idx="3">
                  <c:v>Motor</c:v>
                </c:pt>
                <c:pt idx="4">
                  <c:v>Travel</c:v>
                </c:pt>
                <c:pt idx="5">
                  <c:v>Mobile</c:v>
                </c:pt>
              </c:strCache>
            </c:strRef>
          </c:cat>
          <c:val>
            <c:numRef>
              <c:f>Sheet1!$B$2:$B$7</c:f>
              <c:numCache>
                <c:formatCode>General</c:formatCode>
                <c:ptCount val="6"/>
                <c:pt idx="0">
                  <c:v>91.477999999999994</c:v>
                </c:pt>
                <c:pt idx="1">
                  <c:v>41.579000000000001</c:v>
                </c:pt>
                <c:pt idx="2">
                  <c:v>18.254000000000001</c:v>
                </c:pt>
                <c:pt idx="3">
                  <c:v>8.6630000000000003</c:v>
                </c:pt>
                <c:pt idx="4">
                  <c:v>4.976</c:v>
                </c:pt>
                <c:pt idx="5">
                  <c:v>0.68830000000000002</c:v>
                </c:pt>
              </c:numCache>
            </c:numRef>
          </c:val>
          <c:extLst>
            <c:ext xmlns:c16="http://schemas.microsoft.com/office/drawing/2014/chart" uri="{C3380CC4-5D6E-409C-BE32-E72D297353CC}">
              <c16:uniqueId val="{00000000-B4AD-4E6D-860D-63994D7FF97F}"/>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11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Share of claims</c:v>
                </c:pt>
              </c:strCache>
            </c:strRef>
          </c:tx>
          <c:spPr>
            <a:solidFill>
              <a:srgbClr val="7FB7D9"/>
            </a:solidFill>
            <a:effectLst/>
          </c:spPr>
          <c:invertIfNegative val="0"/>
          <c:dLbls>
            <c:numFmt formatCode="0.0%" sourceLinked="0"/>
            <c:spPr>
              <a:noFill/>
              <a:ln>
                <a:noFill/>
              </a:ln>
              <a:effectLst/>
            </c:spPr>
            <c:txPr>
              <a:bodyPr/>
              <a:lstStyle/>
              <a:p>
                <a:pPr>
                  <a:defRPr sz="9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Life</c:v>
                </c:pt>
                <c:pt idx="1">
                  <c:v>Property</c:v>
                </c:pt>
                <c:pt idx="2">
                  <c:v>Health</c:v>
                </c:pt>
                <c:pt idx="3">
                  <c:v>Motor</c:v>
                </c:pt>
                <c:pt idx="4">
                  <c:v>Travel</c:v>
                </c:pt>
                <c:pt idx="5">
                  <c:v>Mobile</c:v>
                </c:pt>
              </c:strCache>
            </c:strRef>
          </c:cat>
          <c:val>
            <c:numRef>
              <c:f>Sheet1!$B$2:$B$7</c:f>
              <c:numCache>
                <c:formatCode>General</c:formatCode>
                <c:ptCount val="6"/>
                <c:pt idx="0">
                  <c:v>0.16819999999999999</c:v>
                </c:pt>
                <c:pt idx="1">
                  <c:v>0.16919999999999999</c:v>
                </c:pt>
                <c:pt idx="2">
                  <c:v>0.16900000000000001</c:v>
                </c:pt>
                <c:pt idx="3">
                  <c:v>0.15740000000000001</c:v>
                </c:pt>
                <c:pt idx="4">
                  <c:v>0.16700000000000001</c:v>
                </c:pt>
                <c:pt idx="5">
                  <c:v>0.16919999999999999</c:v>
                </c:pt>
              </c:numCache>
            </c:numRef>
          </c:val>
          <c:extLst>
            <c:ext xmlns:c16="http://schemas.microsoft.com/office/drawing/2014/chart" uri="{C3380CC4-5D6E-409C-BE32-E72D297353CC}">
              <c16:uniqueId val="{00000000-06B0-4915-A84D-DD1948DEB848}"/>
            </c:ext>
          </c:extLst>
        </c:ser>
        <c:ser>
          <c:idx val="1"/>
          <c:order val="1"/>
          <c:tx>
            <c:strRef>
              <c:f>Sheet1!$C$1</c:f>
              <c:strCache>
                <c:ptCount val="1"/>
                <c:pt idx="0">
                  <c:v>Share of exposure</c:v>
                </c:pt>
              </c:strCache>
            </c:strRef>
          </c:tx>
          <c:spPr>
            <a:solidFill>
              <a:srgbClr val="17365D"/>
            </a:solidFill>
            <a:effectLst/>
          </c:spPr>
          <c:invertIfNegative val="0"/>
          <c:dLbls>
            <c:numFmt formatCode="0.0%" sourceLinked="0"/>
            <c:spPr>
              <a:noFill/>
              <a:ln>
                <a:noFill/>
              </a:ln>
              <a:effectLst/>
            </c:spPr>
            <c:txPr>
              <a:bodyPr/>
              <a:lstStyle/>
              <a:p>
                <a:pPr>
                  <a:defRPr sz="9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Life</c:v>
                </c:pt>
                <c:pt idx="1">
                  <c:v>Property</c:v>
                </c:pt>
                <c:pt idx="2">
                  <c:v>Health</c:v>
                </c:pt>
                <c:pt idx="3">
                  <c:v>Motor</c:v>
                </c:pt>
                <c:pt idx="4">
                  <c:v>Travel</c:v>
                </c:pt>
                <c:pt idx="5">
                  <c:v>Mobile</c:v>
                </c:pt>
              </c:strCache>
            </c:strRef>
          </c:cat>
          <c:val>
            <c:numRef>
              <c:f>Sheet1!$C$2:$C$7</c:f>
              <c:numCache>
                <c:formatCode>General</c:formatCode>
                <c:ptCount val="6"/>
                <c:pt idx="0">
                  <c:v>0.55227565122317723</c:v>
                </c:pt>
                <c:pt idx="1">
                  <c:v>0.25102286125853746</c:v>
                </c:pt>
                <c:pt idx="2">
                  <c:v>0.11020398060110494</c:v>
                </c:pt>
                <c:pt idx="3">
                  <c:v>5.2300705815019832E-2</c:v>
                </c:pt>
                <c:pt idx="4">
                  <c:v>3.0041361206918932E-2</c:v>
                </c:pt>
                <c:pt idx="5">
                  <c:v>4.1554398952416199E-3</c:v>
                </c:pt>
              </c:numCache>
            </c:numRef>
          </c:val>
          <c:extLst>
            <c:ext xmlns:c16="http://schemas.microsoft.com/office/drawing/2014/chart" uri="{C3380CC4-5D6E-409C-BE32-E72D297353CC}">
              <c16:uniqueId val="{00000001-06B0-4915-A84D-DD1948DEB848}"/>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000">
              <a:solidFill>
                <a:srgbClr val="2B344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Claim amount</c:v>
                </c:pt>
              </c:strCache>
            </c:strRef>
          </c:tx>
          <c:spPr>
            <a:ln w="25400" cap="flat">
              <a:solidFill>
                <a:srgbClr val="2F75B5"/>
              </a:solidFill>
              <a:prstDash val="solid"/>
              <a:round/>
            </a:ln>
            <a:effectLst/>
          </c:spPr>
          <c:marker>
            <c:symbol val="circle"/>
            <c:size val="6"/>
            <c:spPr>
              <a:solidFill>
                <a:srgbClr val="2F75B5"/>
              </a:solidFill>
              <a:ln w="9525" cap="flat">
                <a:solidFill>
                  <a:srgbClr val="2F75B5"/>
                </a:solidFill>
                <a:prstDash val="solid"/>
                <a:round/>
              </a:ln>
              <a:effectLst/>
            </c:spPr>
          </c:marker>
          <c:dLbls>
            <c:numFmt formatCode="0.0" sourceLinked="0"/>
            <c:spPr>
              <a:noFill/>
              <a:ln>
                <a:noFill/>
              </a:ln>
              <a:effectLst/>
            </c:spPr>
            <c:txPr>
              <a:bodyPr/>
              <a:lstStyle/>
              <a:p>
                <a:pPr>
                  <a:defRPr sz="900" b="0" i="0" u="none" strike="noStrike">
                    <a:solidFill>
                      <a:srgbClr val="2B3440"/>
                    </a:solidFill>
                    <a:latin typeface="Calibri"/>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Sheet1!$A$2:$A$15</c:f>
              <c:strCache>
                <c:ptCount val="14"/>
                <c:pt idx="0">
                  <c:v>May 20</c:v>
                </c:pt>
                <c:pt idx="1">
                  <c:v>Jun 20</c:v>
                </c:pt>
                <c:pt idx="2">
                  <c:v>Jul 20</c:v>
                </c:pt>
                <c:pt idx="3">
                  <c:v>Aug 20</c:v>
                </c:pt>
                <c:pt idx="4">
                  <c:v>Sep 20</c:v>
                </c:pt>
                <c:pt idx="5">
                  <c:v>Oct 20</c:v>
                </c:pt>
                <c:pt idx="6">
                  <c:v>Nov 20</c:v>
                </c:pt>
                <c:pt idx="7">
                  <c:v>Dec 20</c:v>
                </c:pt>
                <c:pt idx="8">
                  <c:v>Jan 21</c:v>
                </c:pt>
                <c:pt idx="9">
                  <c:v>Feb 21</c:v>
                </c:pt>
                <c:pt idx="10">
                  <c:v>Mar 21</c:v>
                </c:pt>
                <c:pt idx="11">
                  <c:v>Apr 21</c:v>
                </c:pt>
                <c:pt idx="12">
                  <c:v>May 21</c:v>
                </c:pt>
                <c:pt idx="13">
                  <c:v>Jun 21</c:v>
                </c:pt>
              </c:strCache>
            </c:strRef>
          </c:cat>
          <c:val>
            <c:numRef>
              <c:f>Sheet1!$B$2:$B$15</c:f>
              <c:numCache>
                <c:formatCode>General</c:formatCode>
                <c:ptCount val="14"/>
                <c:pt idx="0">
                  <c:v>5.21</c:v>
                </c:pt>
                <c:pt idx="1">
                  <c:v>11.83</c:v>
                </c:pt>
                <c:pt idx="2">
                  <c:v>11.9</c:v>
                </c:pt>
                <c:pt idx="3">
                  <c:v>12.19</c:v>
                </c:pt>
                <c:pt idx="4">
                  <c:v>13.12</c:v>
                </c:pt>
                <c:pt idx="5">
                  <c:v>12.31</c:v>
                </c:pt>
                <c:pt idx="6">
                  <c:v>12</c:v>
                </c:pt>
                <c:pt idx="7">
                  <c:v>14.21</c:v>
                </c:pt>
                <c:pt idx="8">
                  <c:v>14.25</c:v>
                </c:pt>
                <c:pt idx="9">
                  <c:v>11.71</c:v>
                </c:pt>
                <c:pt idx="10">
                  <c:v>12.58</c:v>
                </c:pt>
                <c:pt idx="11">
                  <c:v>11.71</c:v>
                </c:pt>
                <c:pt idx="12">
                  <c:v>14.25</c:v>
                </c:pt>
                <c:pt idx="13">
                  <c:v>8.36</c:v>
                </c:pt>
              </c:numCache>
            </c:numRef>
          </c:val>
          <c:smooth val="0"/>
          <c:extLst>
            <c:ext xmlns:c16="http://schemas.microsoft.com/office/drawing/2014/chart" uri="{C3380CC4-5D6E-409C-BE32-E72D297353CC}">
              <c16:uniqueId val="{00000000-1D74-4352-9949-D03D3F358661}"/>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18"/>
          <c:min val="0"/>
        </c:scaling>
        <c:delete val="0"/>
        <c:axPos val="l"/>
        <c:majorGridlines>
          <c:spPr>
            <a:ln w="9525" cap="flat">
              <a:solidFill>
                <a:srgbClr val="E3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684"/>
                </a:solidFill>
                <a:latin typeface="Calibri"/>
              </a:defRPr>
            </a:pPr>
            <a:endParaRPr lang="en-US"/>
          </a:p>
        </c:txPr>
        <c:crossAx val="2094734554"/>
        <c:crosses val="autoZero"/>
        <c:crossBetween val="between"/>
        <c:majorUnit val="6"/>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Claim amount</c:v>
                </c:pt>
              </c:strCache>
            </c:strRef>
          </c:tx>
          <c:spPr>
            <a:solidFill>
              <a:srgbClr val="008C95"/>
            </a:solidFill>
            <a:effectLst/>
          </c:spPr>
          <c:invertIfNegative val="0"/>
          <c:dLbls>
            <c:numFmt formatCode="0.0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CA</c:v>
                </c:pt>
                <c:pt idx="1">
                  <c:v>AR</c:v>
                </c:pt>
                <c:pt idx="2">
                  <c:v>GA</c:v>
                </c:pt>
                <c:pt idx="3">
                  <c:v>TN</c:v>
                </c:pt>
                <c:pt idx="4">
                  <c:v>CO</c:v>
                </c:pt>
              </c:strCache>
            </c:strRef>
          </c:cat>
          <c:val>
            <c:numRef>
              <c:f>Sheet1!$B$2:$B$6</c:f>
              <c:numCache>
                <c:formatCode>General</c:formatCode>
                <c:ptCount val="5"/>
                <c:pt idx="0">
                  <c:v>18.079999999999998</c:v>
                </c:pt>
                <c:pt idx="1">
                  <c:v>11.66</c:v>
                </c:pt>
                <c:pt idx="2">
                  <c:v>11.29</c:v>
                </c:pt>
                <c:pt idx="3">
                  <c:v>10.72</c:v>
                </c:pt>
                <c:pt idx="4">
                  <c:v>10.58</c:v>
                </c:pt>
              </c:numCache>
            </c:numRef>
          </c:val>
          <c:extLst>
            <c:ext xmlns:c16="http://schemas.microsoft.com/office/drawing/2014/chart" uri="{C3380CC4-5D6E-409C-BE32-E72D297353CC}">
              <c16:uniqueId val="{00000000-E36C-403A-A4AE-5CF62D4AE4DA}"/>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23"/>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c:v>
                </c:pt>
              </c:strCache>
            </c:strRef>
          </c:tx>
          <c:spPr>
            <a:solidFill>
              <a:srgbClr val="2F75B5"/>
            </a:solidFill>
            <a:effectLst/>
          </c:spPr>
          <c:invertIfNegative val="0"/>
          <c:dLbls>
            <c:numFmt formatCode="#,##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25–29</c:v>
                </c:pt>
                <c:pt idx="1">
                  <c:v>30–39</c:v>
                </c:pt>
                <c:pt idx="2">
                  <c:v>40–49</c:v>
                </c:pt>
                <c:pt idx="3">
                  <c:v>50–59</c:v>
                </c:pt>
                <c:pt idx="4">
                  <c:v>60–64</c:v>
                </c:pt>
              </c:strCache>
            </c:strRef>
          </c:cat>
          <c:val>
            <c:numRef>
              <c:f>Sheet1!$B$2:$B$6</c:f>
              <c:numCache>
                <c:formatCode>General</c:formatCode>
                <c:ptCount val="5"/>
                <c:pt idx="0">
                  <c:v>1282</c:v>
                </c:pt>
                <c:pt idx="1">
                  <c:v>2452</c:v>
                </c:pt>
                <c:pt idx="2">
                  <c:v>2510</c:v>
                </c:pt>
                <c:pt idx="3">
                  <c:v>2529</c:v>
                </c:pt>
                <c:pt idx="4">
                  <c:v>1227</c:v>
                </c:pt>
              </c:numCache>
            </c:numRef>
          </c:val>
          <c:extLst>
            <c:ext xmlns:c16="http://schemas.microsoft.com/office/drawing/2014/chart" uri="{C3380CC4-5D6E-409C-BE32-E72D297353CC}">
              <c16:uniqueId val="{00000000-A69A-48C0-9390-C63D4021CC84}"/>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300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c:v>
                </c:pt>
              </c:strCache>
            </c:strRef>
          </c:tx>
          <c:spPr>
            <a:solidFill>
              <a:srgbClr val="008C95"/>
            </a:solidFill>
            <a:effectLst/>
          </c:spPr>
          <c:invertIfNegative val="0"/>
          <c:dLbls>
            <c:numFmt formatCode="#,##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&lt;2 Years</c:v>
                </c:pt>
                <c:pt idx="1">
                  <c:v>2–4.9 Years</c:v>
                </c:pt>
                <c:pt idx="2">
                  <c:v>5–6.9 Years</c:v>
                </c:pt>
                <c:pt idx="3">
                  <c:v>7–9.9 Years</c:v>
                </c:pt>
              </c:strCache>
            </c:strRef>
          </c:cat>
          <c:val>
            <c:numRef>
              <c:f>Sheet1!$B$2:$B$5</c:f>
              <c:numCache>
                <c:formatCode>General</c:formatCode>
                <c:ptCount val="4"/>
                <c:pt idx="0">
                  <c:v>1556</c:v>
                </c:pt>
                <c:pt idx="1">
                  <c:v>3106</c:v>
                </c:pt>
                <c:pt idx="2">
                  <c:v>2141</c:v>
                </c:pt>
                <c:pt idx="3">
                  <c:v>3197</c:v>
                </c:pt>
              </c:numCache>
            </c:numRef>
          </c:val>
          <c:extLst>
            <c:ext xmlns:c16="http://schemas.microsoft.com/office/drawing/2014/chart" uri="{C3380CC4-5D6E-409C-BE32-E72D297353CC}">
              <c16:uniqueId val="{00000000-032F-4EE7-B029-56C7C316C336}"/>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380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Importance</c:v>
                </c:pt>
              </c:strCache>
            </c:strRef>
          </c:tx>
          <c:spPr>
            <a:solidFill>
              <a:srgbClr val="17365D"/>
            </a:solidFill>
            <a:effectLst/>
          </c:spPr>
          <c:invertIfNegative val="0"/>
          <c:dPt>
            <c:idx val="0"/>
            <c:invertIfNegative val="0"/>
            <c:bubble3D val="0"/>
            <c:extLst>
              <c:ext xmlns:c16="http://schemas.microsoft.com/office/drawing/2014/chart" uri="{C3380CC4-5D6E-409C-BE32-E72D297353CC}">
                <c16:uniqueId val="{00000001-5321-4558-94FE-4AD4972C77FD}"/>
              </c:ext>
            </c:extLst>
          </c:dPt>
          <c:dPt>
            <c:idx val="1"/>
            <c:invertIfNegative val="0"/>
            <c:bubble3D val="0"/>
            <c:extLst>
              <c:ext xmlns:c16="http://schemas.microsoft.com/office/drawing/2014/chart" uri="{C3380CC4-5D6E-409C-BE32-E72D297353CC}">
                <c16:uniqueId val="{00000003-5321-4558-94FE-4AD4972C77FD}"/>
              </c:ext>
            </c:extLst>
          </c:dPt>
          <c:dPt>
            <c:idx val="2"/>
            <c:invertIfNegative val="0"/>
            <c:bubble3D val="0"/>
            <c:spPr>
              <a:solidFill>
                <a:srgbClr val="7FB7D9"/>
              </a:solidFill>
              <a:effectLst/>
            </c:spPr>
            <c:extLst>
              <c:ext xmlns:c16="http://schemas.microsoft.com/office/drawing/2014/chart" uri="{C3380CC4-5D6E-409C-BE32-E72D297353CC}">
                <c16:uniqueId val="{00000005-5321-4558-94FE-4AD4972C77FD}"/>
              </c:ext>
            </c:extLst>
          </c:dPt>
          <c:dPt>
            <c:idx val="3"/>
            <c:invertIfNegative val="0"/>
            <c:bubble3D val="0"/>
            <c:spPr>
              <a:solidFill>
                <a:srgbClr val="7FB7D9"/>
              </a:solidFill>
              <a:effectLst/>
            </c:spPr>
            <c:extLst>
              <c:ext xmlns:c16="http://schemas.microsoft.com/office/drawing/2014/chart" uri="{C3380CC4-5D6E-409C-BE32-E72D297353CC}">
                <c16:uniqueId val="{00000007-5321-4558-94FE-4AD4972C77FD}"/>
              </c:ext>
            </c:extLst>
          </c:dPt>
          <c:dPt>
            <c:idx val="4"/>
            <c:invertIfNegative val="0"/>
            <c:bubble3D val="0"/>
            <c:spPr>
              <a:solidFill>
                <a:srgbClr val="7FB7D9"/>
              </a:solidFill>
              <a:effectLst/>
            </c:spPr>
            <c:extLst>
              <c:ext xmlns:c16="http://schemas.microsoft.com/office/drawing/2014/chart" uri="{C3380CC4-5D6E-409C-BE32-E72D297353CC}">
                <c16:uniqueId val="{00000009-5321-4558-94FE-4AD4972C77FD}"/>
              </c:ext>
            </c:extLst>
          </c:dPt>
          <c:dPt>
            <c:idx val="5"/>
            <c:invertIfNegative val="0"/>
            <c:bubble3D val="0"/>
            <c:extLst>
              <c:ext xmlns:c16="http://schemas.microsoft.com/office/drawing/2014/chart" uri="{C3380CC4-5D6E-409C-BE32-E72D297353CC}">
                <c16:uniqueId val="{0000000B-5321-4558-94FE-4AD4972C77FD}"/>
              </c:ext>
            </c:extLst>
          </c:dPt>
          <c:dPt>
            <c:idx val="6"/>
            <c:invertIfNegative val="0"/>
            <c:bubble3D val="0"/>
            <c:spPr>
              <a:solidFill>
                <a:srgbClr val="7FB7D9"/>
              </a:solidFill>
              <a:effectLst/>
            </c:spPr>
            <c:extLst>
              <c:ext xmlns:c16="http://schemas.microsoft.com/office/drawing/2014/chart" uri="{C3380CC4-5D6E-409C-BE32-E72D297353CC}">
                <c16:uniqueId val="{0000000D-5321-4558-94FE-4AD4972C77FD}"/>
              </c:ext>
            </c:extLst>
          </c:dPt>
          <c:dPt>
            <c:idx val="7"/>
            <c:invertIfNegative val="0"/>
            <c:bubble3D val="0"/>
            <c:spPr>
              <a:solidFill>
                <a:srgbClr val="7FB7D9"/>
              </a:solidFill>
              <a:effectLst/>
            </c:spPr>
            <c:extLst>
              <c:ext xmlns:c16="http://schemas.microsoft.com/office/drawing/2014/chart" uri="{C3380CC4-5D6E-409C-BE32-E72D297353CC}">
                <c16:uniqueId val="{0000000F-5321-4558-94FE-4AD4972C77FD}"/>
              </c:ext>
            </c:extLst>
          </c:dPt>
          <c:dLbls>
            <c:numFmt formatCode="0.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Insurance: Life</c:v>
                </c:pt>
                <c:pt idx="1">
                  <c:v>Insurance: Property</c:v>
                </c:pt>
                <c:pt idx="2">
                  <c:v>Tenure</c:v>
                </c:pt>
                <c:pt idx="3">
                  <c:v>Age</c:v>
                </c:pt>
                <c:pt idx="4">
                  <c:v>Incident hour</c:v>
                </c:pt>
                <c:pt idx="5">
                  <c:v>Insurance: Health</c:v>
                </c:pt>
                <c:pt idx="6">
                  <c:v>Reporting delay</c:v>
                </c:pt>
                <c:pt idx="7">
                  <c:v>Education: Bachelor</c:v>
                </c:pt>
              </c:strCache>
            </c:strRef>
          </c:cat>
          <c:val>
            <c:numRef>
              <c:f>Sheet1!$B$2:$B$9</c:f>
              <c:numCache>
                <c:formatCode>General</c:formatCode>
                <c:ptCount val="8"/>
                <c:pt idx="0">
                  <c:v>0.60042499999999999</c:v>
                </c:pt>
                <c:pt idx="1">
                  <c:v>0.10639899999999999</c:v>
                </c:pt>
                <c:pt idx="2">
                  <c:v>5.5447999999999997E-2</c:v>
                </c:pt>
                <c:pt idx="3">
                  <c:v>4.6226999999999997E-2</c:v>
                </c:pt>
                <c:pt idx="4">
                  <c:v>4.1482999999999999E-2</c:v>
                </c:pt>
                <c:pt idx="5">
                  <c:v>1.6122999999999998E-2</c:v>
                </c:pt>
                <c:pt idx="6">
                  <c:v>1.5775999999999998E-2</c:v>
                </c:pt>
                <c:pt idx="7">
                  <c:v>5.7580000000000001E-3</c:v>
                </c:pt>
              </c:numCache>
            </c:numRef>
          </c:val>
          <c:extLst>
            <c:ext xmlns:c16="http://schemas.microsoft.com/office/drawing/2014/chart" uri="{C3380CC4-5D6E-409C-BE32-E72D297353CC}">
              <c16:uniqueId val="{00000010-5321-4558-94FE-4AD4972C77FD}"/>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0.72"/>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Coefficient</c:v>
                </c:pt>
              </c:strCache>
            </c:strRef>
          </c:tx>
          <c:spPr>
            <a:solidFill>
              <a:srgbClr val="008C95"/>
            </a:solidFill>
            <a:effectLst/>
          </c:spPr>
          <c:invertIfNegative val="0"/>
          <c:dPt>
            <c:idx val="0"/>
            <c:invertIfNegative val="0"/>
            <c:bubble3D val="0"/>
            <c:extLst>
              <c:ext xmlns:c16="http://schemas.microsoft.com/office/drawing/2014/chart" uri="{C3380CC4-5D6E-409C-BE32-E72D297353CC}">
                <c16:uniqueId val="{00000001-98DA-4EB3-907D-68072FDBEFD4}"/>
              </c:ext>
            </c:extLst>
          </c:dPt>
          <c:dPt>
            <c:idx val="1"/>
            <c:invertIfNegative val="0"/>
            <c:bubble3D val="0"/>
            <c:extLst>
              <c:ext xmlns:c16="http://schemas.microsoft.com/office/drawing/2014/chart" uri="{C3380CC4-5D6E-409C-BE32-E72D297353CC}">
                <c16:uniqueId val="{00000003-98DA-4EB3-907D-68072FDBEFD4}"/>
              </c:ext>
            </c:extLst>
          </c:dPt>
          <c:dPt>
            <c:idx val="2"/>
            <c:invertIfNegative val="0"/>
            <c:bubble3D val="0"/>
            <c:spPr>
              <a:solidFill>
                <a:srgbClr val="9AA8B8"/>
              </a:solidFill>
              <a:effectLst/>
            </c:spPr>
            <c:extLst>
              <c:ext xmlns:c16="http://schemas.microsoft.com/office/drawing/2014/chart" uri="{C3380CC4-5D6E-409C-BE32-E72D297353CC}">
                <c16:uniqueId val="{00000005-98DA-4EB3-907D-68072FDBEFD4}"/>
              </c:ext>
            </c:extLst>
          </c:dPt>
          <c:dPt>
            <c:idx val="3"/>
            <c:invertIfNegative val="0"/>
            <c:bubble3D val="0"/>
            <c:spPr>
              <a:solidFill>
                <a:srgbClr val="9AA8B8"/>
              </a:solidFill>
              <a:effectLst/>
            </c:spPr>
            <c:extLst>
              <c:ext xmlns:c16="http://schemas.microsoft.com/office/drawing/2014/chart" uri="{C3380CC4-5D6E-409C-BE32-E72D297353CC}">
                <c16:uniqueId val="{00000007-98DA-4EB3-907D-68072FDBEFD4}"/>
              </c:ext>
            </c:extLst>
          </c:dPt>
          <c:dPt>
            <c:idx val="4"/>
            <c:invertIfNegative val="0"/>
            <c:bubble3D val="0"/>
            <c:spPr>
              <a:solidFill>
                <a:srgbClr val="9AA8B8"/>
              </a:solidFill>
              <a:effectLst/>
            </c:spPr>
            <c:extLst>
              <c:ext xmlns:c16="http://schemas.microsoft.com/office/drawing/2014/chart" uri="{C3380CC4-5D6E-409C-BE32-E72D297353CC}">
                <c16:uniqueId val="{00000009-98DA-4EB3-907D-68072FDBEFD4}"/>
              </c:ext>
            </c:extLst>
          </c:dPt>
          <c:dPt>
            <c:idx val="5"/>
            <c:invertIfNegative val="0"/>
            <c:bubble3D val="0"/>
            <c:spPr>
              <a:solidFill>
                <a:srgbClr val="9AA8B8"/>
              </a:solidFill>
              <a:effectLst/>
            </c:spPr>
            <c:extLst>
              <c:ext xmlns:c16="http://schemas.microsoft.com/office/drawing/2014/chart" uri="{C3380CC4-5D6E-409C-BE32-E72D297353CC}">
                <c16:uniqueId val="{0000000B-98DA-4EB3-907D-68072FDBEFD4}"/>
              </c:ext>
            </c:extLst>
          </c:dPt>
          <c:dLbls>
            <c:numFmt formatCode="#,##0" sourceLinked="0"/>
            <c:spPr>
              <a:noFill/>
              <a:ln>
                <a:noFill/>
              </a:ln>
              <a:effectLst/>
            </c:spPr>
            <c:txPr>
              <a:bodyPr/>
              <a:lstStyle/>
              <a:p>
                <a:pPr>
                  <a:defRPr sz="1000" b="0" i="0" u="none" strike="noStrike">
                    <a:solidFill>
                      <a:srgbClr val="2B344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Life</c:v>
                </c:pt>
                <c:pt idx="1">
                  <c:v>Property</c:v>
                </c:pt>
                <c:pt idx="2">
                  <c:v>Health</c:v>
                </c:pt>
                <c:pt idx="3">
                  <c:v>Motor</c:v>
                </c:pt>
                <c:pt idx="4">
                  <c:v>Travel</c:v>
                </c:pt>
                <c:pt idx="5">
                  <c:v>Mobile</c:v>
                </c:pt>
              </c:strCache>
            </c:strRef>
          </c:cat>
          <c:val>
            <c:numRef>
              <c:f>Sheet1!$B$2:$B$7</c:f>
              <c:numCache>
                <c:formatCode>General</c:formatCode>
                <c:ptCount val="6"/>
                <c:pt idx="0">
                  <c:v>38149</c:v>
                </c:pt>
                <c:pt idx="1">
                  <c:v>7995</c:v>
                </c:pt>
                <c:pt idx="2">
                  <c:v>-5691</c:v>
                </c:pt>
                <c:pt idx="3">
                  <c:v>-10870</c:v>
                </c:pt>
                <c:pt idx="4">
                  <c:v>-13524</c:v>
                </c:pt>
                <c:pt idx="5">
                  <c:v>-16059</c:v>
                </c:pt>
              </c:numCache>
            </c:numRef>
          </c:val>
          <c:extLst>
            <c:ext xmlns:c16="http://schemas.microsoft.com/office/drawing/2014/chart" uri="{C3380CC4-5D6E-409C-BE32-E72D297353CC}">
              <c16:uniqueId val="{0000000C-98DA-4EB3-907D-68072FDBEFD4}"/>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3440"/>
                </a:solidFill>
                <a:latin typeface="Calibri"/>
              </a:defRPr>
            </a:pPr>
            <a:endParaRPr lang="en-US"/>
          </a:p>
        </c:txPr>
        <c:crossAx val="2094734552"/>
        <c:crosses val="autoZero"/>
        <c:auto val="1"/>
        <c:lblAlgn val="ctr"/>
        <c:lblOffset val="100"/>
        <c:noMultiLvlLbl val="1"/>
      </c:catAx>
      <c:valAx>
        <c:axId val="2094734552"/>
        <c:scaling>
          <c:orientation val="minMax"/>
          <c:max val="46000"/>
          <c:min val="-2400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6185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everyone. Today I'll be presenting my end-to-end Insurance Claims Analytics project, covering the full pipeline from raw data profiling in Excel through Snowflake, Python, Power BI, Streamlit and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covers 10,000 claims worth 165.64 million rupees across six insurance types, 1,200 agents and three risk segments.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is not that I had a dataset — it is that claims data sits raw and unusable. Companies cannot see exposure, risk patterns, reporting behaviour or estimate future claim amounts without a structured analytical layer.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move deliberately from descriptive, to diagnostic, to predictive.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insurance table is the fact table; employee and vendor are reference dimensions.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effectively a star schema: one fact table with two dimension tables.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cleaning layer, three consumers — that is the key architectural decision.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 claim is 16,563 but median is 7,000 — the distribution is right-skewed, driven by a small number of very high-value claims.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product has roughly 1,600 to 1,700 claims, but Life accounts for 55.2% of the total exposure of 165.64 million rupees, and Life plus Property together account for 80.3%. Mobile claims are frequent but tiny: 0.69 million rupees in total, an average of about 407 rupees. The top ten highest claims are all 100,000-rupee Life claims. Source: insurance type summary and top-claims table in the descriptive section of the notebook.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claim amount runs at roughly 11.7 to 14.3 million rupees in a full month, peaking in December 2020, January 2021 and May 2021 at about 14.2 million each. May 2020 and June 2021 look low, which most likely reflects partial coverage at the start and end of the data rather than a real drop. California is the largest state with 1,035 claims and 18.08 million rupees, about 10.9% of total exposure. There are 16 states in total.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95% of claims have status A and 5% status D. Injury is reported on 69.9% of claims and a police report is available for 69.3%. 920 claims, 9.2% of the total, are high-value at 50,000 rupees or more. Age groups 30 to 59 carry the most claims, and tenure groups 2 to 4.9 years and 7 to 9.9 years are the largest. Average claim amount stays between about 16.2 and 16.9 thousand rupees in every age and tenure group, so these customer attributes describe who claims but do not separate claim size.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relationship here is a pattern, not a cause. I checked risk against severity, risk against insurance type, claim amount against severity, reporting delay against claim amount, and exposure across agents and vendors. The takeaway line is the one I would stress in a review: diagnostic analysis shows what moves together, not what drives what.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table is the risk by severity crosstab from the notebook. Within every risk segment the three severity levels each hold about a third of claims, between 31.8% and 34.4%. Right table is the insurance type by risk crosstab as percentages. Every product has roughly 43 to 46% Low, 41 to 43% Medium and 13 to 16% High. So neither severity nor insurance type separates the risk segments. This is a pattern check, not a causal claim.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factor I compared the average claim amount of its lowest and highest group. Insurance type is the only factor with a real spread: Life averages 54,386 rupees against 407 for Mobile, about 134 times higher. Risk segment, severity, injury, police report, reporting timing, age group and tenure group all move the average by less than 5%. These are patterns in the data, not proof of cause, but they tell us where to look and they explain why insurance type dominates the predictive model.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84.35% of claims are reported after the loss date, on average 3.81 days later, and 15.65% are reported the same day. Same-day claims are slightly larger on average: 16,971 rupees against 16,488 for delayed claims. 32.45% of claims have no vendor ID, and their average claim is similar to claims with a vendor. The top agents and vendors listed here are ranked by exposure. That reflects workload and claim value, not performance quality. Top agents handle 9 to 15 claims against an average of 8.3, and top vendors handle 18 to 25 claims against an average of 16.6, with above-average claim sizes.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is CLAIM_AMOUNT. I selected 14 features, 10 categorical and 4 numeric, and split the data 80/20 with a fixed random state so results are reproducible: 8,000 training rows and 2,000 test rows. Numeric features are median-imputed. Categorical features are imputed with the most frequent value and one-hot encoded. Preprocessing and model are wrapped together in one scikit-learn Pipeline, so exactly the same steps run on training and test data. Two models were trained, Linear Regression and a 200-tree Random Forest, and compared on MAE, RMSE and R-squared.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Random Forest's top features. Life alone carries 60% of the importance, Property another 10.6%, and Health 1.6%, so insurance type accounts for about 72% among the top features shown. Tenure, age, incident hour and reporting delay follow with small shares, and every remaining feature is below 0.6%. Right: the Linear Regression coefficients for insurance type. Because every category is one-hot encoded, the coefficients are best read relative to each other: Life adds the most to the predicted claim, Mobile the least. Both models say the same thing as the diagnostic analysis.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actual-versus-predicted plot from the notebook. The predictions sit in flat horizontal bands, and the bands line up with the average claim of each insurance type: about 54 thousand for Life, 25 thousand for Property and 11 thousand for Health. So the model is mostly capturing the insurance-type effect, which is why R-squared is 0.71 but individual claims can still be missed, for example a 75,000-rupee claim predicted at about 55,000. The mean absolute error of 6,935 rupees is close to the median claim of 7,000. The best use is estimating exposure by product or segment, not settling individual claims.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 insurance alone accounts for 91M of the 165M total exposure — over half — while claim volume is almost evenly split across all six types. High value, not high volume.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is almost perfectly even across the three classes, so severity alone does not segment the book — it has to be combined with risk.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wording — Top Agents by Claim Exposure, not best agents. Exposure reflects workload and claim value, not performance quality.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chart" Target="../charts/chart3.xml"/><Relationship Id="rId4" Type="http://schemas.openxmlformats.org/officeDocument/2006/relationships/chart" Target="../charts/chart2.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hart" Target="../charts/chart5.xml"/></Relationships>
</file>

<file path=ppt/slides/_rels/slide14.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chart" Target="../charts/chart7.xml"/></Relationships>
</file>

<file path=ppt/slides/_rels/slide1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chart" Target="../charts/char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chart" Target="../charts/chart1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65D"/>
        </a:solidFill>
        <a:effectLst/>
      </p:bgPr>
    </p:bg>
    <p:spTree>
      <p:nvGrpSpPr>
        <p:cNvPr id="1" name=""/>
        <p:cNvGrpSpPr/>
        <p:nvPr/>
      </p:nvGrpSpPr>
      <p:grpSpPr>
        <a:xfrm>
          <a:off x="0" y="0"/>
          <a:ext cx="0" cy="0"/>
          <a:chOff x="0" y="0"/>
          <a:chExt cx="0" cy="0"/>
        </a:xfrm>
      </p:grpSpPr>
      <p:sp>
        <p:nvSpPr>
          <p:cNvPr id="3" name="Text 1"/>
          <p:cNvSpPr txBox="1"/>
          <p:nvPr/>
        </p:nvSpPr>
        <p:spPr>
          <a:xfrm>
            <a:off x="1188720" y="1600200"/>
            <a:ext cx="9784080" cy="914400"/>
          </a:xfrm>
          <a:prstGeom prst="rect">
            <a:avLst/>
          </a:prstGeom>
          <a:noFill/>
          <a:ln/>
        </p:spPr>
        <p:txBody>
          <a:bodyPr wrap="square" lIns="0" tIns="0" rIns="0" bIns="0" rtlCol="0" anchor="ctr"/>
          <a:lstStyle/>
          <a:p>
            <a:pPr marL="0" indent="0" algn="ctr">
              <a:buNone/>
            </a:pPr>
            <a:r>
              <a:rPr lang="en-US" sz="4300" b="1" kern="0" spc="150" dirty="0">
                <a:solidFill>
                  <a:srgbClr val="FFFFFF"/>
                </a:solidFill>
                <a:latin typeface="Cambria" pitchFamily="34" charset="0"/>
                <a:ea typeface="Cambria" pitchFamily="34" charset="-122"/>
                <a:cs typeface="Cambria" pitchFamily="34" charset="-120"/>
              </a:rPr>
              <a:t>INSURANCE CLAIMS ANALYTICS</a:t>
            </a:r>
            <a:endParaRPr lang="en-US" sz="4300" dirty="0"/>
          </a:p>
        </p:txBody>
      </p:sp>
      <p:sp>
        <p:nvSpPr>
          <p:cNvPr id="4" name="Text 2"/>
          <p:cNvSpPr txBox="1"/>
          <p:nvPr/>
        </p:nvSpPr>
        <p:spPr>
          <a:xfrm>
            <a:off x="1188720" y="2542032"/>
            <a:ext cx="9784080" cy="365760"/>
          </a:xfrm>
          <a:prstGeom prst="rect">
            <a:avLst/>
          </a:prstGeom>
          <a:noFill/>
          <a:ln/>
        </p:spPr>
        <p:txBody>
          <a:bodyPr wrap="square" lIns="0" tIns="0" rIns="0" bIns="0" rtlCol="0" anchor="ctr"/>
          <a:lstStyle/>
          <a:p>
            <a:pPr marL="0" indent="0" algn="ctr">
              <a:buNone/>
            </a:pPr>
            <a:r>
              <a:rPr lang="en-US" sz="1600" dirty="0">
                <a:solidFill>
                  <a:srgbClr val="BBD2EC"/>
                </a:solidFill>
                <a:latin typeface="Calibri" pitchFamily="34" charset="0"/>
                <a:ea typeface="Calibri" pitchFamily="34" charset="-122"/>
                <a:cs typeface="Calibri" pitchFamily="34" charset="-120"/>
              </a:rPr>
              <a:t>Claims Operations  |  End-to-End Data Analytics Project</a:t>
            </a:r>
            <a:endParaRPr lang="en-US" sz="1600" dirty="0"/>
          </a:p>
        </p:txBody>
      </p:sp>
      <p:sp>
        <p:nvSpPr>
          <p:cNvPr id="5" name="Shape 3"/>
          <p:cNvSpPr/>
          <p:nvPr/>
        </p:nvSpPr>
        <p:spPr>
          <a:xfrm>
            <a:off x="1083564" y="3200400"/>
            <a:ext cx="868680" cy="384048"/>
          </a:xfrm>
          <a:prstGeom prst="roundRect">
            <a:avLst>
              <a:gd name="adj" fmla="val 14286"/>
            </a:avLst>
          </a:prstGeom>
          <a:solidFill>
            <a:srgbClr val="2A5C96"/>
          </a:solidFill>
          <a:ln w="12700">
            <a:solidFill>
              <a:srgbClr val="2A5C96"/>
            </a:solidFill>
            <a:prstDash val="solid"/>
          </a:ln>
        </p:spPr>
      </p:sp>
      <p:sp>
        <p:nvSpPr>
          <p:cNvPr id="6" name="Text 4"/>
          <p:cNvSpPr txBox="1"/>
          <p:nvPr/>
        </p:nvSpPr>
        <p:spPr>
          <a:xfrm>
            <a:off x="1083564" y="3200400"/>
            <a:ext cx="868680" cy="384048"/>
          </a:xfrm>
          <a:prstGeom prst="rect">
            <a:avLst/>
          </a:prstGeom>
          <a:noFill/>
          <a:ln/>
        </p:spPr>
        <p:txBody>
          <a:bodyPr wrap="square" lIns="0" tIns="0" rIns="0" bIns="0" rtlCol="0" anchor="ctr"/>
          <a:lstStyle/>
          <a:p>
            <a:pPr marL="0" indent="0" algn="ctr">
              <a:buNone/>
            </a:pPr>
            <a:r>
              <a:rPr lang="en-US" sz="1100" b="1" dirty="0">
                <a:solidFill>
                  <a:srgbClr val="E8F1FB"/>
                </a:solidFill>
                <a:latin typeface="Calibri" pitchFamily="34" charset="0"/>
                <a:ea typeface="Calibri" pitchFamily="34" charset="-122"/>
                <a:cs typeface="Calibri" pitchFamily="34" charset="-120"/>
              </a:rPr>
              <a:t>Excel</a:t>
            </a:r>
            <a:endParaRPr lang="en-US" sz="1100" dirty="0"/>
          </a:p>
        </p:txBody>
      </p:sp>
      <p:sp>
        <p:nvSpPr>
          <p:cNvPr id="7" name="Shape 5"/>
          <p:cNvSpPr/>
          <p:nvPr/>
        </p:nvSpPr>
        <p:spPr>
          <a:xfrm>
            <a:off x="2188169" y="3200400"/>
            <a:ext cx="1691640" cy="384048"/>
          </a:xfrm>
          <a:prstGeom prst="roundRect">
            <a:avLst>
              <a:gd name="adj" fmla="val 14286"/>
            </a:avLst>
          </a:prstGeom>
          <a:solidFill>
            <a:srgbClr val="2A5C96"/>
          </a:solidFill>
          <a:ln w="12700">
            <a:solidFill>
              <a:srgbClr val="2A5C96"/>
            </a:solidFill>
            <a:prstDash val="solid"/>
          </a:ln>
        </p:spPr>
      </p:sp>
      <p:sp>
        <p:nvSpPr>
          <p:cNvPr id="8" name="Text 6"/>
          <p:cNvSpPr txBox="1"/>
          <p:nvPr/>
        </p:nvSpPr>
        <p:spPr>
          <a:xfrm>
            <a:off x="2266265" y="3216635"/>
            <a:ext cx="1590684" cy="365760"/>
          </a:xfrm>
          <a:prstGeom prst="rect">
            <a:avLst/>
          </a:prstGeom>
          <a:noFill/>
          <a:ln/>
        </p:spPr>
        <p:txBody>
          <a:bodyPr wrap="square" lIns="0" tIns="0" rIns="0" bIns="0" rtlCol="0" anchor="ctr"/>
          <a:lstStyle/>
          <a:p>
            <a:pPr marL="0" indent="0" algn="ctr">
              <a:buNone/>
            </a:pPr>
            <a:r>
              <a:rPr lang="en-US" sz="1100" b="1" dirty="0">
                <a:solidFill>
                  <a:srgbClr val="E8F1FB"/>
                </a:solidFill>
                <a:latin typeface="Calibri" pitchFamily="34" charset="0"/>
                <a:ea typeface="Calibri" pitchFamily="34" charset="-122"/>
                <a:cs typeface="Calibri" pitchFamily="34" charset="-120"/>
              </a:rPr>
              <a:t>SQL / Snowflake</a:t>
            </a:r>
            <a:endParaRPr lang="en-US" sz="1100" dirty="0"/>
          </a:p>
        </p:txBody>
      </p:sp>
      <p:sp>
        <p:nvSpPr>
          <p:cNvPr id="9" name="Shape 7"/>
          <p:cNvSpPr/>
          <p:nvPr/>
        </p:nvSpPr>
        <p:spPr>
          <a:xfrm>
            <a:off x="4143352" y="3218688"/>
            <a:ext cx="2168155" cy="384048"/>
          </a:xfrm>
          <a:prstGeom prst="roundRect">
            <a:avLst>
              <a:gd name="adj" fmla="val 14286"/>
            </a:avLst>
          </a:prstGeom>
          <a:solidFill>
            <a:srgbClr val="2A5C96"/>
          </a:solidFill>
          <a:ln w="12700">
            <a:solidFill>
              <a:srgbClr val="2A5C96"/>
            </a:solidFill>
            <a:prstDash val="solid"/>
          </a:ln>
        </p:spPr>
      </p:sp>
      <p:sp>
        <p:nvSpPr>
          <p:cNvPr id="10" name="Text 8"/>
          <p:cNvSpPr txBox="1"/>
          <p:nvPr/>
        </p:nvSpPr>
        <p:spPr>
          <a:xfrm>
            <a:off x="4233625" y="3209544"/>
            <a:ext cx="1987609" cy="384048"/>
          </a:xfrm>
          <a:prstGeom prst="rect">
            <a:avLst/>
          </a:prstGeom>
          <a:noFill/>
          <a:ln/>
        </p:spPr>
        <p:txBody>
          <a:bodyPr wrap="square" lIns="0" tIns="0" rIns="0" bIns="0" rtlCol="0" anchor="ctr"/>
          <a:lstStyle/>
          <a:p>
            <a:pPr algn="ctr"/>
            <a:r>
              <a:rPr lang="en-US" sz="1100" b="1" dirty="0">
                <a:solidFill>
                  <a:srgbClr val="E8F1FB"/>
                </a:solidFill>
                <a:latin typeface="Calibri" pitchFamily="34" charset="0"/>
                <a:ea typeface="Calibri" pitchFamily="34" charset="-122"/>
                <a:cs typeface="Calibri" pitchFamily="34" charset="-120"/>
              </a:rPr>
              <a:t>Python / Databricks</a:t>
            </a:r>
            <a:endParaRPr lang="en-US" sz="1100" dirty="0"/>
          </a:p>
        </p:txBody>
      </p:sp>
      <p:sp>
        <p:nvSpPr>
          <p:cNvPr id="13" name="Shape 11"/>
          <p:cNvSpPr/>
          <p:nvPr/>
        </p:nvSpPr>
        <p:spPr>
          <a:xfrm>
            <a:off x="6575050" y="3209544"/>
            <a:ext cx="1143000" cy="384048"/>
          </a:xfrm>
          <a:prstGeom prst="roundRect">
            <a:avLst>
              <a:gd name="adj" fmla="val 14286"/>
            </a:avLst>
          </a:prstGeom>
          <a:solidFill>
            <a:srgbClr val="2A5C96"/>
          </a:solidFill>
          <a:ln w="12700">
            <a:solidFill>
              <a:srgbClr val="2A5C96"/>
            </a:solidFill>
            <a:prstDash val="solid"/>
          </a:ln>
        </p:spPr>
      </p:sp>
      <p:sp>
        <p:nvSpPr>
          <p:cNvPr id="14" name="Text 12"/>
          <p:cNvSpPr txBox="1"/>
          <p:nvPr/>
        </p:nvSpPr>
        <p:spPr>
          <a:xfrm>
            <a:off x="6470408" y="3255264"/>
            <a:ext cx="1247642" cy="320040"/>
          </a:xfrm>
          <a:prstGeom prst="rect">
            <a:avLst/>
          </a:prstGeom>
          <a:noFill/>
          <a:ln/>
        </p:spPr>
        <p:txBody>
          <a:bodyPr wrap="square" lIns="0" tIns="0" rIns="0" bIns="0" rtlCol="0" anchor="ctr"/>
          <a:lstStyle/>
          <a:p>
            <a:pPr marL="0" indent="0" algn="ctr">
              <a:buNone/>
            </a:pPr>
            <a:r>
              <a:rPr lang="en-US" sz="1100" b="1" dirty="0">
                <a:solidFill>
                  <a:srgbClr val="E8F1FB"/>
                </a:solidFill>
                <a:latin typeface="Calibri" pitchFamily="34" charset="0"/>
                <a:ea typeface="Calibri" pitchFamily="34" charset="-122"/>
                <a:cs typeface="Calibri" pitchFamily="34" charset="-120"/>
              </a:rPr>
              <a:t>Power BI</a:t>
            </a:r>
            <a:endParaRPr lang="en-US" sz="1100" dirty="0"/>
          </a:p>
        </p:txBody>
      </p:sp>
      <p:sp>
        <p:nvSpPr>
          <p:cNvPr id="15" name="Shape 13"/>
          <p:cNvSpPr/>
          <p:nvPr/>
        </p:nvSpPr>
        <p:spPr>
          <a:xfrm>
            <a:off x="7931115" y="3191256"/>
            <a:ext cx="1143000" cy="384048"/>
          </a:xfrm>
          <a:prstGeom prst="roundRect">
            <a:avLst>
              <a:gd name="adj" fmla="val 14286"/>
            </a:avLst>
          </a:prstGeom>
          <a:solidFill>
            <a:srgbClr val="2A5C96"/>
          </a:solidFill>
          <a:ln w="12700">
            <a:solidFill>
              <a:srgbClr val="2A5C96"/>
            </a:solidFill>
            <a:prstDash val="solid"/>
          </a:ln>
        </p:spPr>
      </p:sp>
      <p:sp>
        <p:nvSpPr>
          <p:cNvPr id="16" name="Text 14"/>
          <p:cNvSpPr txBox="1"/>
          <p:nvPr/>
        </p:nvSpPr>
        <p:spPr>
          <a:xfrm>
            <a:off x="7913387" y="3212530"/>
            <a:ext cx="1143000" cy="384048"/>
          </a:xfrm>
          <a:prstGeom prst="rect">
            <a:avLst/>
          </a:prstGeom>
          <a:noFill/>
          <a:ln/>
        </p:spPr>
        <p:txBody>
          <a:bodyPr wrap="square" lIns="0" tIns="0" rIns="0" bIns="0" rtlCol="0" anchor="ctr"/>
          <a:lstStyle/>
          <a:p>
            <a:pPr marL="0" indent="0" algn="ctr">
              <a:buNone/>
            </a:pPr>
            <a:r>
              <a:rPr lang="en-US" sz="1100" b="1" dirty="0">
                <a:solidFill>
                  <a:srgbClr val="E8F1FB"/>
                </a:solidFill>
                <a:latin typeface="Calibri" pitchFamily="34" charset="0"/>
                <a:ea typeface="Calibri" pitchFamily="34" charset="-122"/>
                <a:cs typeface="Calibri" pitchFamily="34" charset="-120"/>
              </a:rPr>
              <a:t>Streamlit</a:t>
            </a:r>
            <a:endParaRPr lang="en-US" sz="1100" dirty="0"/>
          </a:p>
        </p:txBody>
      </p:sp>
      <p:sp>
        <p:nvSpPr>
          <p:cNvPr id="17" name="Shape 15"/>
          <p:cNvSpPr/>
          <p:nvPr/>
        </p:nvSpPr>
        <p:spPr>
          <a:xfrm>
            <a:off x="9294876" y="3200400"/>
            <a:ext cx="1783080" cy="384048"/>
          </a:xfrm>
          <a:prstGeom prst="roundRect">
            <a:avLst>
              <a:gd name="adj" fmla="val 14286"/>
            </a:avLst>
          </a:prstGeom>
          <a:solidFill>
            <a:srgbClr val="2A5C96"/>
          </a:solidFill>
          <a:ln w="12700">
            <a:solidFill>
              <a:srgbClr val="2A5C96"/>
            </a:solidFill>
            <a:prstDash val="solid"/>
          </a:ln>
        </p:spPr>
      </p:sp>
      <p:sp>
        <p:nvSpPr>
          <p:cNvPr id="18" name="Text 16"/>
          <p:cNvSpPr txBox="1"/>
          <p:nvPr/>
        </p:nvSpPr>
        <p:spPr>
          <a:xfrm>
            <a:off x="9294876" y="3200400"/>
            <a:ext cx="1783080" cy="384048"/>
          </a:xfrm>
          <a:prstGeom prst="rect">
            <a:avLst/>
          </a:prstGeom>
          <a:noFill/>
          <a:ln/>
        </p:spPr>
        <p:txBody>
          <a:bodyPr wrap="square" lIns="0" tIns="0" rIns="0" bIns="0" rtlCol="0" anchor="ctr"/>
          <a:lstStyle/>
          <a:p>
            <a:pPr marL="0" indent="0" algn="ctr">
              <a:buNone/>
            </a:pPr>
            <a:r>
              <a:rPr lang="en-US" sz="1100" b="1" dirty="0">
                <a:solidFill>
                  <a:srgbClr val="E8F1FB"/>
                </a:solidFill>
                <a:latin typeface="Calibri" pitchFamily="34" charset="0"/>
                <a:ea typeface="Calibri" pitchFamily="34" charset="-122"/>
                <a:cs typeface="Calibri" pitchFamily="34" charset="-120"/>
              </a:rPr>
              <a:t>Machine Learning</a:t>
            </a:r>
            <a:endParaRPr lang="en-US" sz="1100" dirty="0"/>
          </a:p>
        </p:txBody>
      </p:sp>
      <p:sp>
        <p:nvSpPr>
          <p:cNvPr id="19" name="Shape 17"/>
          <p:cNvSpPr/>
          <p:nvPr/>
        </p:nvSpPr>
        <p:spPr>
          <a:xfrm>
            <a:off x="4206240" y="4069080"/>
            <a:ext cx="3749040" cy="0"/>
          </a:xfrm>
          <a:prstGeom prst="line">
            <a:avLst/>
          </a:prstGeom>
          <a:noFill/>
          <a:ln w="19050">
            <a:solidFill>
              <a:srgbClr val="008C95"/>
            </a:solidFill>
            <a:prstDash val="solid"/>
          </a:ln>
        </p:spPr>
      </p:sp>
      <p:sp>
        <p:nvSpPr>
          <p:cNvPr id="20" name="Text 18"/>
          <p:cNvSpPr txBox="1"/>
          <p:nvPr/>
        </p:nvSpPr>
        <p:spPr>
          <a:xfrm>
            <a:off x="1188720" y="4297680"/>
            <a:ext cx="9784080" cy="1051560"/>
          </a:xfrm>
          <a:prstGeom prst="rect">
            <a:avLst/>
          </a:prstGeom>
          <a:noFill/>
          <a:ln/>
        </p:spPr>
        <p:txBody>
          <a:bodyPr wrap="square" lIns="0" tIns="0" rIns="0" bIns="0" rtlCol="0" anchor="ctr"/>
          <a:lstStyle/>
          <a:p>
            <a:pPr marL="0" indent="0" algn="ctr">
              <a:buNone/>
            </a:pPr>
            <a:r>
              <a:rPr lang="en-US" sz="1150" dirty="0">
                <a:solidFill>
                  <a:srgbClr val="9FBBD8"/>
                </a:solidFill>
                <a:latin typeface="Calibri" pitchFamily="34" charset="0"/>
                <a:ea typeface="Calibri" pitchFamily="34" charset="-122"/>
                <a:cs typeface="Calibri" pitchFamily="34" charset="-120"/>
              </a:rPr>
              <a:t>Presented by</a:t>
            </a:r>
            <a:endParaRPr lang="en-US" sz="1150" dirty="0"/>
          </a:p>
          <a:p>
            <a:pPr marL="0" indent="0" algn="ctr">
              <a:buNone/>
            </a:pPr>
            <a:r>
              <a:rPr lang="en-US" sz="2200" b="1" dirty="0">
                <a:solidFill>
                  <a:srgbClr val="FFFFFF"/>
                </a:solidFill>
                <a:latin typeface="Cambria" pitchFamily="34" charset="0"/>
                <a:ea typeface="Cambria" pitchFamily="34" charset="-122"/>
                <a:cs typeface="Cambria" pitchFamily="34" charset="-120"/>
              </a:rPr>
              <a:t>Shubham Vishwakarma</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Executive Summary</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01</a:t>
            </a:r>
            <a:endParaRPr lang="en-US" sz="1000" dirty="0"/>
          </a:p>
        </p:txBody>
      </p:sp>
      <p:sp>
        <p:nvSpPr>
          <p:cNvPr id="4" name="Shape 2"/>
          <p:cNvSpPr/>
          <p:nvPr/>
        </p:nvSpPr>
        <p:spPr>
          <a:xfrm>
            <a:off x="502920" y="1188720"/>
            <a:ext cx="11201400" cy="1143000"/>
          </a:xfrm>
          <a:prstGeom prst="roundRect">
            <a:avLst>
              <a:gd name="adj" fmla="val 64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Text 3"/>
          <p:cNvSpPr txBox="1"/>
          <p:nvPr/>
        </p:nvSpPr>
        <p:spPr>
          <a:xfrm>
            <a:off x="777240" y="1335024"/>
            <a:ext cx="1828800" cy="292608"/>
          </a:xfrm>
          <a:prstGeom prst="rect">
            <a:avLst/>
          </a:prstGeom>
          <a:noFill/>
          <a:ln/>
        </p:spPr>
        <p:txBody>
          <a:bodyPr wrap="square" lIns="0" tIns="0" rIns="0" bIns="0" rtlCol="0" anchor="ctr"/>
          <a:lstStyle/>
          <a:p>
            <a:pPr marL="0" indent="0">
              <a:buNone/>
            </a:pPr>
            <a:r>
              <a:rPr lang="en-US" sz="1500" b="1" dirty="0">
                <a:solidFill>
                  <a:srgbClr val="008C95"/>
                </a:solidFill>
                <a:latin typeface="Cambria" pitchFamily="34" charset="0"/>
                <a:ea typeface="Cambria" pitchFamily="34" charset="-122"/>
                <a:cs typeface="Cambria" pitchFamily="34" charset="-120"/>
              </a:rPr>
              <a:t>Scope</a:t>
            </a:r>
            <a:endParaRPr lang="en-US" sz="1500" dirty="0"/>
          </a:p>
        </p:txBody>
      </p:sp>
      <p:sp>
        <p:nvSpPr>
          <p:cNvPr id="6" name="Text 4"/>
          <p:cNvSpPr txBox="1"/>
          <p:nvPr/>
        </p:nvSpPr>
        <p:spPr>
          <a:xfrm>
            <a:off x="2606040" y="1353312"/>
            <a:ext cx="8869680" cy="822960"/>
          </a:xfrm>
          <a:prstGeom prst="rect">
            <a:avLst/>
          </a:prstGeom>
          <a:noFill/>
          <a:ln/>
        </p:spPr>
        <p:txBody>
          <a:bodyPr wrap="square" lIns="0" tIns="0" rIns="0" bIns="0" rtlCol="0" anchor="ctr"/>
          <a:lstStyle/>
          <a:p>
            <a:pPr marL="0" indent="0">
              <a:lnSpc>
                <a:spcPts val="1800"/>
              </a:lnSpc>
              <a:buNone/>
            </a:pPr>
            <a:r>
              <a:rPr lang="en-US" sz="1300" dirty="0">
                <a:solidFill>
                  <a:srgbClr val="2B3440"/>
                </a:solidFill>
                <a:latin typeface="Calibri" pitchFamily="34" charset="0"/>
                <a:ea typeface="Calibri" pitchFamily="34" charset="-122"/>
                <a:cs typeface="Calibri" pitchFamily="34" charset="-120"/>
              </a:rPr>
              <a:t>This project analyzes insurance claims data to understand claim volume, financial exposure, customer characteristics, risk segments, incident severity and operational reporting patterns.</a:t>
            </a:r>
            <a:endParaRPr lang="en-US" sz="1300" dirty="0"/>
          </a:p>
        </p:txBody>
      </p:sp>
      <p:sp>
        <p:nvSpPr>
          <p:cNvPr id="7" name="Shape 5"/>
          <p:cNvSpPr/>
          <p:nvPr/>
        </p:nvSpPr>
        <p:spPr>
          <a:xfrm>
            <a:off x="502920" y="2487168"/>
            <a:ext cx="11201400" cy="1143000"/>
          </a:xfrm>
          <a:prstGeom prst="roundRect">
            <a:avLst>
              <a:gd name="adj" fmla="val 64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8" name="Text 6"/>
          <p:cNvSpPr txBox="1"/>
          <p:nvPr/>
        </p:nvSpPr>
        <p:spPr>
          <a:xfrm>
            <a:off x="777240" y="2633472"/>
            <a:ext cx="1828800" cy="292608"/>
          </a:xfrm>
          <a:prstGeom prst="rect">
            <a:avLst/>
          </a:prstGeom>
          <a:noFill/>
          <a:ln/>
        </p:spPr>
        <p:txBody>
          <a:bodyPr wrap="square" lIns="0" tIns="0" rIns="0" bIns="0" rtlCol="0" anchor="ctr"/>
          <a:lstStyle/>
          <a:p>
            <a:pPr marL="0" indent="0">
              <a:buNone/>
            </a:pPr>
            <a:r>
              <a:rPr lang="en-US" sz="1500" b="1" dirty="0">
                <a:solidFill>
                  <a:srgbClr val="008C95"/>
                </a:solidFill>
                <a:latin typeface="Cambria" pitchFamily="34" charset="0"/>
                <a:ea typeface="Cambria" pitchFamily="34" charset="-122"/>
                <a:cs typeface="Cambria" pitchFamily="34" charset="-120"/>
              </a:rPr>
              <a:t>Approach</a:t>
            </a:r>
            <a:endParaRPr lang="en-US" sz="1500" dirty="0"/>
          </a:p>
        </p:txBody>
      </p:sp>
      <p:sp>
        <p:nvSpPr>
          <p:cNvPr id="9" name="Text 7"/>
          <p:cNvSpPr txBox="1"/>
          <p:nvPr/>
        </p:nvSpPr>
        <p:spPr>
          <a:xfrm>
            <a:off x="2606040" y="2651760"/>
            <a:ext cx="8869680" cy="822960"/>
          </a:xfrm>
          <a:prstGeom prst="rect">
            <a:avLst/>
          </a:prstGeom>
          <a:noFill/>
          <a:ln/>
        </p:spPr>
        <p:txBody>
          <a:bodyPr wrap="square" lIns="0" tIns="0" rIns="0" bIns="0" rtlCol="0" anchor="ctr"/>
          <a:lstStyle/>
          <a:p>
            <a:pPr marL="0" indent="0">
              <a:lnSpc>
                <a:spcPts val="1800"/>
              </a:lnSpc>
              <a:buNone/>
            </a:pPr>
            <a:r>
              <a:rPr lang="en-US" sz="1300" dirty="0">
                <a:solidFill>
                  <a:srgbClr val="2B3440"/>
                </a:solidFill>
                <a:latin typeface="Calibri" pitchFamily="34" charset="0"/>
                <a:ea typeface="Calibri" pitchFamily="34" charset="-122"/>
                <a:cs typeface="Calibri" pitchFamily="34" charset="-120"/>
              </a:rPr>
              <a:t>An end-to-end analytics workflow: data profiling and quality assessment, SQL-based cleaning and transformation, Python analysis, business intelligence reporting and predictive modeling.</a:t>
            </a:r>
            <a:endParaRPr lang="en-US" sz="1300" dirty="0"/>
          </a:p>
        </p:txBody>
      </p:sp>
      <p:sp>
        <p:nvSpPr>
          <p:cNvPr id="10" name="Shape 8"/>
          <p:cNvSpPr/>
          <p:nvPr/>
        </p:nvSpPr>
        <p:spPr>
          <a:xfrm>
            <a:off x="502920" y="3785616"/>
            <a:ext cx="11201400" cy="1143000"/>
          </a:xfrm>
          <a:prstGeom prst="roundRect">
            <a:avLst>
              <a:gd name="adj" fmla="val 64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Text 9"/>
          <p:cNvSpPr txBox="1"/>
          <p:nvPr/>
        </p:nvSpPr>
        <p:spPr>
          <a:xfrm>
            <a:off x="777240" y="3931920"/>
            <a:ext cx="1828800" cy="292608"/>
          </a:xfrm>
          <a:prstGeom prst="rect">
            <a:avLst/>
          </a:prstGeom>
          <a:noFill/>
          <a:ln/>
        </p:spPr>
        <p:txBody>
          <a:bodyPr wrap="square" lIns="0" tIns="0" rIns="0" bIns="0" rtlCol="0" anchor="ctr"/>
          <a:lstStyle/>
          <a:p>
            <a:pPr marL="0" indent="0">
              <a:buNone/>
            </a:pPr>
            <a:r>
              <a:rPr lang="en-US" sz="1500" b="1" dirty="0">
                <a:solidFill>
                  <a:srgbClr val="008C95"/>
                </a:solidFill>
                <a:latin typeface="Cambria" pitchFamily="34" charset="0"/>
                <a:ea typeface="Cambria" pitchFamily="34" charset="-122"/>
                <a:cs typeface="Cambria" pitchFamily="34" charset="-120"/>
              </a:rPr>
              <a:t>Delivery</a:t>
            </a:r>
            <a:endParaRPr lang="en-US" sz="1500" dirty="0"/>
          </a:p>
        </p:txBody>
      </p:sp>
      <p:sp>
        <p:nvSpPr>
          <p:cNvPr id="12" name="Text 10"/>
          <p:cNvSpPr txBox="1"/>
          <p:nvPr/>
        </p:nvSpPr>
        <p:spPr>
          <a:xfrm>
            <a:off x="2606040" y="3950208"/>
            <a:ext cx="8869680" cy="822960"/>
          </a:xfrm>
          <a:prstGeom prst="rect">
            <a:avLst/>
          </a:prstGeom>
          <a:noFill/>
          <a:ln/>
        </p:spPr>
        <p:txBody>
          <a:bodyPr wrap="square" lIns="0" tIns="0" rIns="0" bIns="0" rtlCol="0" anchor="ctr"/>
          <a:lstStyle/>
          <a:p>
            <a:pPr marL="0" indent="0">
              <a:lnSpc>
                <a:spcPts val="1800"/>
              </a:lnSpc>
              <a:buNone/>
            </a:pPr>
            <a:r>
              <a:rPr lang="en-US" sz="1300" dirty="0">
                <a:solidFill>
                  <a:srgbClr val="2B3440"/>
                </a:solidFill>
                <a:latin typeface="Calibri" pitchFamily="34" charset="0"/>
                <a:ea typeface="Calibri" pitchFamily="34" charset="-122"/>
                <a:cs typeface="Calibri" pitchFamily="34" charset="-120"/>
              </a:rPr>
              <a:t>The final solution was delivered through Power BI and Streamlit to provide interactive, business-friendly analytical insights.</a:t>
            </a:r>
            <a:endParaRPr lang="en-US" sz="1300" dirty="0"/>
          </a:p>
        </p:txBody>
      </p:sp>
      <p:sp>
        <p:nvSpPr>
          <p:cNvPr id="13" name="Shape 11"/>
          <p:cNvSpPr/>
          <p:nvPr/>
        </p:nvSpPr>
        <p:spPr>
          <a:xfrm>
            <a:off x="502920" y="5138928"/>
            <a:ext cx="2112264" cy="1170432"/>
          </a:xfrm>
          <a:prstGeom prst="roundRect">
            <a:avLst>
              <a:gd name="adj" fmla="val 625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4" name="Text 12"/>
          <p:cNvSpPr txBox="1"/>
          <p:nvPr/>
        </p:nvSpPr>
        <p:spPr>
          <a:xfrm>
            <a:off x="576072" y="5303520"/>
            <a:ext cx="1965960" cy="561807"/>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10,000</a:t>
            </a:r>
            <a:endParaRPr lang="en-US" sz="2500" dirty="0"/>
          </a:p>
        </p:txBody>
      </p:sp>
      <p:sp>
        <p:nvSpPr>
          <p:cNvPr id="15" name="Text 13"/>
          <p:cNvSpPr txBox="1"/>
          <p:nvPr/>
        </p:nvSpPr>
        <p:spPr>
          <a:xfrm>
            <a:off x="576072" y="5864596"/>
            <a:ext cx="1965960" cy="35113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Insurance Claims</a:t>
            </a:r>
            <a:endParaRPr lang="en-US" sz="1100" dirty="0"/>
          </a:p>
        </p:txBody>
      </p:sp>
      <p:sp>
        <p:nvSpPr>
          <p:cNvPr id="16" name="Shape 14"/>
          <p:cNvSpPr/>
          <p:nvPr/>
        </p:nvSpPr>
        <p:spPr>
          <a:xfrm>
            <a:off x="2697480" y="5138928"/>
            <a:ext cx="2112264" cy="1170432"/>
          </a:xfrm>
          <a:prstGeom prst="roundRect">
            <a:avLst>
              <a:gd name="adj" fmla="val 625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7" name="Text 15"/>
          <p:cNvSpPr txBox="1"/>
          <p:nvPr/>
        </p:nvSpPr>
        <p:spPr>
          <a:xfrm>
            <a:off x="2770632" y="5303520"/>
            <a:ext cx="1965960" cy="561807"/>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₹165.64M</a:t>
            </a:r>
            <a:endParaRPr lang="en-US" sz="2500" dirty="0"/>
          </a:p>
        </p:txBody>
      </p:sp>
      <p:sp>
        <p:nvSpPr>
          <p:cNvPr id="18" name="Text 16"/>
          <p:cNvSpPr txBox="1"/>
          <p:nvPr/>
        </p:nvSpPr>
        <p:spPr>
          <a:xfrm>
            <a:off x="2770632" y="5864596"/>
            <a:ext cx="1965960" cy="35113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Total Claim Amount</a:t>
            </a:r>
            <a:endParaRPr lang="en-US" sz="1100" dirty="0"/>
          </a:p>
        </p:txBody>
      </p:sp>
      <p:sp>
        <p:nvSpPr>
          <p:cNvPr id="19" name="Shape 17"/>
          <p:cNvSpPr/>
          <p:nvPr/>
        </p:nvSpPr>
        <p:spPr>
          <a:xfrm>
            <a:off x="4892040" y="5138928"/>
            <a:ext cx="2112264" cy="1170432"/>
          </a:xfrm>
          <a:prstGeom prst="roundRect">
            <a:avLst>
              <a:gd name="adj" fmla="val 625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0" name="Text 18"/>
          <p:cNvSpPr txBox="1"/>
          <p:nvPr/>
        </p:nvSpPr>
        <p:spPr>
          <a:xfrm>
            <a:off x="4965192" y="5303520"/>
            <a:ext cx="1965960" cy="561807"/>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6</a:t>
            </a:r>
            <a:endParaRPr lang="en-US" sz="2500" dirty="0"/>
          </a:p>
        </p:txBody>
      </p:sp>
      <p:sp>
        <p:nvSpPr>
          <p:cNvPr id="21" name="Text 19"/>
          <p:cNvSpPr txBox="1"/>
          <p:nvPr/>
        </p:nvSpPr>
        <p:spPr>
          <a:xfrm>
            <a:off x="4965192" y="5864596"/>
            <a:ext cx="1965960" cy="35113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Insurance Types</a:t>
            </a:r>
            <a:endParaRPr lang="en-US" sz="1100" dirty="0"/>
          </a:p>
        </p:txBody>
      </p:sp>
      <p:sp>
        <p:nvSpPr>
          <p:cNvPr id="22" name="Shape 20"/>
          <p:cNvSpPr/>
          <p:nvPr/>
        </p:nvSpPr>
        <p:spPr>
          <a:xfrm>
            <a:off x="7086600" y="5138928"/>
            <a:ext cx="2112264" cy="1170432"/>
          </a:xfrm>
          <a:prstGeom prst="roundRect">
            <a:avLst>
              <a:gd name="adj" fmla="val 625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3" name="Text 21"/>
          <p:cNvSpPr txBox="1"/>
          <p:nvPr/>
        </p:nvSpPr>
        <p:spPr>
          <a:xfrm>
            <a:off x="7159752" y="5303520"/>
            <a:ext cx="1965960" cy="561807"/>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1,200</a:t>
            </a:r>
            <a:endParaRPr lang="en-US" sz="2500" dirty="0"/>
          </a:p>
        </p:txBody>
      </p:sp>
      <p:sp>
        <p:nvSpPr>
          <p:cNvPr id="24" name="Text 22"/>
          <p:cNvSpPr txBox="1"/>
          <p:nvPr/>
        </p:nvSpPr>
        <p:spPr>
          <a:xfrm>
            <a:off x="7159752" y="5864596"/>
            <a:ext cx="1965960" cy="35113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Agents</a:t>
            </a:r>
            <a:endParaRPr lang="en-US" sz="1100" dirty="0"/>
          </a:p>
        </p:txBody>
      </p:sp>
      <p:sp>
        <p:nvSpPr>
          <p:cNvPr id="25" name="Shape 23"/>
          <p:cNvSpPr/>
          <p:nvPr/>
        </p:nvSpPr>
        <p:spPr>
          <a:xfrm>
            <a:off x="9281160" y="5138928"/>
            <a:ext cx="2112264" cy="1170432"/>
          </a:xfrm>
          <a:prstGeom prst="roundRect">
            <a:avLst>
              <a:gd name="adj" fmla="val 625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6" name="Text 24"/>
          <p:cNvSpPr txBox="1"/>
          <p:nvPr/>
        </p:nvSpPr>
        <p:spPr>
          <a:xfrm>
            <a:off x="9354312" y="5303520"/>
            <a:ext cx="1965960" cy="561807"/>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3</a:t>
            </a:r>
            <a:endParaRPr lang="en-US" sz="2500" dirty="0"/>
          </a:p>
        </p:txBody>
      </p:sp>
      <p:sp>
        <p:nvSpPr>
          <p:cNvPr id="27" name="Text 25"/>
          <p:cNvSpPr txBox="1"/>
          <p:nvPr/>
        </p:nvSpPr>
        <p:spPr>
          <a:xfrm>
            <a:off x="9354312" y="5864596"/>
            <a:ext cx="1965960" cy="35113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Risk Segments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Business Problem</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02</a:t>
            </a:r>
            <a:endParaRPr lang="en-US" sz="1000" dirty="0"/>
          </a:p>
        </p:txBody>
      </p:sp>
      <p:sp>
        <p:nvSpPr>
          <p:cNvPr id="4" name="Shape 2"/>
          <p:cNvSpPr/>
          <p:nvPr/>
        </p:nvSpPr>
        <p:spPr>
          <a:xfrm>
            <a:off x="502920" y="1188720"/>
            <a:ext cx="5532120" cy="1051560"/>
          </a:xfrm>
          <a:prstGeom prst="roundRect">
            <a:avLst>
              <a:gd name="adj" fmla="val 695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Text 3"/>
          <p:cNvSpPr txBox="1"/>
          <p:nvPr/>
        </p:nvSpPr>
        <p:spPr>
          <a:xfrm>
            <a:off x="777240" y="1325880"/>
            <a:ext cx="4983480" cy="822960"/>
          </a:xfrm>
          <a:prstGeom prst="rect">
            <a:avLst/>
          </a:prstGeom>
          <a:noFill/>
          <a:ln/>
        </p:spPr>
        <p:txBody>
          <a:bodyPr wrap="square" lIns="0" tIns="0" rIns="0" bIns="0" rtlCol="0" anchor="ctr"/>
          <a:lstStyle/>
          <a:p>
            <a:pPr marL="0" indent="0">
              <a:lnSpc>
                <a:spcPts val="1800"/>
              </a:lnSpc>
              <a:buNone/>
            </a:pPr>
            <a:r>
              <a:rPr lang="en-US" sz="1300" dirty="0">
                <a:solidFill>
                  <a:srgbClr val="2B3440"/>
                </a:solidFill>
                <a:latin typeface="Calibri" pitchFamily="34" charset="0"/>
                <a:ea typeface="Calibri" pitchFamily="34" charset="-122"/>
                <a:cs typeface="Calibri" pitchFamily="34" charset="-120"/>
              </a:rPr>
              <a:t>Insurance companies generate large volumes of claims data containing customer, policy, incident, financial and operational information.</a:t>
            </a:r>
            <a:endParaRPr lang="en-US" sz="1300" dirty="0"/>
          </a:p>
        </p:txBody>
      </p:sp>
      <p:sp>
        <p:nvSpPr>
          <p:cNvPr id="6" name="Text 4"/>
          <p:cNvSpPr txBox="1"/>
          <p:nvPr/>
        </p:nvSpPr>
        <p:spPr>
          <a:xfrm>
            <a:off x="530352" y="2395728"/>
            <a:ext cx="548640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Without systematic analysis, it is difficult to:</a:t>
            </a:r>
            <a:endParaRPr lang="en-US" sz="1400" dirty="0"/>
          </a:p>
        </p:txBody>
      </p:sp>
      <p:sp>
        <p:nvSpPr>
          <p:cNvPr id="7" name="Text 5"/>
          <p:cNvSpPr txBox="1"/>
          <p:nvPr/>
        </p:nvSpPr>
        <p:spPr>
          <a:xfrm>
            <a:off x="566928" y="2743200"/>
            <a:ext cx="5486400" cy="237744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2B3440"/>
                </a:solidFill>
                <a:latin typeface="Calibri" pitchFamily="34" charset="0"/>
                <a:ea typeface="Calibri" pitchFamily="34" charset="-122"/>
                <a:cs typeface="Calibri" pitchFamily="34" charset="-120"/>
              </a:rPr>
              <a:t>Understand overall claim volume and financial exposure.</a:t>
            </a:r>
            <a:endParaRPr lang="en-US" sz="1250" dirty="0"/>
          </a:p>
          <a:p>
            <a:pPr marL="342900" indent="-342900">
              <a:lnSpc>
                <a:spcPts val="1600"/>
              </a:lnSpc>
              <a:spcAft>
                <a:spcPts val="600"/>
              </a:spcAft>
              <a:buSzPct val="100000"/>
              <a:buChar char="•"/>
            </a:pPr>
            <a:r>
              <a:rPr lang="en-US" sz="1250" dirty="0">
                <a:solidFill>
                  <a:srgbClr val="2B3440"/>
                </a:solidFill>
                <a:latin typeface="Calibri" pitchFamily="34" charset="0"/>
                <a:ea typeface="Calibri" pitchFamily="34" charset="-122"/>
                <a:cs typeface="Calibri" pitchFamily="34" charset="-120"/>
              </a:rPr>
              <a:t>Identify patterns across insurance types and risk segments.</a:t>
            </a:r>
            <a:endParaRPr lang="en-US" sz="1250" dirty="0"/>
          </a:p>
          <a:p>
            <a:pPr marL="342900" indent="-342900">
              <a:lnSpc>
                <a:spcPts val="1600"/>
              </a:lnSpc>
              <a:spcAft>
                <a:spcPts val="600"/>
              </a:spcAft>
              <a:buSzPct val="100000"/>
              <a:buChar char="•"/>
            </a:pPr>
            <a:r>
              <a:rPr lang="en-US" sz="1250" dirty="0">
                <a:solidFill>
                  <a:srgbClr val="2B3440"/>
                </a:solidFill>
                <a:latin typeface="Calibri" pitchFamily="34" charset="0"/>
                <a:ea typeface="Calibri" pitchFamily="34" charset="-122"/>
                <a:cs typeface="Calibri" pitchFamily="34" charset="-120"/>
              </a:rPr>
              <a:t>Understand incident severity and claim-value distribution.</a:t>
            </a:r>
            <a:endParaRPr lang="en-US" sz="1250" dirty="0"/>
          </a:p>
          <a:p>
            <a:pPr marL="342900" indent="-342900">
              <a:lnSpc>
                <a:spcPts val="1600"/>
              </a:lnSpc>
              <a:spcAft>
                <a:spcPts val="600"/>
              </a:spcAft>
              <a:buSzPct val="100000"/>
              <a:buChar char="•"/>
            </a:pPr>
            <a:r>
              <a:rPr lang="en-US" sz="1250" dirty="0">
                <a:solidFill>
                  <a:srgbClr val="2B3440"/>
                </a:solidFill>
                <a:latin typeface="Calibri" pitchFamily="34" charset="0"/>
                <a:ea typeface="Calibri" pitchFamily="34" charset="-122"/>
                <a:cs typeface="Calibri" pitchFamily="34" charset="-120"/>
              </a:rPr>
              <a:t>Monitor reporting delays and operational patterns.</a:t>
            </a:r>
            <a:endParaRPr lang="en-US" sz="1250" dirty="0"/>
          </a:p>
          <a:p>
            <a:pPr marL="342900" indent="-342900">
              <a:lnSpc>
                <a:spcPts val="1600"/>
              </a:lnSpc>
              <a:spcAft>
                <a:spcPts val="600"/>
              </a:spcAft>
              <a:buSzPct val="100000"/>
              <a:buChar char="•"/>
            </a:pPr>
            <a:r>
              <a:rPr lang="en-US" sz="1250" dirty="0">
                <a:solidFill>
                  <a:srgbClr val="2B3440"/>
                </a:solidFill>
                <a:latin typeface="Calibri" pitchFamily="34" charset="0"/>
                <a:ea typeface="Calibri" pitchFamily="34" charset="-122"/>
                <a:cs typeface="Calibri" pitchFamily="34" charset="-120"/>
              </a:rPr>
              <a:t>Compare claim activity across agents and vendors.</a:t>
            </a:r>
            <a:endParaRPr lang="en-US" sz="1250" dirty="0"/>
          </a:p>
          <a:p>
            <a:pPr marL="342900" indent="-342900">
              <a:lnSpc>
                <a:spcPts val="1600"/>
              </a:lnSpc>
              <a:spcAft>
                <a:spcPts val="600"/>
              </a:spcAft>
              <a:buSzPct val="100000"/>
              <a:buChar char="•"/>
            </a:pPr>
            <a:r>
              <a:rPr lang="en-US" sz="1250" dirty="0">
                <a:solidFill>
                  <a:srgbClr val="2B3440"/>
                </a:solidFill>
                <a:latin typeface="Calibri" pitchFamily="34" charset="0"/>
                <a:ea typeface="Calibri" pitchFamily="34" charset="-122"/>
                <a:cs typeface="Calibri" pitchFamily="34" charset="-120"/>
              </a:rPr>
              <a:t>Use historical claim characteristics to estimate future claim amounts.</a:t>
            </a:r>
            <a:endParaRPr lang="en-US" sz="1250" dirty="0"/>
          </a:p>
        </p:txBody>
      </p:sp>
      <p:sp>
        <p:nvSpPr>
          <p:cNvPr id="8" name="Shape 6"/>
          <p:cNvSpPr/>
          <p:nvPr/>
        </p:nvSpPr>
        <p:spPr>
          <a:xfrm>
            <a:off x="6355080" y="1188720"/>
            <a:ext cx="5349240" cy="2331720"/>
          </a:xfrm>
          <a:prstGeom prst="roundRect">
            <a:avLst>
              <a:gd name="adj" fmla="val 3137"/>
            </a:avLst>
          </a:prstGeom>
          <a:solidFill>
            <a:srgbClr val="17365D"/>
          </a:solidFill>
          <a:ln w="12700">
            <a:solidFill>
              <a:srgbClr val="17365D"/>
            </a:solidFill>
            <a:prstDash val="solid"/>
          </a:ln>
          <a:effectLst>
            <a:outerShdw blurRad="101600" dist="25400" dir="5400000" algn="bl" rotWithShape="0">
              <a:srgbClr val="9AA8B8">
                <a:alpha val="32000"/>
              </a:srgbClr>
            </a:outerShdw>
          </a:effectLst>
        </p:spPr>
      </p:sp>
      <p:sp>
        <p:nvSpPr>
          <p:cNvPr id="9" name="Text 7"/>
          <p:cNvSpPr txBox="1"/>
          <p:nvPr/>
        </p:nvSpPr>
        <p:spPr>
          <a:xfrm>
            <a:off x="6675120" y="1417320"/>
            <a:ext cx="4754880" cy="274320"/>
          </a:xfrm>
          <a:prstGeom prst="rect">
            <a:avLst/>
          </a:prstGeom>
          <a:noFill/>
          <a:ln/>
        </p:spPr>
        <p:txBody>
          <a:bodyPr wrap="square" lIns="0" tIns="0" rIns="0" bIns="0" rtlCol="0" anchor="ctr"/>
          <a:lstStyle/>
          <a:p>
            <a:pPr marL="0" indent="0">
              <a:buNone/>
            </a:pPr>
            <a:r>
              <a:rPr lang="en-US" sz="1100" b="1" kern="0" spc="150" dirty="0">
                <a:solidFill>
                  <a:srgbClr val="7FB7D9"/>
                </a:solidFill>
                <a:latin typeface="Calibri" pitchFamily="34" charset="0"/>
                <a:ea typeface="Calibri" pitchFamily="34" charset="-122"/>
                <a:cs typeface="Calibri" pitchFamily="34" charset="-120"/>
              </a:rPr>
              <a:t>PROBLEM STATEMENT</a:t>
            </a:r>
            <a:endParaRPr lang="en-US" sz="1100" dirty="0"/>
          </a:p>
        </p:txBody>
      </p:sp>
      <p:sp>
        <p:nvSpPr>
          <p:cNvPr id="10" name="Text 8"/>
          <p:cNvSpPr txBox="1"/>
          <p:nvPr/>
        </p:nvSpPr>
        <p:spPr>
          <a:xfrm>
            <a:off x="6675120" y="1783080"/>
            <a:ext cx="4754880" cy="1554480"/>
          </a:xfrm>
          <a:prstGeom prst="rect">
            <a:avLst/>
          </a:prstGeom>
          <a:noFill/>
          <a:ln/>
        </p:spPr>
        <p:txBody>
          <a:bodyPr wrap="square" lIns="0" tIns="0" rIns="0" bIns="0" rtlCol="0" anchor="ctr"/>
          <a:lstStyle/>
          <a:p>
            <a:pPr marL="0" indent="0">
              <a:lnSpc>
                <a:spcPts val="2600"/>
              </a:lnSpc>
              <a:buNone/>
            </a:pPr>
            <a:r>
              <a:rPr lang="en-US" sz="1700" dirty="0">
                <a:solidFill>
                  <a:srgbClr val="FFFFFF"/>
                </a:solidFill>
                <a:latin typeface="Cambria" pitchFamily="34" charset="0"/>
                <a:ea typeface="Cambria" pitchFamily="34" charset="-122"/>
                <a:cs typeface="Cambria" pitchFamily="34" charset="-120"/>
              </a:rPr>
              <a:t>How can insurance claims data be transformed into actionable insights for understanding claim exposure, risk, severity, operations and claim amount prediction?</a:t>
            </a:r>
            <a:endParaRPr lang="en-US" sz="1700" dirty="0"/>
          </a:p>
        </p:txBody>
      </p:sp>
      <p:sp>
        <p:nvSpPr>
          <p:cNvPr id="11" name="Shape 9"/>
          <p:cNvSpPr/>
          <p:nvPr/>
        </p:nvSpPr>
        <p:spPr>
          <a:xfrm>
            <a:off x="6355080" y="3703320"/>
            <a:ext cx="5349240" cy="1417320"/>
          </a:xfrm>
          <a:prstGeom prst="roundRect">
            <a:avLst>
              <a:gd name="adj" fmla="val 516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2" name="Text 10"/>
          <p:cNvSpPr txBox="1"/>
          <p:nvPr/>
        </p:nvSpPr>
        <p:spPr>
          <a:xfrm>
            <a:off x="6629400" y="3858768"/>
            <a:ext cx="4754880" cy="274320"/>
          </a:xfrm>
          <a:prstGeom prst="rect">
            <a:avLst/>
          </a:prstGeom>
          <a:noFill/>
          <a:ln/>
        </p:spPr>
        <p:txBody>
          <a:bodyPr wrap="square" lIns="0" tIns="0" rIns="0" bIns="0" rtlCol="0" anchor="ctr"/>
          <a:lstStyle/>
          <a:p>
            <a:pPr marL="0" indent="0">
              <a:buNone/>
            </a:pPr>
            <a:r>
              <a:rPr lang="en-US" sz="1400" b="1" dirty="0">
                <a:solidFill>
                  <a:srgbClr val="008C95"/>
                </a:solidFill>
                <a:latin typeface="Cambria" pitchFamily="34" charset="0"/>
                <a:ea typeface="Cambria" pitchFamily="34" charset="-122"/>
                <a:cs typeface="Cambria" pitchFamily="34" charset="-120"/>
              </a:rPr>
              <a:t>Objective</a:t>
            </a:r>
            <a:endParaRPr lang="en-US" sz="1400" dirty="0"/>
          </a:p>
        </p:txBody>
      </p:sp>
      <p:sp>
        <p:nvSpPr>
          <p:cNvPr id="13" name="Text 11"/>
          <p:cNvSpPr txBox="1"/>
          <p:nvPr/>
        </p:nvSpPr>
        <p:spPr>
          <a:xfrm>
            <a:off x="6629400" y="4187952"/>
            <a:ext cx="4800600" cy="868680"/>
          </a:xfrm>
          <a:prstGeom prst="rect">
            <a:avLst/>
          </a:prstGeom>
          <a:noFill/>
          <a:ln/>
        </p:spPr>
        <p:txBody>
          <a:bodyPr wrap="square" lIns="0" tIns="0" rIns="0" bIns="0" rtlCol="0" anchor="ctr"/>
          <a:lstStyle/>
          <a:p>
            <a:pPr marL="0" indent="0">
              <a:lnSpc>
                <a:spcPts val="1800"/>
              </a:lnSpc>
              <a:buNone/>
            </a:pPr>
            <a:r>
              <a:rPr lang="en-US" sz="1300" dirty="0">
                <a:solidFill>
                  <a:srgbClr val="2B3440"/>
                </a:solidFill>
                <a:latin typeface="Calibri" pitchFamily="34" charset="0"/>
                <a:ea typeface="Calibri" pitchFamily="34" charset="-122"/>
                <a:cs typeface="Calibri" pitchFamily="34" charset="-120"/>
              </a:rPr>
              <a:t>Transform raw insurance claims data into a structured analytical solution that supports reporting, pattern identification and predictive analysis.</a:t>
            </a:r>
            <a:endParaRPr lang="en-US" sz="1300" dirty="0"/>
          </a:p>
        </p:txBody>
      </p:sp>
      <p:sp>
        <p:nvSpPr>
          <p:cNvPr id="14" name="Shape 12"/>
          <p:cNvSpPr/>
          <p:nvPr/>
        </p:nvSpPr>
        <p:spPr>
          <a:xfrm>
            <a:off x="502920" y="5394960"/>
            <a:ext cx="3246120" cy="548640"/>
          </a:xfrm>
          <a:prstGeom prst="roundRect">
            <a:avLst>
              <a:gd name="adj" fmla="val 10000"/>
            </a:avLst>
          </a:prstGeom>
          <a:solidFill>
            <a:srgbClr val="2F75B5"/>
          </a:solidFill>
          <a:ln w="12700">
            <a:solidFill>
              <a:srgbClr val="2F75B5"/>
            </a:solidFill>
            <a:prstDash val="solid"/>
          </a:ln>
        </p:spPr>
      </p:sp>
      <p:sp>
        <p:nvSpPr>
          <p:cNvPr id="15" name="Text 13"/>
          <p:cNvSpPr txBox="1"/>
          <p:nvPr/>
        </p:nvSpPr>
        <p:spPr>
          <a:xfrm>
            <a:off x="502920" y="5394960"/>
            <a:ext cx="3246120" cy="5486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Raw Claims Data</a:t>
            </a:r>
            <a:endParaRPr lang="en-US" sz="1300" dirty="0"/>
          </a:p>
        </p:txBody>
      </p:sp>
      <p:sp>
        <p:nvSpPr>
          <p:cNvPr id="16" name="Shape 14"/>
          <p:cNvSpPr/>
          <p:nvPr/>
        </p:nvSpPr>
        <p:spPr>
          <a:xfrm>
            <a:off x="3867912" y="5669280"/>
            <a:ext cx="475488" cy="0"/>
          </a:xfrm>
          <a:prstGeom prst="line">
            <a:avLst/>
          </a:prstGeom>
          <a:noFill/>
          <a:ln w="22225">
            <a:solidFill>
              <a:srgbClr val="2F75B5"/>
            </a:solidFill>
            <a:prstDash val="solid"/>
            <a:tailEnd type="triangle"/>
          </a:ln>
        </p:spPr>
      </p:sp>
      <p:sp>
        <p:nvSpPr>
          <p:cNvPr id="17" name="Shape 15"/>
          <p:cNvSpPr/>
          <p:nvPr/>
        </p:nvSpPr>
        <p:spPr>
          <a:xfrm>
            <a:off x="4389120" y="5394960"/>
            <a:ext cx="3246120" cy="548640"/>
          </a:xfrm>
          <a:prstGeom prst="roundRect">
            <a:avLst>
              <a:gd name="adj" fmla="val 10000"/>
            </a:avLst>
          </a:prstGeom>
          <a:solidFill>
            <a:srgbClr val="2F75B5"/>
          </a:solidFill>
          <a:ln w="12700">
            <a:solidFill>
              <a:srgbClr val="2F75B5"/>
            </a:solidFill>
            <a:prstDash val="solid"/>
          </a:ln>
        </p:spPr>
      </p:sp>
      <p:sp>
        <p:nvSpPr>
          <p:cNvPr id="18" name="Text 16"/>
          <p:cNvSpPr txBox="1"/>
          <p:nvPr/>
        </p:nvSpPr>
        <p:spPr>
          <a:xfrm>
            <a:off x="4389120" y="5394960"/>
            <a:ext cx="3246120" cy="5486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Structured Analysis</a:t>
            </a:r>
            <a:endParaRPr lang="en-US" sz="1300" dirty="0"/>
          </a:p>
        </p:txBody>
      </p:sp>
      <p:sp>
        <p:nvSpPr>
          <p:cNvPr id="19" name="Shape 17"/>
          <p:cNvSpPr/>
          <p:nvPr/>
        </p:nvSpPr>
        <p:spPr>
          <a:xfrm>
            <a:off x="7754112" y="5669280"/>
            <a:ext cx="475488" cy="0"/>
          </a:xfrm>
          <a:prstGeom prst="line">
            <a:avLst/>
          </a:prstGeom>
          <a:noFill/>
          <a:ln w="22225">
            <a:solidFill>
              <a:srgbClr val="2F75B5"/>
            </a:solidFill>
            <a:prstDash val="solid"/>
            <a:tailEnd type="triangle"/>
          </a:ln>
        </p:spPr>
      </p:sp>
      <p:sp>
        <p:nvSpPr>
          <p:cNvPr id="20" name="Shape 18"/>
          <p:cNvSpPr/>
          <p:nvPr/>
        </p:nvSpPr>
        <p:spPr>
          <a:xfrm>
            <a:off x="8275320" y="5394960"/>
            <a:ext cx="3246120" cy="548640"/>
          </a:xfrm>
          <a:prstGeom prst="roundRect">
            <a:avLst>
              <a:gd name="adj" fmla="val 10000"/>
            </a:avLst>
          </a:prstGeom>
          <a:solidFill>
            <a:srgbClr val="008C95"/>
          </a:solidFill>
          <a:ln w="12700">
            <a:solidFill>
              <a:srgbClr val="008C95"/>
            </a:solidFill>
            <a:prstDash val="solid"/>
          </a:ln>
        </p:spPr>
      </p:sp>
      <p:sp>
        <p:nvSpPr>
          <p:cNvPr id="21" name="Text 19"/>
          <p:cNvSpPr txBox="1"/>
          <p:nvPr/>
        </p:nvSpPr>
        <p:spPr>
          <a:xfrm>
            <a:off x="8275320" y="5394960"/>
            <a:ext cx="3246120" cy="5486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Business Decisions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Business Objectives</a:t>
            </a:r>
            <a:endParaRPr lang="en-US" sz="3100" dirty="0"/>
          </a:p>
        </p:txBody>
      </p:sp>
      <p:sp>
        <p:nvSpPr>
          <p:cNvPr id="3" name="Text 1"/>
          <p:cNvSpPr txBox="1"/>
          <p:nvPr/>
        </p:nvSpPr>
        <p:spPr>
          <a:xfrm>
            <a:off x="530352" y="896112"/>
            <a:ext cx="1115568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Six analytical objectives drive the scope of this project</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03</a:t>
            </a:r>
            <a:endParaRPr lang="en-US" sz="1000" dirty="0"/>
          </a:p>
        </p:txBody>
      </p:sp>
      <p:sp>
        <p:nvSpPr>
          <p:cNvPr id="5" name="Shape 3"/>
          <p:cNvSpPr/>
          <p:nvPr/>
        </p:nvSpPr>
        <p:spPr>
          <a:xfrm>
            <a:off x="502920" y="137160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6" name="Shape 4"/>
          <p:cNvSpPr/>
          <p:nvPr/>
        </p:nvSpPr>
        <p:spPr>
          <a:xfrm>
            <a:off x="758952" y="1591056"/>
            <a:ext cx="512064" cy="512064"/>
          </a:xfrm>
          <a:prstGeom prst="ellipse">
            <a:avLst/>
          </a:prstGeom>
          <a:solidFill>
            <a:srgbClr val="2F75B5"/>
          </a:solidFill>
          <a:ln w="12700">
            <a:solidFill>
              <a:srgbClr val="2F75B5"/>
            </a:solidFill>
            <a:prstDash val="solid"/>
          </a:ln>
        </p:spPr>
      </p:sp>
      <p:sp>
        <p:nvSpPr>
          <p:cNvPr id="7" name="Text 5"/>
          <p:cNvSpPr txBox="1"/>
          <p:nvPr/>
        </p:nvSpPr>
        <p:spPr>
          <a:xfrm>
            <a:off x="758952" y="1591056"/>
            <a:ext cx="512064" cy="512064"/>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8" name="Text 6"/>
          <p:cNvSpPr txBox="1"/>
          <p:nvPr/>
        </p:nvSpPr>
        <p:spPr>
          <a:xfrm>
            <a:off x="758952" y="2240280"/>
            <a:ext cx="3099816" cy="548640"/>
          </a:xfrm>
          <a:prstGeom prst="rect">
            <a:avLst/>
          </a:prstGeom>
          <a:noFill/>
          <a:ln/>
        </p:spPr>
        <p:txBody>
          <a:bodyPr wrap="square" lIns="0" tIns="0" rIns="0" bIns="0" rtlCol="0" anchor="ctr"/>
          <a:lstStyle/>
          <a:p>
            <a:pPr marL="0" indent="0">
              <a:lnSpc>
                <a:spcPts val="1900"/>
              </a:lnSpc>
              <a:buNone/>
            </a:pPr>
            <a:r>
              <a:rPr lang="en-US" sz="1450" b="1" dirty="0">
                <a:solidFill>
                  <a:srgbClr val="17365D"/>
                </a:solidFill>
                <a:latin typeface="Cambria" pitchFamily="34" charset="0"/>
                <a:ea typeface="Cambria" pitchFamily="34" charset="-122"/>
                <a:cs typeface="Cambria" pitchFamily="34" charset="-120"/>
              </a:rPr>
              <a:t>Claims &amp; Financial Analysis</a:t>
            </a:r>
            <a:endParaRPr lang="en-US" sz="1450" dirty="0"/>
          </a:p>
        </p:txBody>
      </p:sp>
      <p:sp>
        <p:nvSpPr>
          <p:cNvPr id="9" name="Text 7"/>
          <p:cNvSpPr txBox="1"/>
          <p:nvPr/>
        </p:nvSpPr>
        <p:spPr>
          <a:xfrm>
            <a:off x="758952" y="2788920"/>
            <a:ext cx="3099816" cy="621792"/>
          </a:xfrm>
          <a:prstGeom prst="rect">
            <a:avLst/>
          </a:prstGeom>
          <a:noFill/>
          <a:ln/>
        </p:spPr>
        <p:txBody>
          <a:bodyPr wrap="square" lIns="0" tIns="0" rIns="0" bIns="0" rtlCol="0" anchor="ctr"/>
          <a:lstStyle/>
          <a:p>
            <a:pPr marL="0" indent="0">
              <a:lnSpc>
                <a:spcPts val="1500"/>
              </a:lnSpc>
              <a:buNone/>
            </a:pPr>
            <a:r>
              <a:rPr lang="en-US" sz="1150" dirty="0">
                <a:solidFill>
                  <a:srgbClr val="6B7684"/>
                </a:solidFill>
                <a:latin typeface="Calibri" pitchFamily="34" charset="0"/>
                <a:ea typeface="Calibri" pitchFamily="34" charset="-122"/>
                <a:cs typeface="Calibri" pitchFamily="34" charset="-120"/>
              </a:rPr>
              <a:t>Measure claim volume, total claim exposure, average and median claim amount and premium patterns.</a:t>
            </a:r>
            <a:endParaRPr lang="en-US" sz="1150" dirty="0"/>
          </a:p>
        </p:txBody>
      </p:sp>
      <p:sp>
        <p:nvSpPr>
          <p:cNvPr id="10" name="Shape 8"/>
          <p:cNvSpPr/>
          <p:nvPr/>
        </p:nvSpPr>
        <p:spPr>
          <a:xfrm>
            <a:off x="4334256" y="137160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Shape 9"/>
          <p:cNvSpPr/>
          <p:nvPr/>
        </p:nvSpPr>
        <p:spPr>
          <a:xfrm>
            <a:off x="4590288" y="1591056"/>
            <a:ext cx="512064" cy="512064"/>
          </a:xfrm>
          <a:prstGeom prst="ellipse">
            <a:avLst/>
          </a:prstGeom>
          <a:solidFill>
            <a:srgbClr val="008C95"/>
          </a:solidFill>
          <a:ln w="12700">
            <a:solidFill>
              <a:srgbClr val="008C95"/>
            </a:solidFill>
            <a:prstDash val="solid"/>
          </a:ln>
        </p:spPr>
      </p:sp>
      <p:sp>
        <p:nvSpPr>
          <p:cNvPr id="12" name="Text 10"/>
          <p:cNvSpPr txBox="1"/>
          <p:nvPr/>
        </p:nvSpPr>
        <p:spPr>
          <a:xfrm>
            <a:off x="4590288" y="1591056"/>
            <a:ext cx="512064" cy="512064"/>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3" name="Text 11"/>
          <p:cNvSpPr txBox="1"/>
          <p:nvPr/>
        </p:nvSpPr>
        <p:spPr>
          <a:xfrm>
            <a:off x="4590288" y="2240280"/>
            <a:ext cx="3099816" cy="548640"/>
          </a:xfrm>
          <a:prstGeom prst="rect">
            <a:avLst/>
          </a:prstGeom>
          <a:noFill/>
          <a:ln/>
        </p:spPr>
        <p:txBody>
          <a:bodyPr wrap="square" lIns="0" tIns="0" rIns="0" bIns="0" rtlCol="0" anchor="ctr"/>
          <a:lstStyle/>
          <a:p>
            <a:pPr marL="0" indent="0">
              <a:lnSpc>
                <a:spcPts val="1900"/>
              </a:lnSpc>
              <a:buNone/>
            </a:pPr>
            <a:r>
              <a:rPr lang="en-US" sz="1450" b="1" dirty="0">
                <a:solidFill>
                  <a:srgbClr val="17365D"/>
                </a:solidFill>
                <a:latin typeface="Cambria" pitchFamily="34" charset="0"/>
                <a:ea typeface="Cambria" pitchFamily="34" charset="-122"/>
                <a:cs typeface="Cambria" pitchFamily="34" charset="-120"/>
              </a:rPr>
              <a:t>Risk &amp; Severity Analysis</a:t>
            </a:r>
            <a:endParaRPr lang="en-US" sz="1450" dirty="0"/>
          </a:p>
        </p:txBody>
      </p:sp>
      <p:sp>
        <p:nvSpPr>
          <p:cNvPr id="14" name="Text 12"/>
          <p:cNvSpPr txBox="1"/>
          <p:nvPr/>
        </p:nvSpPr>
        <p:spPr>
          <a:xfrm>
            <a:off x="4590288" y="2788920"/>
            <a:ext cx="3099816" cy="621792"/>
          </a:xfrm>
          <a:prstGeom prst="rect">
            <a:avLst/>
          </a:prstGeom>
          <a:noFill/>
          <a:ln/>
        </p:spPr>
        <p:txBody>
          <a:bodyPr wrap="square" lIns="0" tIns="0" rIns="0" bIns="0" rtlCol="0" anchor="ctr"/>
          <a:lstStyle/>
          <a:p>
            <a:pPr marL="0" indent="0">
              <a:lnSpc>
                <a:spcPts val="1500"/>
              </a:lnSpc>
              <a:buNone/>
            </a:pPr>
            <a:r>
              <a:rPr lang="en-US" sz="1150" dirty="0">
                <a:solidFill>
                  <a:srgbClr val="6B7684"/>
                </a:solidFill>
                <a:latin typeface="Calibri" pitchFamily="34" charset="0"/>
                <a:ea typeface="Calibri" pitchFamily="34" charset="-122"/>
                <a:cs typeface="Calibri" pitchFamily="34" charset="-120"/>
              </a:rPr>
              <a:t>Understand the distribution of risk segments and incident severity across insurance claims.</a:t>
            </a:r>
            <a:endParaRPr lang="en-US" sz="1150" dirty="0"/>
          </a:p>
        </p:txBody>
      </p:sp>
      <p:sp>
        <p:nvSpPr>
          <p:cNvPr id="15" name="Shape 13"/>
          <p:cNvSpPr/>
          <p:nvPr/>
        </p:nvSpPr>
        <p:spPr>
          <a:xfrm>
            <a:off x="8165592" y="137160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6" name="Shape 14"/>
          <p:cNvSpPr/>
          <p:nvPr/>
        </p:nvSpPr>
        <p:spPr>
          <a:xfrm>
            <a:off x="8421624" y="1591056"/>
            <a:ext cx="512064" cy="512064"/>
          </a:xfrm>
          <a:prstGeom prst="ellipse">
            <a:avLst/>
          </a:prstGeom>
          <a:solidFill>
            <a:srgbClr val="2F75B5"/>
          </a:solidFill>
          <a:ln w="12700">
            <a:solidFill>
              <a:srgbClr val="2F75B5"/>
            </a:solidFill>
            <a:prstDash val="solid"/>
          </a:ln>
        </p:spPr>
      </p:sp>
      <p:sp>
        <p:nvSpPr>
          <p:cNvPr id="17" name="Text 15"/>
          <p:cNvSpPr txBox="1"/>
          <p:nvPr/>
        </p:nvSpPr>
        <p:spPr>
          <a:xfrm>
            <a:off x="8421624" y="1591056"/>
            <a:ext cx="512064" cy="512064"/>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8" name="Text 16"/>
          <p:cNvSpPr txBox="1"/>
          <p:nvPr/>
        </p:nvSpPr>
        <p:spPr>
          <a:xfrm>
            <a:off x="8421624" y="2240280"/>
            <a:ext cx="3099816" cy="548640"/>
          </a:xfrm>
          <a:prstGeom prst="rect">
            <a:avLst/>
          </a:prstGeom>
          <a:noFill/>
          <a:ln/>
        </p:spPr>
        <p:txBody>
          <a:bodyPr wrap="square" lIns="0" tIns="0" rIns="0" bIns="0" rtlCol="0" anchor="ctr"/>
          <a:lstStyle/>
          <a:p>
            <a:pPr marL="0" indent="0">
              <a:lnSpc>
                <a:spcPts val="1900"/>
              </a:lnSpc>
              <a:buNone/>
            </a:pPr>
            <a:r>
              <a:rPr lang="en-US" sz="1450" b="1" dirty="0">
                <a:solidFill>
                  <a:srgbClr val="17365D"/>
                </a:solidFill>
                <a:latin typeface="Cambria" pitchFamily="34" charset="0"/>
                <a:ea typeface="Cambria" pitchFamily="34" charset="-122"/>
                <a:cs typeface="Cambria" pitchFamily="34" charset="-120"/>
              </a:rPr>
              <a:t>Customer &amp; Demographic Analysis</a:t>
            </a:r>
            <a:endParaRPr lang="en-US" sz="1450" dirty="0"/>
          </a:p>
        </p:txBody>
      </p:sp>
      <p:sp>
        <p:nvSpPr>
          <p:cNvPr id="19" name="Text 17"/>
          <p:cNvSpPr txBox="1"/>
          <p:nvPr/>
        </p:nvSpPr>
        <p:spPr>
          <a:xfrm>
            <a:off x="8421624" y="2788920"/>
            <a:ext cx="3099816" cy="621792"/>
          </a:xfrm>
          <a:prstGeom prst="rect">
            <a:avLst/>
          </a:prstGeom>
          <a:noFill/>
          <a:ln/>
        </p:spPr>
        <p:txBody>
          <a:bodyPr wrap="square" lIns="0" tIns="0" rIns="0" bIns="0" rtlCol="0" anchor="ctr"/>
          <a:lstStyle/>
          <a:p>
            <a:pPr marL="0" indent="0">
              <a:lnSpc>
                <a:spcPts val="1500"/>
              </a:lnSpc>
              <a:buNone/>
            </a:pPr>
            <a:r>
              <a:rPr lang="en-US" sz="1150" dirty="0">
                <a:solidFill>
                  <a:srgbClr val="6B7684"/>
                </a:solidFill>
                <a:latin typeface="Calibri" pitchFamily="34" charset="0"/>
                <a:ea typeface="Calibri" pitchFamily="34" charset="-122"/>
                <a:cs typeface="Calibri" pitchFamily="34" charset="-120"/>
              </a:rPr>
              <a:t>Analyze customer age, marital status, employment status and other demographic attributes.</a:t>
            </a:r>
            <a:endParaRPr lang="en-US" sz="1150" dirty="0"/>
          </a:p>
        </p:txBody>
      </p:sp>
      <p:sp>
        <p:nvSpPr>
          <p:cNvPr id="20" name="Shape 18"/>
          <p:cNvSpPr/>
          <p:nvPr/>
        </p:nvSpPr>
        <p:spPr>
          <a:xfrm>
            <a:off x="502920" y="379476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1" name="Shape 19"/>
          <p:cNvSpPr/>
          <p:nvPr/>
        </p:nvSpPr>
        <p:spPr>
          <a:xfrm>
            <a:off x="758952" y="4014216"/>
            <a:ext cx="512064" cy="512064"/>
          </a:xfrm>
          <a:prstGeom prst="ellipse">
            <a:avLst/>
          </a:prstGeom>
          <a:solidFill>
            <a:srgbClr val="008C95"/>
          </a:solidFill>
          <a:ln w="12700">
            <a:solidFill>
              <a:srgbClr val="008C95"/>
            </a:solidFill>
            <a:prstDash val="solid"/>
          </a:ln>
        </p:spPr>
      </p:sp>
      <p:sp>
        <p:nvSpPr>
          <p:cNvPr id="22" name="Text 20"/>
          <p:cNvSpPr txBox="1"/>
          <p:nvPr/>
        </p:nvSpPr>
        <p:spPr>
          <a:xfrm>
            <a:off x="758952" y="4014216"/>
            <a:ext cx="512064" cy="512064"/>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23" name="Text 21"/>
          <p:cNvSpPr txBox="1"/>
          <p:nvPr/>
        </p:nvSpPr>
        <p:spPr>
          <a:xfrm>
            <a:off x="758952" y="4663440"/>
            <a:ext cx="3099816" cy="548640"/>
          </a:xfrm>
          <a:prstGeom prst="rect">
            <a:avLst/>
          </a:prstGeom>
          <a:noFill/>
          <a:ln/>
        </p:spPr>
        <p:txBody>
          <a:bodyPr wrap="square" lIns="0" tIns="0" rIns="0" bIns="0" rtlCol="0" anchor="ctr"/>
          <a:lstStyle/>
          <a:p>
            <a:pPr marL="0" indent="0">
              <a:lnSpc>
                <a:spcPts val="1900"/>
              </a:lnSpc>
              <a:buNone/>
            </a:pPr>
            <a:r>
              <a:rPr lang="en-US" sz="1450" b="1" dirty="0">
                <a:solidFill>
                  <a:srgbClr val="17365D"/>
                </a:solidFill>
                <a:latin typeface="Cambria" pitchFamily="34" charset="0"/>
                <a:ea typeface="Cambria" pitchFamily="34" charset="-122"/>
                <a:cs typeface="Cambria" pitchFamily="34" charset="-120"/>
              </a:rPr>
              <a:t>Operational Analysis</a:t>
            </a:r>
            <a:endParaRPr lang="en-US" sz="1450" dirty="0"/>
          </a:p>
        </p:txBody>
      </p:sp>
      <p:sp>
        <p:nvSpPr>
          <p:cNvPr id="24" name="Text 22"/>
          <p:cNvSpPr txBox="1"/>
          <p:nvPr/>
        </p:nvSpPr>
        <p:spPr>
          <a:xfrm>
            <a:off x="758952" y="5212080"/>
            <a:ext cx="3099816" cy="621792"/>
          </a:xfrm>
          <a:prstGeom prst="rect">
            <a:avLst/>
          </a:prstGeom>
          <a:noFill/>
          <a:ln/>
        </p:spPr>
        <p:txBody>
          <a:bodyPr wrap="square" lIns="0" tIns="0" rIns="0" bIns="0" rtlCol="0" anchor="ctr"/>
          <a:lstStyle/>
          <a:p>
            <a:pPr marL="0" indent="0">
              <a:lnSpc>
                <a:spcPts val="1500"/>
              </a:lnSpc>
              <a:buNone/>
            </a:pPr>
            <a:r>
              <a:rPr lang="en-US" sz="1150" dirty="0">
                <a:solidFill>
                  <a:srgbClr val="6B7684"/>
                </a:solidFill>
                <a:latin typeface="Calibri" pitchFamily="34" charset="0"/>
                <a:ea typeface="Calibri" pitchFamily="34" charset="-122"/>
                <a:cs typeface="Calibri" pitchFamily="34" charset="-120"/>
              </a:rPr>
              <a:t>Analyze reporting delays and examine claim activity across agents and vendors.</a:t>
            </a:r>
            <a:endParaRPr lang="en-US" sz="1150" dirty="0"/>
          </a:p>
        </p:txBody>
      </p:sp>
      <p:sp>
        <p:nvSpPr>
          <p:cNvPr id="25" name="Shape 23"/>
          <p:cNvSpPr/>
          <p:nvPr/>
        </p:nvSpPr>
        <p:spPr>
          <a:xfrm>
            <a:off x="4334256" y="379476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6" name="Shape 24"/>
          <p:cNvSpPr/>
          <p:nvPr/>
        </p:nvSpPr>
        <p:spPr>
          <a:xfrm>
            <a:off x="4590288" y="4014216"/>
            <a:ext cx="512064" cy="512064"/>
          </a:xfrm>
          <a:prstGeom prst="ellipse">
            <a:avLst/>
          </a:prstGeom>
          <a:solidFill>
            <a:srgbClr val="2F75B5"/>
          </a:solidFill>
          <a:ln w="12700">
            <a:solidFill>
              <a:srgbClr val="2F75B5"/>
            </a:solidFill>
            <a:prstDash val="solid"/>
          </a:ln>
        </p:spPr>
      </p:sp>
      <p:sp>
        <p:nvSpPr>
          <p:cNvPr id="27" name="Text 25"/>
          <p:cNvSpPr txBox="1"/>
          <p:nvPr/>
        </p:nvSpPr>
        <p:spPr>
          <a:xfrm>
            <a:off x="4590288" y="4014216"/>
            <a:ext cx="512064" cy="512064"/>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8" name="Text 26"/>
          <p:cNvSpPr txBox="1"/>
          <p:nvPr/>
        </p:nvSpPr>
        <p:spPr>
          <a:xfrm>
            <a:off x="4590288" y="4663440"/>
            <a:ext cx="3099816" cy="548640"/>
          </a:xfrm>
          <a:prstGeom prst="rect">
            <a:avLst/>
          </a:prstGeom>
          <a:noFill/>
          <a:ln/>
        </p:spPr>
        <p:txBody>
          <a:bodyPr wrap="square" lIns="0" tIns="0" rIns="0" bIns="0" rtlCol="0" anchor="ctr"/>
          <a:lstStyle/>
          <a:p>
            <a:pPr marL="0" indent="0">
              <a:lnSpc>
                <a:spcPts val="1900"/>
              </a:lnSpc>
              <a:buNone/>
            </a:pPr>
            <a:r>
              <a:rPr lang="en-US" sz="1450" b="1" dirty="0">
                <a:solidFill>
                  <a:srgbClr val="17365D"/>
                </a:solidFill>
                <a:latin typeface="Cambria" pitchFamily="34" charset="0"/>
                <a:ea typeface="Cambria" pitchFamily="34" charset="-122"/>
                <a:cs typeface="Cambria" pitchFamily="34" charset="-120"/>
              </a:rPr>
              <a:t>Diagnostic Analysis</a:t>
            </a:r>
            <a:endParaRPr lang="en-US" sz="1450" dirty="0"/>
          </a:p>
        </p:txBody>
      </p:sp>
      <p:sp>
        <p:nvSpPr>
          <p:cNvPr id="29" name="Text 27"/>
          <p:cNvSpPr txBox="1"/>
          <p:nvPr/>
        </p:nvSpPr>
        <p:spPr>
          <a:xfrm>
            <a:off x="4590288" y="5212080"/>
            <a:ext cx="3099816" cy="621792"/>
          </a:xfrm>
          <a:prstGeom prst="rect">
            <a:avLst/>
          </a:prstGeom>
          <a:noFill/>
          <a:ln/>
        </p:spPr>
        <p:txBody>
          <a:bodyPr wrap="square" lIns="0" tIns="0" rIns="0" bIns="0" rtlCol="0" anchor="ctr"/>
          <a:lstStyle/>
          <a:p>
            <a:pPr marL="0" indent="0">
              <a:lnSpc>
                <a:spcPts val="1500"/>
              </a:lnSpc>
              <a:buNone/>
            </a:pPr>
            <a:r>
              <a:rPr lang="en-US" sz="1150" dirty="0">
                <a:solidFill>
                  <a:srgbClr val="6B7684"/>
                </a:solidFill>
                <a:latin typeface="Calibri" pitchFamily="34" charset="0"/>
                <a:ea typeface="Calibri" pitchFamily="34" charset="-122"/>
                <a:cs typeface="Calibri" pitchFamily="34" charset="-120"/>
              </a:rPr>
              <a:t>Identify relationships between risk, severity, insurance type, injury, police reports and claim amounts.</a:t>
            </a:r>
            <a:endParaRPr lang="en-US" sz="1150" dirty="0"/>
          </a:p>
        </p:txBody>
      </p:sp>
      <p:sp>
        <p:nvSpPr>
          <p:cNvPr id="30" name="Shape 28"/>
          <p:cNvSpPr/>
          <p:nvPr/>
        </p:nvSpPr>
        <p:spPr>
          <a:xfrm>
            <a:off x="8165592" y="379476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1" name="Shape 29"/>
          <p:cNvSpPr/>
          <p:nvPr/>
        </p:nvSpPr>
        <p:spPr>
          <a:xfrm>
            <a:off x="8421624" y="4014216"/>
            <a:ext cx="512064" cy="512064"/>
          </a:xfrm>
          <a:prstGeom prst="ellipse">
            <a:avLst/>
          </a:prstGeom>
          <a:solidFill>
            <a:srgbClr val="008C95"/>
          </a:solidFill>
          <a:ln w="12700">
            <a:solidFill>
              <a:srgbClr val="008C95"/>
            </a:solidFill>
            <a:prstDash val="solid"/>
          </a:ln>
        </p:spPr>
      </p:sp>
      <p:sp>
        <p:nvSpPr>
          <p:cNvPr id="32" name="Text 30"/>
          <p:cNvSpPr txBox="1"/>
          <p:nvPr/>
        </p:nvSpPr>
        <p:spPr>
          <a:xfrm>
            <a:off x="8421624" y="4014216"/>
            <a:ext cx="512064" cy="512064"/>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33" name="Text 31"/>
          <p:cNvSpPr txBox="1"/>
          <p:nvPr/>
        </p:nvSpPr>
        <p:spPr>
          <a:xfrm>
            <a:off x="8421624" y="4663440"/>
            <a:ext cx="3099816" cy="548640"/>
          </a:xfrm>
          <a:prstGeom prst="rect">
            <a:avLst/>
          </a:prstGeom>
          <a:noFill/>
          <a:ln/>
        </p:spPr>
        <p:txBody>
          <a:bodyPr wrap="square" lIns="0" tIns="0" rIns="0" bIns="0" rtlCol="0" anchor="ctr"/>
          <a:lstStyle/>
          <a:p>
            <a:pPr marL="0" indent="0">
              <a:lnSpc>
                <a:spcPts val="1900"/>
              </a:lnSpc>
              <a:buNone/>
            </a:pPr>
            <a:r>
              <a:rPr lang="en-US" sz="1450" b="1" dirty="0">
                <a:solidFill>
                  <a:srgbClr val="17365D"/>
                </a:solidFill>
                <a:latin typeface="Cambria" pitchFamily="34" charset="0"/>
                <a:ea typeface="Cambria" pitchFamily="34" charset="-122"/>
                <a:cs typeface="Cambria" pitchFamily="34" charset="-120"/>
              </a:rPr>
              <a:t>Predictive Analysis</a:t>
            </a:r>
            <a:endParaRPr lang="en-US" sz="1450" dirty="0"/>
          </a:p>
        </p:txBody>
      </p:sp>
      <p:sp>
        <p:nvSpPr>
          <p:cNvPr id="34" name="Text 32"/>
          <p:cNvSpPr txBox="1"/>
          <p:nvPr/>
        </p:nvSpPr>
        <p:spPr>
          <a:xfrm>
            <a:off x="8421624" y="5212080"/>
            <a:ext cx="3099816" cy="621792"/>
          </a:xfrm>
          <a:prstGeom prst="rect">
            <a:avLst/>
          </a:prstGeom>
          <a:noFill/>
          <a:ln/>
        </p:spPr>
        <p:txBody>
          <a:bodyPr wrap="square" lIns="0" tIns="0" rIns="0" bIns="0" rtlCol="0" anchor="ctr"/>
          <a:lstStyle/>
          <a:p>
            <a:pPr marL="0" indent="0">
              <a:lnSpc>
                <a:spcPts val="1500"/>
              </a:lnSpc>
              <a:buNone/>
            </a:pPr>
            <a:r>
              <a:rPr lang="en-US" sz="1150" dirty="0">
                <a:solidFill>
                  <a:srgbClr val="6B7684"/>
                </a:solidFill>
                <a:latin typeface="Calibri" pitchFamily="34" charset="0"/>
                <a:ea typeface="Calibri" pitchFamily="34" charset="-122"/>
                <a:cs typeface="Calibri" pitchFamily="34" charset="-120"/>
              </a:rPr>
              <a:t>Build regression models to estimate claim amounts using historical claim and customer characteristics.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Dataset Overview</a:t>
            </a:r>
            <a:endParaRPr lang="en-US" sz="3100" dirty="0"/>
          </a:p>
        </p:txBody>
      </p:sp>
      <p:sp>
        <p:nvSpPr>
          <p:cNvPr id="3" name="Text 1"/>
          <p:cNvSpPr txBox="1"/>
          <p:nvPr/>
        </p:nvSpPr>
        <p:spPr>
          <a:xfrm>
            <a:off x="530352" y="896112"/>
            <a:ext cx="1115568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Three related datasets form the analytical foundation</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6858000"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Rows</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Columns</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Insurance</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10,000</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Main claims-level dataset</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Employee</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1,200</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Agent reference information</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Vendor</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1200" dirty="0">
                          <a:solidFill>
                            <a:srgbClr val="2B3440"/>
                          </a:solidFill>
                          <a:latin typeface="Calibri" pitchFamily="34" charset="0"/>
                          <a:ea typeface="Calibri" pitchFamily="34" charset="-122"/>
                          <a:cs typeface="Calibri" pitchFamily="34" charset="-120"/>
                        </a:rPr>
                        <a:t>Vendor reference information</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3"/>
          <p:cNvSpPr/>
          <p:nvPr/>
        </p:nvSpPr>
        <p:spPr>
          <a:xfrm>
            <a:off x="502920" y="3200400"/>
            <a:ext cx="6858000" cy="777240"/>
          </a:xfrm>
          <a:prstGeom prst="roundRect">
            <a:avLst>
              <a:gd name="adj" fmla="val 941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777240" y="3401568"/>
            <a:ext cx="4023360" cy="365760"/>
          </a:xfrm>
          <a:prstGeom prst="rect">
            <a:avLst/>
          </a:prstGeom>
          <a:noFill/>
          <a:ln/>
        </p:spPr>
        <p:txBody>
          <a:bodyPr wrap="square" lIns="0" tIns="0" rIns="0" bIns="0" rtlCol="0" anchor="ctr"/>
          <a:lstStyle/>
          <a:p>
            <a:pPr marL="0" indent="0">
              <a:buNone/>
            </a:pPr>
            <a:r>
              <a:rPr lang="en-US" sz="1300" dirty="0">
                <a:solidFill>
                  <a:srgbClr val="6B7684"/>
                </a:solidFill>
                <a:latin typeface="Calibri" pitchFamily="34" charset="0"/>
                <a:ea typeface="Calibri" pitchFamily="34" charset="-122"/>
                <a:cs typeface="Calibri" pitchFamily="34" charset="-120"/>
              </a:rPr>
              <a:t>Total Records Across Datasets</a:t>
            </a:r>
            <a:endParaRPr lang="en-US" sz="1300" dirty="0"/>
          </a:p>
        </p:txBody>
      </p:sp>
      <p:sp>
        <p:nvSpPr>
          <p:cNvPr id="8" name="Text 5"/>
          <p:cNvSpPr txBox="1"/>
          <p:nvPr/>
        </p:nvSpPr>
        <p:spPr>
          <a:xfrm>
            <a:off x="4846320" y="3310128"/>
            <a:ext cx="2286000" cy="548640"/>
          </a:xfrm>
          <a:prstGeom prst="rect">
            <a:avLst/>
          </a:prstGeom>
          <a:noFill/>
          <a:ln/>
        </p:spPr>
        <p:txBody>
          <a:bodyPr wrap="square" lIns="0" tIns="0" rIns="0" bIns="0" rtlCol="0" anchor="ctr"/>
          <a:lstStyle/>
          <a:p>
            <a:pPr marL="0" indent="0" algn="r">
              <a:buNone/>
            </a:pPr>
            <a:r>
              <a:rPr lang="en-US" sz="2400" b="1" dirty="0">
                <a:solidFill>
                  <a:srgbClr val="008C95"/>
                </a:solidFill>
                <a:latin typeface="Cambria" pitchFamily="34" charset="0"/>
                <a:ea typeface="Cambria" pitchFamily="34" charset="-122"/>
                <a:cs typeface="Cambria" pitchFamily="34" charset="-120"/>
              </a:rPr>
              <a:t>11,800</a:t>
            </a:r>
            <a:endParaRPr lang="en-US" sz="2400" dirty="0"/>
          </a:p>
        </p:txBody>
      </p:sp>
      <p:sp>
        <p:nvSpPr>
          <p:cNvPr id="9" name="Shape 6"/>
          <p:cNvSpPr/>
          <p:nvPr/>
        </p:nvSpPr>
        <p:spPr>
          <a:xfrm>
            <a:off x="502920" y="4160520"/>
            <a:ext cx="6858000" cy="960120"/>
          </a:xfrm>
          <a:prstGeom prst="roundRect">
            <a:avLst>
              <a:gd name="adj" fmla="val 7619"/>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7"/>
          <p:cNvSpPr txBox="1"/>
          <p:nvPr/>
        </p:nvSpPr>
        <p:spPr>
          <a:xfrm>
            <a:off x="777240" y="4315968"/>
            <a:ext cx="3200400" cy="274320"/>
          </a:xfrm>
          <a:prstGeom prst="rect">
            <a:avLst/>
          </a:prstGeom>
          <a:noFill/>
          <a:ln/>
        </p:spPr>
        <p:txBody>
          <a:bodyPr wrap="square" lIns="0" tIns="0" rIns="0" bIns="0" rtlCol="0" anchor="ctr"/>
          <a:lstStyle/>
          <a:p>
            <a:pPr marL="0" indent="0">
              <a:buNone/>
            </a:pPr>
            <a:r>
              <a:rPr lang="en-US" sz="1300" b="1" dirty="0">
                <a:solidFill>
                  <a:srgbClr val="17365D"/>
                </a:solidFill>
                <a:latin typeface="Cambria" pitchFamily="34" charset="0"/>
                <a:ea typeface="Cambria" pitchFamily="34" charset="-122"/>
                <a:cs typeface="Cambria" pitchFamily="34" charset="-120"/>
              </a:rPr>
              <a:t>Transaction Period</a:t>
            </a:r>
            <a:endParaRPr lang="en-US" sz="1300" dirty="0"/>
          </a:p>
        </p:txBody>
      </p:sp>
      <p:sp>
        <p:nvSpPr>
          <p:cNvPr id="11" name="Text 8"/>
          <p:cNvSpPr txBox="1"/>
          <p:nvPr/>
        </p:nvSpPr>
        <p:spPr>
          <a:xfrm>
            <a:off x="777240" y="4617720"/>
            <a:ext cx="6309360" cy="320040"/>
          </a:xfrm>
          <a:prstGeom prst="rect">
            <a:avLst/>
          </a:prstGeom>
          <a:noFill/>
          <a:ln/>
        </p:spPr>
        <p:txBody>
          <a:bodyPr wrap="square" lIns="0" tIns="0" rIns="0" bIns="0" rtlCol="0" anchor="ctr"/>
          <a:lstStyle/>
          <a:p>
            <a:pPr marL="0" indent="0">
              <a:buNone/>
            </a:pPr>
            <a:r>
              <a:rPr lang="en-US" sz="1300" dirty="0">
                <a:solidFill>
                  <a:srgbClr val="2B3440"/>
                </a:solidFill>
                <a:latin typeface="Calibri" pitchFamily="34" charset="0"/>
                <a:ea typeface="Calibri" pitchFamily="34" charset="-122"/>
                <a:cs typeface="Calibri" pitchFamily="34" charset="-120"/>
              </a:rPr>
              <a:t>June 2020 – June 2021    ·    13 months of claims activity</a:t>
            </a:r>
            <a:endParaRPr lang="en-US" sz="1300" dirty="0"/>
          </a:p>
        </p:txBody>
      </p:sp>
      <p:sp>
        <p:nvSpPr>
          <p:cNvPr id="12" name="Text 9"/>
          <p:cNvSpPr txBox="1"/>
          <p:nvPr/>
        </p:nvSpPr>
        <p:spPr>
          <a:xfrm>
            <a:off x="7772400" y="1371600"/>
            <a:ext cx="393192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Main Analytical Path</a:t>
            </a:r>
            <a:endParaRPr lang="en-US" sz="1400" dirty="0"/>
          </a:p>
        </p:txBody>
      </p:sp>
      <p:sp>
        <p:nvSpPr>
          <p:cNvPr id="13" name="Shape 10"/>
          <p:cNvSpPr/>
          <p:nvPr/>
        </p:nvSpPr>
        <p:spPr>
          <a:xfrm>
            <a:off x="7772400" y="1783080"/>
            <a:ext cx="3931920" cy="566928"/>
          </a:xfrm>
          <a:prstGeom prst="roundRect">
            <a:avLst>
              <a:gd name="adj" fmla="val 9677"/>
            </a:avLst>
          </a:prstGeom>
          <a:solidFill>
            <a:srgbClr val="2F75B5"/>
          </a:solidFill>
          <a:ln w="12700">
            <a:solidFill>
              <a:srgbClr val="2F75B5"/>
            </a:solidFill>
            <a:prstDash val="solid"/>
          </a:ln>
        </p:spPr>
      </p:sp>
      <p:sp>
        <p:nvSpPr>
          <p:cNvPr id="14" name="Text 11"/>
          <p:cNvSpPr txBox="1"/>
          <p:nvPr/>
        </p:nvSpPr>
        <p:spPr>
          <a:xfrm>
            <a:off x="7772400" y="1783080"/>
            <a:ext cx="3931920" cy="56692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Insurance Data</a:t>
            </a:r>
            <a:endParaRPr lang="en-US" sz="1200" dirty="0"/>
          </a:p>
        </p:txBody>
      </p:sp>
      <p:sp>
        <p:nvSpPr>
          <p:cNvPr id="15" name="Shape 12"/>
          <p:cNvSpPr/>
          <p:nvPr/>
        </p:nvSpPr>
        <p:spPr>
          <a:xfrm>
            <a:off x="9738360" y="2386584"/>
            <a:ext cx="0" cy="420624"/>
          </a:xfrm>
          <a:prstGeom prst="line">
            <a:avLst/>
          </a:prstGeom>
          <a:noFill/>
          <a:ln w="22225">
            <a:solidFill>
              <a:srgbClr val="2F75B5"/>
            </a:solidFill>
            <a:prstDash val="solid"/>
            <a:tailEnd type="triangle"/>
          </a:ln>
        </p:spPr>
      </p:sp>
      <p:sp>
        <p:nvSpPr>
          <p:cNvPr id="16" name="Shape 13"/>
          <p:cNvSpPr/>
          <p:nvPr/>
        </p:nvSpPr>
        <p:spPr>
          <a:xfrm>
            <a:off x="7772400" y="2880360"/>
            <a:ext cx="3931920" cy="566928"/>
          </a:xfrm>
          <a:prstGeom prst="roundRect">
            <a:avLst>
              <a:gd name="adj" fmla="val 9677"/>
            </a:avLst>
          </a:prstGeom>
          <a:solidFill>
            <a:srgbClr val="2F75B5"/>
          </a:solidFill>
          <a:ln w="12700">
            <a:solidFill>
              <a:srgbClr val="2F75B5"/>
            </a:solidFill>
            <a:prstDash val="solid"/>
          </a:ln>
        </p:spPr>
      </p:sp>
      <p:sp>
        <p:nvSpPr>
          <p:cNvPr id="17" name="Text 14"/>
          <p:cNvSpPr txBox="1"/>
          <p:nvPr/>
        </p:nvSpPr>
        <p:spPr>
          <a:xfrm>
            <a:off x="7772400" y="2880360"/>
            <a:ext cx="3931920" cy="56692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SQL Cleaning &amp; Transformation</a:t>
            </a:r>
            <a:endParaRPr lang="en-US" sz="1200" dirty="0"/>
          </a:p>
        </p:txBody>
      </p:sp>
      <p:sp>
        <p:nvSpPr>
          <p:cNvPr id="18" name="Shape 15"/>
          <p:cNvSpPr/>
          <p:nvPr/>
        </p:nvSpPr>
        <p:spPr>
          <a:xfrm>
            <a:off x="9738360" y="3483864"/>
            <a:ext cx="0" cy="420624"/>
          </a:xfrm>
          <a:prstGeom prst="line">
            <a:avLst/>
          </a:prstGeom>
          <a:noFill/>
          <a:ln w="22225">
            <a:solidFill>
              <a:srgbClr val="2F75B5"/>
            </a:solidFill>
            <a:prstDash val="solid"/>
            <a:tailEnd type="triangle"/>
          </a:ln>
        </p:spPr>
      </p:sp>
      <p:sp>
        <p:nvSpPr>
          <p:cNvPr id="19" name="Shape 16"/>
          <p:cNvSpPr/>
          <p:nvPr/>
        </p:nvSpPr>
        <p:spPr>
          <a:xfrm>
            <a:off x="7772400" y="3977640"/>
            <a:ext cx="3931920" cy="566928"/>
          </a:xfrm>
          <a:prstGeom prst="roundRect">
            <a:avLst>
              <a:gd name="adj" fmla="val 9677"/>
            </a:avLst>
          </a:prstGeom>
          <a:solidFill>
            <a:srgbClr val="17365D"/>
          </a:solidFill>
          <a:ln w="12700">
            <a:solidFill>
              <a:srgbClr val="17365D"/>
            </a:solidFill>
            <a:prstDash val="solid"/>
          </a:ln>
        </p:spPr>
      </p:sp>
      <p:sp>
        <p:nvSpPr>
          <p:cNvPr id="20" name="Text 17"/>
          <p:cNvSpPr txBox="1"/>
          <p:nvPr/>
        </p:nvSpPr>
        <p:spPr>
          <a:xfrm>
            <a:off x="7772400" y="3977640"/>
            <a:ext cx="3931920" cy="56692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CLAIMS_ANALYTICS_VW</a:t>
            </a:r>
            <a:endParaRPr lang="en-US" sz="1200" dirty="0"/>
          </a:p>
        </p:txBody>
      </p:sp>
      <p:sp>
        <p:nvSpPr>
          <p:cNvPr id="21" name="Shape 18"/>
          <p:cNvSpPr/>
          <p:nvPr/>
        </p:nvSpPr>
        <p:spPr>
          <a:xfrm>
            <a:off x="9738360" y="4581144"/>
            <a:ext cx="0" cy="420624"/>
          </a:xfrm>
          <a:prstGeom prst="line">
            <a:avLst/>
          </a:prstGeom>
          <a:noFill/>
          <a:ln w="22225">
            <a:solidFill>
              <a:srgbClr val="2F75B5"/>
            </a:solidFill>
            <a:prstDash val="solid"/>
            <a:tailEnd type="triangle"/>
          </a:ln>
        </p:spPr>
      </p:sp>
      <p:sp>
        <p:nvSpPr>
          <p:cNvPr id="22" name="Shape 19"/>
          <p:cNvSpPr/>
          <p:nvPr/>
        </p:nvSpPr>
        <p:spPr>
          <a:xfrm>
            <a:off x="7772400" y="5074920"/>
            <a:ext cx="3931920" cy="566928"/>
          </a:xfrm>
          <a:prstGeom prst="roundRect">
            <a:avLst>
              <a:gd name="adj" fmla="val 9677"/>
            </a:avLst>
          </a:prstGeom>
          <a:solidFill>
            <a:srgbClr val="008C95"/>
          </a:solidFill>
          <a:ln w="12700">
            <a:solidFill>
              <a:srgbClr val="008C95"/>
            </a:solidFill>
            <a:prstDash val="solid"/>
          </a:ln>
        </p:spPr>
      </p:sp>
      <p:sp>
        <p:nvSpPr>
          <p:cNvPr id="23" name="Text 20"/>
          <p:cNvSpPr txBox="1"/>
          <p:nvPr/>
        </p:nvSpPr>
        <p:spPr>
          <a:xfrm>
            <a:off x="7772400" y="5074920"/>
            <a:ext cx="3931920" cy="56692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Python  ·  Power BI  ·  Streamlit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Data Dictionary — Insurance Claims</a:t>
            </a:r>
            <a:endParaRPr lang="en-US" sz="3100" dirty="0"/>
          </a:p>
        </p:txBody>
      </p:sp>
      <p:sp>
        <p:nvSpPr>
          <p:cNvPr id="3" name="Text 1"/>
          <p:cNvSpPr txBox="1"/>
          <p:nvPr/>
        </p:nvSpPr>
        <p:spPr>
          <a:xfrm>
            <a:off x="530352" y="896112"/>
            <a:ext cx="1115568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Key analytical fields used throughout the project</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05</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5486400" cy="3685032"/>
        </p:xfrm>
        <a:graphic>
          <a:graphicData uri="http://schemas.openxmlformats.org/drawingml/2006/table">
            <a:tbl>
              <a:tblPr/>
              <a:tblGrid>
                <a:gridCol w="21488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28346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Column</a:t>
                      </a:r>
                      <a:endParaRPr lang="en-US" sz="10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Description</a:t>
                      </a:r>
                      <a:endParaRPr lang="en-US" sz="10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TRANSACTION_ID</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Unique identifier for each claim transaction</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CUSTOMER_ID</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Unique customer identifier</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POLICY_NUMBER</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Insurance policy identifier</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TXN_DATE_TIME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Transaction date and time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POLICY_EFF_DT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Policy effective date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LOSS_DT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Date of loss / incident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REPORT_DT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Date the incident was reported</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INSURANCE_TYPE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Type of insurance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CLAIM_AMOUNT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Monetary claim amount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PREMIUM</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Insurance premium amount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AGE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Customer age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TENURE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Customer / policy tenure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199632" y="1371600"/>
          <a:ext cx="5486400" cy="3401568"/>
        </p:xfrm>
        <a:graphic>
          <a:graphicData uri="http://schemas.openxmlformats.org/drawingml/2006/table">
            <a:tbl>
              <a:tblPr/>
              <a:tblGrid>
                <a:gridCol w="21488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28346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Column</a:t>
                      </a:r>
                      <a:endParaRPr lang="en-US" sz="10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Description</a:t>
                      </a:r>
                      <a:endParaRPr lang="en-US" sz="10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RISK_SEGMENTATION</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Risk segment of the claim / customer</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INCIDENT_SEVERITY</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Severity classification of the incident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ANY_INJURY</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Whether injury was reported</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POLICE_REPORT_AVAILABLE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Availability of police report</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AGENT_ID</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Agent associated with the claim</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VENDOR_ID</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Vendor associated with the claim</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MARITAL_STATUS</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Customer marital status</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EMPLOYMENT_STATUS</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Customer employment status</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HOUSE_TYPE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Customer house type</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SOCIAL_CLASS</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Customer social classification</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83464">
                <a:tc>
                  <a:txBody>
                    <a:bodyPr/>
                    <a:lstStyle/>
                    <a:p>
                      <a:pPr marL="0" indent="0">
                        <a:buNone/>
                      </a:pPr>
                      <a:r>
                        <a:rPr lang="en-US" sz="950" b="1" dirty="0">
                          <a:solidFill>
                            <a:srgbClr val="17365D"/>
                          </a:solidFill>
                          <a:latin typeface="Calibri" pitchFamily="34" charset="0"/>
                          <a:ea typeface="Calibri" pitchFamily="34" charset="-122"/>
                          <a:cs typeface="Calibri" pitchFamily="34" charset="-120"/>
                        </a:rPr>
                        <a:t>CUSTOMER_EDUCATION_LEVEL</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50" dirty="0">
                          <a:solidFill>
                            <a:srgbClr val="2B3440"/>
                          </a:solidFill>
                          <a:latin typeface="Calibri" pitchFamily="34" charset="0"/>
                          <a:ea typeface="Calibri" pitchFamily="34" charset="-122"/>
                          <a:cs typeface="Calibri" pitchFamily="34" charset="-120"/>
                        </a:rPr>
                        <a:t>Customer education level</a:t>
                      </a:r>
                      <a:endParaRPr lang="en-US" sz="95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5" name="Text 3"/>
          <p:cNvSpPr txBox="1"/>
          <p:nvPr/>
        </p:nvSpPr>
        <p:spPr>
          <a:xfrm>
            <a:off x="530352" y="6144768"/>
            <a:ext cx="8229600" cy="274320"/>
          </a:xfrm>
          <a:prstGeom prst="rect">
            <a:avLst/>
          </a:prstGeom>
          <a:noFill/>
          <a:ln/>
        </p:spPr>
        <p:txBody>
          <a:bodyPr wrap="square" lIns="0" tIns="0" rIns="0" bIns="0" rtlCol="0" anchor="ctr"/>
          <a:lstStyle/>
          <a:p>
            <a:pPr marL="0" indent="0">
              <a:buNone/>
            </a:pPr>
            <a:r>
              <a:rPr lang="en-US" sz="1100" i="1" dirty="0">
                <a:solidFill>
                  <a:srgbClr val="6B7684"/>
                </a:solidFill>
                <a:latin typeface="Calibri" pitchFamily="34" charset="0"/>
                <a:ea typeface="Calibri" pitchFamily="34" charset="-122"/>
                <a:cs typeface="Calibri" pitchFamily="34" charset="-120"/>
              </a:rPr>
              <a:t>The complete field-level dictionary is provided in Appendix 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Data Model — Entity Relationship Diagram</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06</a:t>
            </a:r>
            <a:endParaRPr lang="en-US" sz="1000" dirty="0"/>
          </a:p>
        </p:txBody>
      </p:sp>
      <p:sp>
        <p:nvSpPr>
          <p:cNvPr id="4" name="Shape 2"/>
          <p:cNvSpPr/>
          <p:nvPr/>
        </p:nvSpPr>
        <p:spPr>
          <a:xfrm>
            <a:off x="685800" y="1371600"/>
            <a:ext cx="3017520" cy="1417320"/>
          </a:xfrm>
          <a:prstGeom prst="roundRect">
            <a:avLst>
              <a:gd name="adj" fmla="val 3871"/>
            </a:avLst>
          </a:prstGeom>
          <a:solidFill>
            <a:srgbClr val="FFFFFF"/>
          </a:solidFill>
          <a:ln w="19050">
            <a:solidFill>
              <a:srgbClr val="008C95"/>
            </a:solidFill>
            <a:prstDash val="solid"/>
          </a:ln>
          <a:effectLst>
            <a:outerShdw blurRad="101600" dist="25400" dir="5400000" algn="bl" rotWithShape="0">
              <a:srgbClr val="9AA8B8">
                <a:alpha val="32000"/>
              </a:srgbClr>
            </a:outerShdw>
          </a:effectLst>
        </p:spPr>
      </p:sp>
      <p:sp>
        <p:nvSpPr>
          <p:cNvPr id="5" name="Shape 3"/>
          <p:cNvSpPr/>
          <p:nvPr/>
        </p:nvSpPr>
        <p:spPr>
          <a:xfrm>
            <a:off x="685800" y="1371600"/>
            <a:ext cx="3017520" cy="402336"/>
          </a:xfrm>
          <a:prstGeom prst="roundRect">
            <a:avLst>
              <a:gd name="adj" fmla="val 13636"/>
            </a:avLst>
          </a:prstGeom>
          <a:solidFill>
            <a:srgbClr val="008C95"/>
          </a:solidFill>
          <a:ln w="12700">
            <a:solidFill>
              <a:srgbClr val="008C95"/>
            </a:solidFill>
            <a:prstDash val="solid"/>
          </a:ln>
        </p:spPr>
      </p:sp>
      <p:sp>
        <p:nvSpPr>
          <p:cNvPr id="6" name="Text 4"/>
          <p:cNvSpPr txBox="1"/>
          <p:nvPr/>
        </p:nvSpPr>
        <p:spPr>
          <a:xfrm>
            <a:off x="685800" y="1371600"/>
            <a:ext cx="3017520"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EMPLOYEE_DATA</a:t>
            </a:r>
            <a:endParaRPr lang="en-US" sz="1250" dirty="0"/>
          </a:p>
        </p:txBody>
      </p:sp>
      <p:sp>
        <p:nvSpPr>
          <p:cNvPr id="7" name="Text 5"/>
          <p:cNvSpPr txBox="1"/>
          <p:nvPr/>
        </p:nvSpPr>
        <p:spPr>
          <a:xfrm>
            <a:off x="886968" y="1883664"/>
            <a:ext cx="2615184" cy="758952"/>
          </a:xfrm>
          <a:prstGeom prst="rect">
            <a:avLst/>
          </a:prstGeom>
          <a:noFill/>
          <a:ln/>
        </p:spPr>
        <p:txBody>
          <a:bodyPr wrap="square" lIns="0" tIns="0" rIns="0" bIns="0" rtlCol="0" anchor="ctr"/>
          <a:lstStyle/>
          <a:p>
            <a:pPr marL="0" indent="0">
              <a:lnSpc>
                <a:spcPts val="1450"/>
              </a:lnSpc>
              <a:buNone/>
            </a:pPr>
            <a:r>
              <a:rPr lang="en-US" sz="1050" b="1" dirty="0">
                <a:solidFill>
                  <a:srgbClr val="17365D"/>
                </a:solidFill>
                <a:latin typeface="Calibri" pitchFamily="34" charset="0"/>
                <a:ea typeface="Calibri" pitchFamily="34" charset="-122"/>
                <a:cs typeface="Calibri" pitchFamily="34" charset="-120"/>
              </a:rPr>
              <a:t>PK  AGENT_ID</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Agent name</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Agent region</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Employee details</a:t>
            </a:r>
            <a:endParaRPr lang="en-US" sz="1050" dirty="0"/>
          </a:p>
        </p:txBody>
      </p:sp>
      <p:sp>
        <p:nvSpPr>
          <p:cNvPr id="8" name="Shape 6"/>
          <p:cNvSpPr/>
          <p:nvPr/>
        </p:nvSpPr>
        <p:spPr>
          <a:xfrm>
            <a:off x="685800" y="4251960"/>
            <a:ext cx="3017520" cy="1417320"/>
          </a:xfrm>
          <a:prstGeom prst="roundRect">
            <a:avLst>
              <a:gd name="adj" fmla="val 3871"/>
            </a:avLst>
          </a:prstGeom>
          <a:solidFill>
            <a:srgbClr val="FFFFFF"/>
          </a:solidFill>
          <a:ln w="19050">
            <a:solidFill>
              <a:srgbClr val="008C95"/>
            </a:solidFill>
            <a:prstDash val="solid"/>
          </a:ln>
          <a:effectLst>
            <a:outerShdw blurRad="101600" dist="25400" dir="5400000" algn="bl" rotWithShape="0">
              <a:srgbClr val="9AA8B8">
                <a:alpha val="32000"/>
              </a:srgbClr>
            </a:outerShdw>
          </a:effectLst>
        </p:spPr>
      </p:sp>
      <p:sp>
        <p:nvSpPr>
          <p:cNvPr id="9" name="Shape 7"/>
          <p:cNvSpPr/>
          <p:nvPr/>
        </p:nvSpPr>
        <p:spPr>
          <a:xfrm>
            <a:off x="685800" y="4251960"/>
            <a:ext cx="3017520" cy="402336"/>
          </a:xfrm>
          <a:prstGeom prst="roundRect">
            <a:avLst>
              <a:gd name="adj" fmla="val 13636"/>
            </a:avLst>
          </a:prstGeom>
          <a:solidFill>
            <a:srgbClr val="008C95"/>
          </a:solidFill>
          <a:ln w="12700">
            <a:solidFill>
              <a:srgbClr val="008C95"/>
            </a:solidFill>
            <a:prstDash val="solid"/>
          </a:ln>
        </p:spPr>
      </p:sp>
      <p:sp>
        <p:nvSpPr>
          <p:cNvPr id="10" name="Text 8"/>
          <p:cNvSpPr txBox="1"/>
          <p:nvPr/>
        </p:nvSpPr>
        <p:spPr>
          <a:xfrm>
            <a:off x="685800" y="4251960"/>
            <a:ext cx="3017520"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VENDOR_DATA</a:t>
            </a:r>
            <a:endParaRPr lang="en-US" sz="1250" dirty="0"/>
          </a:p>
        </p:txBody>
      </p:sp>
      <p:sp>
        <p:nvSpPr>
          <p:cNvPr id="11" name="Text 9"/>
          <p:cNvSpPr txBox="1"/>
          <p:nvPr/>
        </p:nvSpPr>
        <p:spPr>
          <a:xfrm>
            <a:off x="886968" y="4764024"/>
            <a:ext cx="2615184" cy="758952"/>
          </a:xfrm>
          <a:prstGeom prst="rect">
            <a:avLst/>
          </a:prstGeom>
          <a:noFill/>
          <a:ln/>
        </p:spPr>
        <p:txBody>
          <a:bodyPr wrap="square" lIns="0" tIns="0" rIns="0" bIns="0" rtlCol="0" anchor="ctr"/>
          <a:lstStyle/>
          <a:p>
            <a:pPr marL="0" indent="0">
              <a:lnSpc>
                <a:spcPts val="1450"/>
              </a:lnSpc>
              <a:buNone/>
            </a:pPr>
            <a:r>
              <a:rPr lang="en-US" sz="1050" b="1" dirty="0">
                <a:solidFill>
                  <a:srgbClr val="17365D"/>
                </a:solidFill>
                <a:latin typeface="Calibri" pitchFamily="34" charset="0"/>
                <a:ea typeface="Calibri" pitchFamily="34" charset="-122"/>
                <a:cs typeface="Calibri" pitchFamily="34" charset="-120"/>
              </a:rPr>
              <a:t>PK  VENDOR_ID</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Vendor name</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Vendor location</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Vendor details</a:t>
            </a:r>
            <a:endParaRPr lang="en-US" sz="1050" dirty="0"/>
          </a:p>
        </p:txBody>
      </p:sp>
      <p:sp>
        <p:nvSpPr>
          <p:cNvPr id="12" name="Shape 10"/>
          <p:cNvSpPr/>
          <p:nvPr/>
        </p:nvSpPr>
        <p:spPr>
          <a:xfrm>
            <a:off x="5120640" y="1371600"/>
            <a:ext cx="4206240" cy="4297680"/>
          </a:xfrm>
          <a:prstGeom prst="roundRect">
            <a:avLst>
              <a:gd name="adj" fmla="val 1304"/>
            </a:avLst>
          </a:prstGeom>
          <a:solidFill>
            <a:srgbClr val="FFFFFF"/>
          </a:solidFill>
          <a:ln w="19050">
            <a:solidFill>
              <a:srgbClr val="2F75B5"/>
            </a:solidFill>
            <a:prstDash val="solid"/>
          </a:ln>
          <a:effectLst>
            <a:outerShdw blurRad="101600" dist="25400" dir="5400000" algn="bl" rotWithShape="0">
              <a:srgbClr val="9AA8B8">
                <a:alpha val="32000"/>
              </a:srgbClr>
            </a:outerShdw>
          </a:effectLst>
        </p:spPr>
      </p:sp>
      <p:sp>
        <p:nvSpPr>
          <p:cNvPr id="13" name="Shape 11"/>
          <p:cNvSpPr/>
          <p:nvPr/>
        </p:nvSpPr>
        <p:spPr>
          <a:xfrm>
            <a:off x="5120640" y="1371600"/>
            <a:ext cx="4206240" cy="402336"/>
          </a:xfrm>
          <a:prstGeom prst="roundRect">
            <a:avLst>
              <a:gd name="adj" fmla="val 13636"/>
            </a:avLst>
          </a:prstGeom>
          <a:solidFill>
            <a:srgbClr val="2F75B5"/>
          </a:solidFill>
          <a:ln w="12700">
            <a:solidFill>
              <a:srgbClr val="2F75B5"/>
            </a:solidFill>
            <a:prstDash val="solid"/>
          </a:ln>
        </p:spPr>
      </p:sp>
      <p:sp>
        <p:nvSpPr>
          <p:cNvPr id="14" name="Text 12"/>
          <p:cNvSpPr txBox="1"/>
          <p:nvPr/>
        </p:nvSpPr>
        <p:spPr>
          <a:xfrm>
            <a:off x="5120640" y="1371600"/>
            <a:ext cx="4206240"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INSURANCE_DATA</a:t>
            </a:r>
            <a:endParaRPr lang="en-US" sz="1250" dirty="0"/>
          </a:p>
        </p:txBody>
      </p:sp>
      <p:sp>
        <p:nvSpPr>
          <p:cNvPr id="15" name="Text 13"/>
          <p:cNvSpPr txBox="1"/>
          <p:nvPr/>
        </p:nvSpPr>
        <p:spPr>
          <a:xfrm>
            <a:off x="5321808" y="1883664"/>
            <a:ext cx="3803904" cy="3639312"/>
          </a:xfrm>
          <a:prstGeom prst="rect">
            <a:avLst/>
          </a:prstGeom>
          <a:noFill/>
          <a:ln/>
        </p:spPr>
        <p:txBody>
          <a:bodyPr wrap="square" lIns="0" tIns="0" rIns="0" bIns="0" rtlCol="0" anchor="ctr"/>
          <a:lstStyle/>
          <a:p>
            <a:pPr marL="0" indent="0">
              <a:lnSpc>
                <a:spcPts val="1450"/>
              </a:lnSpc>
              <a:buNone/>
            </a:pPr>
            <a:r>
              <a:rPr lang="en-US" sz="1050" b="1" dirty="0">
                <a:solidFill>
                  <a:srgbClr val="17365D"/>
                </a:solidFill>
                <a:latin typeface="Calibri" pitchFamily="34" charset="0"/>
                <a:ea typeface="Calibri" pitchFamily="34" charset="-122"/>
                <a:cs typeface="Calibri" pitchFamily="34" charset="-120"/>
              </a:rPr>
              <a:t>PK  TRANSACTION_ID</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CUSTOMER_ID</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POLICY_NUMBER</a:t>
            </a:r>
            <a:endParaRPr lang="en-US" sz="1050" dirty="0"/>
          </a:p>
          <a:p>
            <a:pPr marL="0" indent="0">
              <a:lnSpc>
                <a:spcPts val="1450"/>
              </a:lnSpc>
              <a:buNone/>
            </a:pPr>
            <a:r>
              <a:rPr lang="en-US" sz="1050" b="1" i="1" dirty="0">
                <a:solidFill>
                  <a:srgbClr val="2B3440"/>
                </a:solidFill>
                <a:latin typeface="Calibri" pitchFamily="34" charset="0"/>
                <a:ea typeface="Calibri" pitchFamily="34" charset="-122"/>
                <a:cs typeface="Calibri" pitchFamily="34" charset="-120"/>
              </a:rPr>
              <a:t>FK  AGENT_ID</a:t>
            </a:r>
            <a:endParaRPr lang="en-US" sz="1050" b="1" i="1" dirty="0"/>
          </a:p>
          <a:p>
            <a:pPr marL="0" indent="0">
              <a:lnSpc>
                <a:spcPts val="1450"/>
              </a:lnSpc>
              <a:buNone/>
            </a:pPr>
            <a:r>
              <a:rPr lang="en-US" sz="1050" b="1" i="1" dirty="0">
                <a:solidFill>
                  <a:srgbClr val="2B3440"/>
                </a:solidFill>
                <a:latin typeface="Calibri" pitchFamily="34" charset="0"/>
                <a:ea typeface="Calibri" pitchFamily="34" charset="-122"/>
                <a:cs typeface="Calibri" pitchFamily="34" charset="-120"/>
              </a:rPr>
              <a:t>FK  VENDOR_ID</a:t>
            </a:r>
            <a:endParaRPr lang="en-US" sz="1050" b="1" i="1"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INSURANCE_TYPE</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CLAIM_AMOUNT</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PREMIUM</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RISK_SEGMENTATION</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INCIDENT_SEVERITY</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Customer attributes</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Incident attributes</a:t>
            </a:r>
            <a:endParaRPr lang="en-US" sz="1050" dirty="0"/>
          </a:p>
          <a:p>
            <a:pPr marL="0" indent="0">
              <a:lnSpc>
                <a:spcPts val="1450"/>
              </a:lnSpc>
              <a:buNone/>
            </a:pPr>
            <a:r>
              <a:rPr lang="en-US" sz="1050" dirty="0">
                <a:solidFill>
                  <a:srgbClr val="2B3440"/>
                </a:solidFill>
                <a:latin typeface="Calibri" pitchFamily="34" charset="0"/>
                <a:ea typeface="Calibri" pitchFamily="34" charset="-122"/>
                <a:cs typeface="Calibri" pitchFamily="34" charset="-120"/>
              </a:rPr>
              <a:t>Reporting attributes</a:t>
            </a:r>
            <a:endParaRPr lang="en-US" sz="1050" dirty="0"/>
          </a:p>
        </p:txBody>
      </p:sp>
      <p:sp>
        <p:nvSpPr>
          <p:cNvPr id="16" name="Shape 14"/>
          <p:cNvSpPr/>
          <p:nvPr/>
        </p:nvSpPr>
        <p:spPr>
          <a:xfrm>
            <a:off x="3703320" y="2084832"/>
            <a:ext cx="1371600" cy="0"/>
          </a:xfrm>
          <a:prstGeom prst="line">
            <a:avLst/>
          </a:prstGeom>
          <a:noFill/>
          <a:ln w="22225">
            <a:solidFill>
              <a:srgbClr val="17365D"/>
            </a:solidFill>
            <a:prstDash val="solid"/>
            <a:tailEnd type="triangle"/>
          </a:ln>
        </p:spPr>
      </p:sp>
      <p:sp>
        <p:nvSpPr>
          <p:cNvPr id="17" name="Text 15"/>
          <p:cNvSpPr txBox="1"/>
          <p:nvPr/>
        </p:nvSpPr>
        <p:spPr>
          <a:xfrm>
            <a:off x="3703320" y="1783080"/>
            <a:ext cx="1371600" cy="256032"/>
          </a:xfrm>
          <a:prstGeom prst="rect">
            <a:avLst/>
          </a:prstGeom>
          <a:noFill/>
          <a:ln/>
        </p:spPr>
        <p:txBody>
          <a:bodyPr wrap="square" lIns="0" tIns="0" rIns="0" bIns="0" rtlCol="0" anchor="ctr"/>
          <a:lstStyle/>
          <a:p>
            <a:pPr marL="0" indent="0" algn="ctr">
              <a:buNone/>
            </a:pPr>
            <a:r>
              <a:rPr lang="en-US" sz="950" dirty="0">
                <a:solidFill>
                  <a:srgbClr val="6B7684"/>
                </a:solidFill>
                <a:latin typeface="Calibri" pitchFamily="34" charset="0"/>
                <a:ea typeface="Calibri" pitchFamily="34" charset="-122"/>
                <a:cs typeface="Calibri" pitchFamily="34" charset="-120"/>
              </a:rPr>
              <a:t>AGENT_ID  1 : N</a:t>
            </a:r>
            <a:endParaRPr lang="en-US" sz="950" dirty="0"/>
          </a:p>
        </p:txBody>
      </p:sp>
      <p:sp>
        <p:nvSpPr>
          <p:cNvPr id="18" name="Shape 16"/>
          <p:cNvSpPr/>
          <p:nvPr/>
        </p:nvSpPr>
        <p:spPr>
          <a:xfrm>
            <a:off x="3703320" y="4956048"/>
            <a:ext cx="1371600" cy="0"/>
          </a:xfrm>
          <a:prstGeom prst="line">
            <a:avLst/>
          </a:prstGeom>
          <a:noFill/>
          <a:ln w="22225">
            <a:solidFill>
              <a:srgbClr val="17365D"/>
            </a:solidFill>
            <a:prstDash val="solid"/>
            <a:tailEnd type="triangle"/>
          </a:ln>
        </p:spPr>
      </p:sp>
      <p:sp>
        <p:nvSpPr>
          <p:cNvPr id="19" name="Text 17"/>
          <p:cNvSpPr txBox="1"/>
          <p:nvPr/>
        </p:nvSpPr>
        <p:spPr>
          <a:xfrm>
            <a:off x="3703320" y="4654296"/>
            <a:ext cx="1371600" cy="256032"/>
          </a:xfrm>
          <a:prstGeom prst="rect">
            <a:avLst/>
          </a:prstGeom>
          <a:noFill/>
          <a:ln/>
        </p:spPr>
        <p:txBody>
          <a:bodyPr wrap="square" lIns="0" tIns="0" rIns="0" bIns="0" rtlCol="0" anchor="ctr"/>
          <a:lstStyle/>
          <a:p>
            <a:pPr marL="0" indent="0" algn="ctr">
              <a:buNone/>
            </a:pPr>
            <a:r>
              <a:rPr lang="en-US" sz="950" dirty="0">
                <a:solidFill>
                  <a:srgbClr val="6B7684"/>
                </a:solidFill>
                <a:latin typeface="Calibri" pitchFamily="34" charset="0"/>
                <a:ea typeface="Calibri" pitchFamily="34" charset="-122"/>
                <a:cs typeface="Calibri" pitchFamily="34" charset="-120"/>
              </a:rPr>
              <a:t>VENDOR_ID  1 : N</a:t>
            </a:r>
            <a:endParaRPr lang="en-US" sz="950" dirty="0"/>
          </a:p>
        </p:txBody>
      </p:sp>
      <p:sp>
        <p:nvSpPr>
          <p:cNvPr id="20" name="Shape 18"/>
          <p:cNvSpPr/>
          <p:nvPr/>
        </p:nvSpPr>
        <p:spPr>
          <a:xfrm>
            <a:off x="9601200" y="1371600"/>
            <a:ext cx="2103120" cy="4297680"/>
          </a:xfrm>
          <a:prstGeom prst="roundRect">
            <a:avLst>
              <a:gd name="adj" fmla="val 3478"/>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1" name="Text 19"/>
          <p:cNvSpPr txBox="1"/>
          <p:nvPr/>
        </p:nvSpPr>
        <p:spPr>
          <a:xfrm>
            <a:off x="9802368" y="1572768"/>
            <a:ext cx="1737360" cy="274320"/>
          </a:xfrm>
          <a:prstGeom prst="rect">
            <a:avLst/>
          </a:prstGeom>
          <a:noFill/>
          <a:ln/>
        </p:spPr>
        <p:txBody>
          <a:bodyPr wrap="square" lIns="0" tIns="0" rIns="0" bIns="0" rtlCol="0" anchor="ctr"/>
          <a:lstStyle/>
          <a:p>
            <a:pPr marL="0" indent="0">
              <a:buNone/>
            </a:pPr>
            <a:r>
              <a:rPr lang="en-US" sz="1300" b="1" dirty="0">
                <a:solidFill>
                  <a:srgbClr val="17365D"/>
                </a:solidFill>
                <a:latin typeface="Cambria" pitchFamily="34" charset="0"/>
                <a:ea typeface="Cambria" pitchFamily="34" charset="-122"/>
                <a:cs typeface="Cambria" pitchFamily="34" charset="-120"/>
              </a:rPr>
              <a:t>Model Notes</a:t>
            </a:r>
            <a:endParaRPr lang="en-US" sz="1300" dirty="0"/>
          </a:p>
        </p:txBody>
      </p:sp>
      <p:sp>
        <p:nvSpPr>
          <p:cNvPr id="22" name="Text 20"/>
          <p:cNvSpPr txBox="1"/>
          <p:nvPr/>
        </p:nvSpPr>
        <p:spPr>
          <a:xfrm>
            <a:off x="9820656" y="1938528"/>
            <a:ext cx="1737360" cy="356616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050" dirty="0">
                <a:solidFill>
                  <a:srgbClr val="2B3440"/>
                </a:solidFill>
                <a:latin typeface="Calibri" pitchFamily="34" charset="0"/>
                <a:ea typeface="Calibri" pitchFamily="34" charset="-122"/>
                <a:cs typeface="Calibri" pitchFamily="34" charset="-120"/>
              </a:rPr>
              <a:t>Insurance is the central claims-level fact table.</a:t>
            </a:r>
            <a:endParaRPr lang="en-US" sz="1050" dirty="0"/>
          </a:p>
          <a:p>
            <a:pPr marL="342900" indent="-342900">
              <a:lnSpc>
                <a:spcPts val="1600"/>
              </a:lnSpc>
              <a:spcAft>
                <a:spcPts val="600"/>
              </a:spcAft>
              <a:buSzPct val="100000"/>
              <a:buChar char="•"/>
            </a:pPr>
            <a:r>
              <a:rPr lang="en-US" sz="1050" dirty="0">
                <a:solidFill>
                  <a:srgbClr val="2B3440"/>
                </a:solidFill>
                <a:latin typeface="Calibri" pitchFamily="34" charset="0"/>
                <a:ea typeface="Calibri" pitchFamily="34" charset="-122"/>
                <a:cs typeface="Calibri" pitchFamily="34" charset="-120"/>
              </a:rPr>
              <a:t>Employee and Vendor provide reference information.</a:t>
            </a:r>
            <a:endParaRPr lang="en-US" sz="1050" dirty="0"/>
          </a:p>
          <a:p>
            <a:pPr marL="342900" indent="-342900">
              <a:lnSpc>
                <a:spcPts val="1600"/>
              </a:lnSpc>
              <a:spcAft>
                <a:spcPts val="600"/>
              </a:spcAft>
              <a:buSzPct val="100000"/>
              <a:buChar char="•"/>
            </a:pPr>
            <a:r>
              <a:rPr lang="en-US" sz="1050" dirty="0">
                <a:solidFill>
                  <a:srgbClr val="2B3440"/>
                </a:solidFill>
                <a:latin typeface="Calibri" pitchFamily="34" charset="0"/>
                <a:ea typeface="Calibri" pitchFamily="34" charset="-122"/>
                <a:cs typeface="Calibri" pitchFamily="34" charset="-120"/>
              </a:rPr>
              <a:t>Joins on AGENT_ID and VENDOR_ID.</a:t>
            </a:r>
            <a:endParaRPr lang="en-US" sz="1050" dirty="0"/>
          </a:p>
          <a:p>
            <a:pPr marL="342900" indent="-342900">
              <a:lnSpc>
                <a:spcPts val="1600"/>
              </a:lnSpc>
              <a:spcAft>
                <a:spcPts val="600"/>
              </a:spcAft>
              <a:buSzPct val="100000"/>
              <a:buChar char="•"/>
            </a:pPr>
            <a:r>
              <a:rPr lang="en-US" sz="1050" dirty="0">
                <a:solidFill>
                  <a:srgbClr val="2B3440"/>
                </a:solidFill>
                <a:latin typeface="Calibri" pitchFamily="34" charset="0"/>
                <a:ea typeface="Calibri" pitchFamily="34" charset="-122"/>
                <a:cs typeface="Calibri" pitchFamily="34" charset="-120"/>
              </a:rPr>
              <a:t>VENDOR_ID is nullable — 32.45% of claims have no vendor.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Technology Stack</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07</a:t>
            </a:r>
            <a:endParaRPr lang="en-US" sz="1000" dirty="0"/>
          </a:p>
        </p:txBody>
      </p:sp>
      <p:sp>
        <p:nvSpPr>
          <p:cNvPr id="4" name="Shape 2"/>
          <p:cNvSpPr/>
          <p:nvPr/>
        </p:nvSpPr>
        <p:spPr>
          <a:xfrm>
            <a:off x="502920" y="1188720"/>
            <a:ext cx="3611880" cy="2240280"/>
          </a:xfrm>
          <a:prstGeom prst="roundRect">
            <a:avLst>
              <a:gd name="adj" fmla="val 326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Text 3"/>
          <p:cNvSpPr txBox="1"/>
          <p:nvPr/>
        </p:nvSpPr>
        <p:spPr>
          <a:xfrm>
            <a:off x="758952" y="1371600"/>
            <a:ext cx="3099816" cy="237744"/>
          </a:xfrm>
          <a:prstGeom prst="rect">
            <a:avLst/>
          </a:prstGeom>
          <a:noFill/>
          <a:ln/>
        </p:spPr>
        <p:txBody>
          <a:bodyPr wrap="square" lIns="0" tIns="0" rIns="0" bIns="0" rtlCol="0" anchor="ctr"/>
          <a:lstStyle/>
          <a:p>
            <a:pPr marL="0" indent="0">
              <a:buNone/>
            </a:pPr>
            <a:r>
              <a:rPr lang="en-US" sz="950" b="1" kern="0" spc="120" dirty="0">
                <a:solidFill>
                  <a:srgbClr val="008C95"/>
                </a:solidFill>
                <a:latin typeface="Calibri" pitchFamily="34" charset="0"/>
                <a:ea typeface="Calibri" pitchFamily="34" charset="-122"/>
                <a:cs typeface="Calibri" pitchFamily="34" charset="-120"/>
              </a:rPr>
              <a:t>DATA PROFILING</a:t>
            </a:r>
            <a:endParaRPr lang="en-US" sz="950" dirty="0"/>
          </a:p>
        </p:txBody>
      </p:sp>
      <p:sp>
        <p:nvSpPr>
          <p:cNvPr id="6" name="Text 4"/>
          <p:cNvSpPr txBox="1"/>
          <p:nvPr/>
        </p:nvSpPr>
        <p:spPr>
          <a:xfrm>
            <a:off x="758952" y="1627632"/>
            <a:ext cx="3099816" cy="329184"/>
          </a:xfrm>
          <a:prstGeom prst="rect">
            <a:avLst/>
          </a:prstGeom>
          <a:noFill/>
          <a:ln/>
        </p:spPr>
        <p:txBody>
          <a:bodyPr wrap="square" lIns="0" tIns="0" rIns="0" bIns="0" rtlCol="0" anchor="ctr"/>
          <a:lstStyle/>
          <a:p>
            <a:pPr marL="0" indent="0">
              <a:buNone/>
            </a:pPr>
            <a:r>
              <a:rPr lang="en-US" sz="1700" b="1" dirty="0">
                <a:solidFill>
                  <a:srgbClr val="17365D"/>
                </a:solidFill>
                <a:latin typeface="Cambria" pitchFamily="34" charset="0"/>
                <a:ea typeface="Cambria" pitchFamily="34" charset="-122"/>
                <a:cs typeface="Cambria" pitchFamily="34" charset="-120"/>
              </a:rPr>
              <a:t>Microsoft Excel</a:t>
            </a:r>
            <a:endParaRPr lang="en-US" sz="1700" dirty="0"/>
          </a:p>
        </p:txBody>
      </p:sp>
      <p:sp>
        <p:nvSpPr>
          <p:cNvPr id="7" name="Text 5"/>
          <p:cNvSpPr txBox="1"/>
          <p:nvPr/>
        </p:nvSpPr>
        <p:spPr>
          <a:xfrm>
            <a:off x="777240" y="2048256"/>
            <a:ext cx="3063240" cy="123444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Data profiling</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Missing-value analysis</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Duplicate checks</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Data quality assessment</a:t>
            </a:r>
            <a:endParaRPr lang="en-US" sz="1100" dirty="0"/>
          </a:p>
        </p:txBody>
      </p:sp>
      <p:sp>
        <p:nvSpPr>
          <p:cNvPr id="8" name="Shape 6"/>
          <p:cNvSpPr/>
          <p:nvPr/>
        </p:nvSpPr>
        <p:spPr>
          <a:xfrm>
            <a:off x="4334256" y="1188720"/>
            <a:ext cx="3611880" cy="2240280"/>
          </a:xfrm>
          <a:prstGeom prst="roundRect">
            <a:avLst>
              <a:gd name="adj" fmla="val 326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9" name="Text 7"/>
          <p:cNvSpPr txBox="1"/>
          <p:nvPr/>
        </p:nvSpPr>
        <p:spPr>
          <a:xfrm>
            <a:off x="4590288" y="1371600"/>
            <a:ext cx="3099816" cy="237744"/>
          </a:xfrm>
          <a:prstGeom prst="rect">
            <a:avLst/>
          </a:prstGeom>
          <a:noFill/>
          <a:ln/>
        </p:spPr>
        <p:txBody>
          <a:bodyPr wrap="square" lIns="0" tIns="0" rIns="0" bIns="0" rtlCol="0" anchor="ctr"/>
          <a:lstStyle/>
          <a:p>
            <a:pPr marL="0" indent="0">
              <a:buNone/>
            </a:pPr>
            <a:r>
              <a:rPr lang="en-US" sz="950" b="1" kern="0" spc="120" dirty="0">
                <a:solidFill>
                  <a:srgbClr val="008C95"/>
                </a:solidFill>
                <a:latin typeface="Calibri" pitchFamily="34" charset="0"/>
                <a:ea typeface="Calibri" pitchFamily="34" charset="-122"/>
                <a:cs typeface="Calibri" pitchFamily="34" charset="-120"/>
              </a:rPr>
              <a:t>DATA WAREHOUSE</a:t>
            </a:r>
            <a:endParaRPr lang="en-US" sz="950" dirty="0"/>
          </a:p>
        </p:txBody>
      </p:sp>
      <p:sp>
        <p:nvSpPr>
          <p:cNvPr id="10" name="Text 8"/>
          <p:cNvSpPr txBox="1"/>
          <p:nvPr/>
        </p:nvSpPr>
        <p:spPr>
          <a:xfrm>
            <a:off x="4590288" y="1627632"/>
            <a:ext cx="3099816" cy="329184"/>
          </a:xfrm>
          <a:prstGeom prst="rect">
            <a:avLst/>
          </a:prstGeom>
          <a:noFill/>
          <a:ln/>
        </p:spPr>
        <p:txBody>
          <a:bodyPr wrap="square" lIns="0" tIns="0" rIns="0" bIns="0" rtlCol="0" anchor="ctr"/>
          <a:lstStyle/>
          <a:p>
            <a:pPr marL="0" indent="0">
              <a:buNone/>
            </a:pPr>
            <a:r>
              <a:rPr lang="en-US" sz="1700" b="1" dirty="0">
                <a:solidFill>
                  <a:srgbClr val="17365D"/>
                </a:solidFill>
                <a:latin typeface="Cambria" pitchFamily="34" charset="0"/>
                <a:ea typeface="Cambria" pitchFamily="34" charset="-122"/>
                <a:cs typeface="Cambria" pitchFamily="34" charset="-120"/>
              </a:rPr>
              <a:t>SQL / Snowflake</a:t>
            </a:r>
            <a:endParaRPr lang="en-US" sz="1700" dirty="0"/>
          </a:p>
        </p:txBody>
      </p:sp>
      <p:sp>
        <p:nvSpPr>
          <p:cNvPr id="11" name="Text 9"/>
          <p:cNvSpPr txBox="1"/>
          <p:nvPr/>
        </p:nvSpPr>
        <p:spPr>
          <a:xfrm>
            <a:off x="4608576" y="2048256"/>
            <a:ext cx="3063240" cy="123444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Data storage</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SQL cleaning</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Data transformation</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Analytical views</a:t>
            </a:r>
            <a:endParaRPr lang="en-US" sz="1100" dirty="0"/>
          </a:p>
        </p:txBody>
      </p:sp>
      <p:sp>
        <p:nvSpPr>
          <p:cNvPr id="12" name="Shape 10"/>
          <p:cNvSpPr/>
          <p:nvPr/>
        </p:nvSpPr>
        <p:spPr>
          <a:xfrm>
            <a:off x="8165592" y="1188720"/>
            <a:ext cx="3611880" cy="2240280"/>
          </a:xfrm>
          <a:prstGeom prst="roundRect">
            <a:avLst>
              <a:gd name="adj" fmla="val 326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3" name="Text 11"/>
          <p:cNvSpPr txBox="1"/>
          <p:nvPr/>
        </p:nvSpPr>
        <p:spPr>
          <a:xfrm>
            <a:off x="8421624" y="1371600"/>
            <a:ext cx="3099816" cy="237744"/>
          </a:xfrm>
          <a:prstGeom prst="rect">
            <a:avLst/>
          </a:prstGeom>
          <a:noFill/>
          <a:ln/>
        </p:spPr>
        <p:txBody>
          <a:bodyPr wrap="square" lIns="0" tIns="0" rIns="0" bIns="0" rtlCol="0" anchor="ctr"/>
          <a:lstStyle/>
          <a:p>
            <a:pPr marL="0" indent="0">
              <a:buNone/>
            </a:pPr>
            <a:r>
              <a:rPr lang="en-US" sz="950" b="1" kern="0" spc="120" dirty="0">
                <a:solidFill>
                  <a:srgbClr val="008C95"/>
                </a:solidFill>
                <a:latin typeface="Calibri" pitchFamily="34" charset="0"/>
                <a:ea typeface="Calibri" pitchFamily="34" charset="-122"/>
                <a:cs typeface="Calibri" pitchFamily="34" charset="-120"/>
              </a:rPr>
              <a:t>DATA ANALYSIS</a:t>
            </a:r>
            <a:endParaRPr lang="en-US" sz="950" dirty="0"/>
          </a:p>
        </p:txBody>
      </p:sp>
      <p:sp>
        <p:nvSpPr>
          <p:cNvPr id="14" name="Text 12"/>
          <p:cNvSpPr txBox="1"/>
          <p:nvPr/>
        </p:nvSpPr>
        <p:spPr>
          <a:xfrm>
            <a:off x="8421624" y="1627632"/>
            <a:ext cx="3099816" cy="329184"/>
          </a:xfrm>
          <a:prstGeom prst="rect">
            <a:avLst/>
          </a:prstGeom>
          <a:noFill/>
          <a:ln/>
        </p:spPr>
        <p:txBody>
          <a:bodyPr wrap="square" lIns="0" tIns="0" rIns="0" bIns="0" rtlCol="0" anchor="ctr"/>
          <a:lstStyle/>
          <a:p>
            <a:pPr marL="0" indent="0">
              <a:buNone/>
            </a:pPr>
            <a:r>
              <a:rPr lang="en-US" sz="1700" b="1" dirty="0">
                <a:solidFill>
                  <a:srgbClr val="17365D"/>
                </a:solidFill>
                <a:latin typeface="Cambria" pitchFamily="34" charset="0"/>
                <a:ea typeface="Cambria" pitchFamily="34" charset="-122"/>
                <a:cs typeface="Cambria" pitchFamily="34" charset="-120"/>
              </a:rPr>
              <a:t>Python / Databricks</a:t>
            </a:r>
            <a:endParaRPr lang="en-US" sz="1700" dirty="0"/>
          </a:p>
        </p:txBody>
      </p:sp>
      <p:sp>
        <p:nvSpPr>
          <p:cNvPr id="15" name="Text 13"/>
          <p:cNvSpPr txBox="1"/>
          <p:nvPr/>
        </p:nvSpPr>
        <p:spPr>
          <a:xfrm>
            <a:off x="8439912" y="2048256"/>
            <a:ext cx="3063240" cy="123444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Pandas · NumPy</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Matplotlib · Seaborn</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Exploratory analysis</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Diagnostic analysis</a:t>
            </a:r>
            <a:endParaRPr lang="en-US" sz="1100" dirty="0"/>
          </a:p>
        </p:txBody>
      </p:sp>
      <p:sp>
        <p:nvSpPr>
          <p:cNvPr id="16" name="Shape 14"/>
          <p:cNvSpPr/>
          <p:nvPr/>
        </p:nvSpPr>
        <p:spPr>
          <a:xfrm>
            <a:off x="502920" y="3703320"/>
            <a:ext cx="3611880" cy="2240280"/>
          </a:xfrm>
          <a:prstGeom prst="roundRect">
            <a:avLst>
              <a:gd name="adj" fmla="val 326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7" name="Text 15"/>
          <p:cNvSpPr txBox="1"/>
          <p:nvPr/>
        </p:nvSpPr>
        <p:spPr>
          <a:xfrm>
            <a:off x="758952" y="3886200"/>
            <a:ext cx="3099816" cy="237744"/>
          </a:xfrm>
          <a:prstGeom prst="rect">
            <a:avLst/>
          </a:prstGeom>
          <a:noFill/>
          <a:ln/>
        </p:spPr>
        <p:txBody>
          <a:bodyPr wrap="square" lIns="0" tIns="0" rIns="0" bIns="0" rtlCol="0" anchor="ctr"/>
          <a:lstStyle/>
          <a:p>
            <a:pPr marL="0" indent="0">
              <a:buNone/>
            </a:pPr>
            <a:r>
              <a:rPr lang="en-US" sz="950" b="1" kern="0" spc="120" dirty="0">
                <a:solidFill>
                  <a:srgbClr val="008C95"/>
                </a:solidFill>
                <a:latin typeface="Calibri" pitchFamily="34" charset="0"/>
                <a:ea typeface="Calibri" pitchFamily="34" charset="-122"/>
                <a:cs typeface="Calibri" pitchFamily="34" charset="-120"/>
              </a:rPr>
              <a:t>BUSINESS INTELLIGENCE</a:t>
            </a:r>
            <a:endParaRPr lang="en-US" sz="950" dirty="0"/>
          </a:p>
        </p:txBody>
      </p:sp>
      <p:sp>
        <p:nvSpPr>
          <p:cNvPr id="18" name="Text 16"/>
          <p:cNvSpPr txBox="1"/>
          <p:nvPr/>
        </p:nvSpPr>
        <p:spPr>
          <a:xfrm>
            <a:off x="758952" y="4142232"/>
            <a:ext cx="3099816" cy="329184"/>
          </a:xfrm>
          <a:prstGeom prst="rect">
            <a:avLst/>
          </a:prstGeom>
          <a:noFill/>
          <a:ln/>
        </p:spPr>
        <p:txBody>
          <a:bodyPr wrap="square" lIns="0" tIns="0" rIns="0" bIns="0" rtlCol="0" anchor="ctr"/>
          <a:lstStyle/>
          <a:p>
            <a:pPr marL="0" indent="0">
              <a:buNone/>
            </a:pPr>
            <a:r>
              <a:rPr lang="en-US" sz="1700" b="1" dirty="0">
                <a:solidFill>
                  <a:srgbClr val="17365D"/>
                </a:solidFill>
                <a:latin typeface="Cambria" pitchFamily="34" charset="0"/>
                <a:ea typeface="Cambria" pitchFamily="34" charset="-122"/>
                <a:cs typeface="Cambria" pitchFamily="34" charset="-120"/>
              </a:rPr>
              <a:t>Power BI</a:t>
            </a:r>
            <a:endParaRPr lang="en-US" sz="1700" dirty="0"/>
          </a:p>
        </p:txBody>
      </p:sp>
      <p:sp>
        <p:nvSpPr>
          <p:cNvPr id="19" name="Text 17"/>
          <p:cNvSpPr txBox="1"/>
          <p:nvPr/>
        </p:nvSpPr>
        <p:spPr>
          <a:xfrm>
            <a:off x="777240" y="4562856"/>
            <a:ext cx="3063240" cy="123444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KPI reporting</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Interactive dashboards</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Slicers</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Business visualizations</a:t>
            </a:r>
            <a:endParaRPr lang="en-US" sz="1100" dirty="0"/>
          </a:p>
        </p:txBody>
      </p:sp>
      <p:sp>
        <p:nvSpPr>
          <p:cNvPr id="20" name="Shape 18"/>
          <p:cNvSpPr/>
          <p:nvPr/>
        </p:nvSpPr>
        <p:spPr>
          <a:xfrm>
            <a:off x="4334256" y="3703320"/>
            <a:ext cx="3611880" cy="2240280"/>
          </a:xfrm>
          <a:prstGeom prst="roundRect">
            <a:avLst>
              <a:gd name="adj" fmla="val 326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1" name="Text 19"/>
          <p:cNvSpPr txBox="1"/>
          <p:nvPr/>
        </p:nvSpPr>
        <p:spPr>
          <a:xfrm>
            <a:off x="4590288" y="3886200"/>
            <a:ext cx="3099816" cy="237744"/>
          </a:xfrm>
          <a:prstGeom prst="rect">
            <a:avLst/>
          </a:prstGeom>
          <a:noFill/>
          <a:ln/>
        </p:spPr>
        <p:txBody>
          <a:bodyPr wrap="square" lIns="0" tIns="0" rIns="0" bIns="0" rtlCol="0" anchor="ctr"/>
          <a:lstStyle/>
          <a:p>
            <a:pPr marL="0" indent="0">
              <a:buNone/>
            </a:pPr>
            <a:r>
              <a:rPr lang="en-US" sz="950" b="1" kern="0" spc="120" dirty="0">
                <a:solidFill>
                  <a:srgbClr val="008C95"/>
                </a:solidFill>
                <a:latin typeface="Calibri" pitchFamily="34" charset="0"/>
                <a:ea typeface="Calibri" pitchFamily="34" charset="-122"/>
                <a:cs typeface="Calibri" pitchFamily="34" charset="-120"/>
              </a:rPr>
              <a:t>APPLICATION</a:t>
            </a:r>
            <a:endParaRPr lang="en-US" sz="950" dirty="0"/>
          </a:p>
        </p:txBody>
      </p:sp>
      <p:sp>
        <p:nvSpPr>
          <p:cNvPr id="22" name="Text 20"/>
          <p:cNvSpPr txBox="1"/>
          <p:nvPr/>
        </p:nvSpPr>
        <p:spPr>
          <a:xfrm>
            <a:off x="4590288" y="4142232"/>
            <a:ext cx="3099816" cy="329184"/>
          </a:xfrm>
          <a:prstGeom prst="rect">
            <a:avLst/>
          </a:prstGeom>
          <a:noFill/>
          <a:ln/>
        </p:spPr>
        <p:txBody>
          <a:bodyPr wrap="square" lIns="0" tIns="0" rIns="0" bIns="0" rtlCol="0" anchor="ctr"/>
          <a:lstStyle/>
          <a:p>
            <a:pPr marL="0" indent="0">
              <a:buNone/>
            </a:pPr>
            <a:r>
              <a:rPr lang="en-US" sz="1700" b="1" dirty="0">
                <a:solidFill>
                  <a:srgbClr val="17365D"/>
                </a:solidFill>
                <a:latin typeface="Cambria" pitchFamily="34" charset="0"/>
                <a:ea typeface="Cambria" pitchFamily="34" charset="-122"/>
                <a:cs typeface="Cambria" pitchFamily="34" charset="-120"/>
              </a:rPr>
              <a:t>Streamlit</a:t>
            </a:r>
            <a:endParaRPr lang="en-US" sz="1700" dirty="0"/>
          </a:p>
        </p:txBody>
      </p:sp>
      <p:sp>
        <p:nvSpPr>
          <p:cNvPr id="23" name="Text 21"/>
          <p:cNvSpPr txBox="1"/>
          <p:nvPr/>
        </p:nvSpPr>
        <p:spPr>
          <a:xfrm>
            <a:off x="4608576" y="4562856"/>
            <a:ext cx="3063240" cy="123444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Interactive Python app</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Filters &amp; dynamic KPIs</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Analytics pages</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ML prediction interface</a:t>
            </a:r>
            <a:endParaRPr lang="en-US" sz="1100" dirty="0"/>
          </a:p>
        </p:txBody>
      </p:sp>
      <p:sp>
        <p:nvSpPr>
          <p:cNvPr id="24" name="Shape 22"/>
          <p:cNvSpPr/>
          <p:nvPr/>
        </p:nvSpPr>
        <p:spPr>
          <a:xfrm>
            <a:off x="8165592" y="3703320"/>
            <a:ext cx="3611880" cy="2240280"/>
          </a:xfrm>
          <a:prstGeom prst="roundRect">
            <a:avLst>
              <a:gd name="adj" fmla="val 326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5" name="Text 23"/>
          <p:cNvSpPr txBox="1"/>
          <p:nvPr/>
        </p:nvSpPr>
        <p:spPr>
          <a:xfrm>
            <a:off x="8421624" y="3886200"/>
            <a:ext cx="3099816" cy="237744"/>
          </a:xfrm>
          <a:prstGeom prst="rect">
            <a:avLst/>
          </a:prstGeom>
          <a:noFill/>
          <a:ln/>
        </p:spPr>
        <p:txBody>
          <a:bodyPr wrap="square" lIns="0" tIns="0" rIns="0" bIns="0" rtlCol="0" anchor="ctr"/>
          <a:lstStyle/>
          <a:p>
            <a:pPr marL="0" indent="0">
              <a:buNone/>
            </a:pPr>
            <a:r>
              <a:rPr lang="en-US" sz="950" b="1" kern="0" spc="120" dirty="0">
                <a:solidFill>
                  <a:srgbClr val="008C95"/>
                </a:solidFill>
                <a:latin typeface="Calibri" pitchFamily="34" charset="0"/>
                <a:ea typeface="Calibri" pitchFamily="34" charset="-122"/>
                <a:cs typeface="Calibri" pitchFamily="34" charset="-120"/>
              </a:rPr>
              <a:t>MACHINE LEARNING</a:t>
            </a:r>
            <a:endParaRPr lang="en-US" sz="950" dirty="0"/>
          </a:p>
        </p:txBody>
      </p:sp>
      <p:sp>
        <p:nvSpPr>
          <p:cNvPr id="26" name="Text 24"/>
          <p:cNvSpPr txBox="1"/>
          <p:nvPr/>
        </p:nvSpPr>
        <p:spPr>
          <a:xfrm>
            <a:off x="8421624" y="4142232"/>
            <a:ext cx="3099816" cy="329184"/>
          </a:xfrm>
          <a:prstGeom prst="rect">
            <a:avLst/>
          </a:prstGeom>
          <a:noFill/>
          <a:ln/>
        </p:spPr>
        <p:txBody>
          <a:bodyPr wrap="square" lIns="0" tIns="0" rIns="0" bIns="0" rtlCol="0" anchor="ctr"/>
          <a:lstStyle/>
          <a:p>
            <a:pPr marL="0" indent="0">
              <a:buNone/>
            </a:pPr>
            <a:r>
              <a:rPr lang="en-US" sz="1700" b="1" dirty="0">
                <a:solidFill>
                  <a:srgbClr val="17365D"/>
                </a:solidFill>
                <a:latin typeface="Cambria" pitchFamily="34" charset="0"/>
                <a:ea typeface="Cambria" pitchFamily="34" charset="-122"/>
                <a:cs typeface="Cambria" pitchFamily="34" charset="-120"/>
              </a:rPr>
              <a:t>Scikit-learn</a:t>
            </a:r>
            <a:endParaRPr lang="en-US" sz="1700" dirty="0"/>
          </a:p>
        </p:txBody>
      </p:sp>
      <p:sp>
        <p:nvSpPr>
          <p:cNvPr id="27" name="Text 25"/>
          <p:cNvSpPr txBox="1"/>
          <p:nvPr/>
        </p:nvSpPr>
        <p:spPr>
          <a:xfrm>
            <a:off x="8439912" y="4562856"/>
            <a:ext cx="3063240" cy="123444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Linear Regression</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Random Forest</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MAE · RMSE · R²</a:t>
            </a:r>
            <a:endParaRPr lang="en-US" sz="1100" dirty="0"/>
          </a:p>
          <a:p>
            <a:pPr marL="342900" indent="-342900">
              <a:lnSpc>
                <a:spcPts val="1600"/>
              </a:lnSpc>
              <a:spcAft>
                <a:spcPts val="600"/>
              </a:spcAft>
              <a:buSzPct val="100000"/>
              <a:buChar char="•"/>
            </a:pPr>
            <a:r>
              <a:rPr lang="en-US" sz="1100" dirty="0">
                <a:solidFill>
                  <a:srgbClr val="2B3440"/>
                </a:solidFill>
                <a:latin typeface="Calibri" pitchFamily="34" charset="0"/>
                <a:ea typeface="Calibri" pitchFamily="34" charset="-122"/>
                <a:cs typeface="Calibri" pitchFamily="34" charset="-120"/>
              </a:rPr>
              <a:t>Model evaluation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End-to-End Project Architecture</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08</a:t>
            </a:r>
            <a:endParaRPr lang="en-US" sz="1000" dirty="0"/>
          </a:p>
        </p:txBody>
      </p:sp>
      <p:sp>
        <p:nvSpPr>
          <p:cNvPr id="4" name="Shape 2"/>
          <p:cNvSpPr/>
          <p:nvPr/>
        </p:nvSpPr>
        <p:spPr>
          <a:xfrm>
            <a:off x="502920" y="1234440"/>
            <a:ext cx="2057400" cy="777240"/>
          </a:xfrm>
          <a:prstGeom prst="roundRect">
            <a:avLst>
              <a:gd name="adj" fmla="val 8235"/>
            </a:avLst>
          </a:prstGeom>
          <a:solidFill>
            <a:srgbClr val="FFFFFF"/>
          </a:solidFill>
          <a:ln w="17780">
            <a:solidFill>
              <a:srgbClr val="2F75B5"/>
            </a:solidFill>
            <a:prstDash val="solid"/>
          </a:ln>
          <a:effectLst>
            <a:outerShdw blurRad="101600" dist="25400" dir="5400000" algn="bl" rotWithShape="0">
              <a:srgbClr val="9AA8B8">
                <a:alpha val="32000"/>
              </a:srgbClr>
            </a:outerShdw>
          </a:effectLst>
        </p:spPr>
      </p:sp>
      <p:sp>
        <p:nvSpPr>
          <p:cNvPr id="5" name="Text 3"/>
          <p:cNvSpPr txBox="1"/>
          <p:nvPr/>
        </p:nvSpPr>
        <p:spPr>
          <a:xfrm>
            <a:off x="630936" y="1344168"/>
            <a:ext cx="1801368" cy="274320"/>
          </a:xfrm>
          <a:prstGeom prst="rect">
            <a:avLst/>
          </a:prstGeom>
          <a:noFill/>
          <a:ln/>
        </p:spPr>
        <p:txBody>
          <a:bodyPr wrap="square" lIns="0" tIns="0" rIns="0" bIns="0" rtlCol="0" anchor="ctr"/>
          <a:lstStyle/>
          <a:p>
            <a:pPr marL="0" indent="0" algn="ctr">
              <a:buNone/>
            </a:pPr>
            <a:r>
              <a:rPr lang="en-US" sz="1150" b="1" dirty="0">
                <a:solidFill>
                  <a:srgbClr val="2F75B5"/>
                </a:solidFill>
                <a:latin typeface="Calibri" pitchFamily="34" charset="0"/>
                <a:ea typeface="Calibri" pitchFamily="34" charset="-122"/>
                <a:cs typeface="Calibri" pitchFamily="34" charset="-120"/>
              </a:rPr>
              <a:t>RAW CSV FILES</a:t>
            </a:r>
            <a:endParaRPr lang="en-US" sz="1150" dirty="0"/>
          </a:p>
        </p:txBody>
      </p:sp>
      <p:sp>
        <p:nvSpPr>
          <p:cNvPr id="6" name="Shape 4"/>
          <p:cNvSpPr/>
          <p:nvPr/>
        </p:nvSpPr>
        <p:spPr>
          <a:xfrm>
            <a:off x="2578608" y="1627632"/>
            <a:ext cx="201168" cy="0"/>
          </a:xfrm>
          <a:prstGeom prst="line">
            <a:avLst/>
          </a:prstGeom>
          <a:noFill/>
          <a:ln w="22225">
            <a:solidFill>
              <a:srgbClr val="2F75B5"/>
            </a:solidFill>
            <a:prstDash val="solid"/>
            <a:tailEnd type="triangle"/>
          </a:ln>
        </p:spPr>
      </p:sp>
      <p:sp>
        <p:nvSpPr>
          <p:cNvPr id="7" name="Shape 5"/>
          <p:cNvSpPr/>
          <p:nvPr/>
        </p:nvSpPr>
        <p:spPr>
          <a:xfrm>
            <a:off x="2798064" y="1234440"/>
            <a:ext cx="2057400" cy="777240"/>
          </a:xfrm>
          <a:prstGeom prst="roundRect">
            <a:avLst>
              <a:gd name="adj" fmla="val 8235"/>
            </a:avLst>
          </a:prstGeom>
          <a:solidFill>
            <a:srgbClr val="FFFFFF"/>
          </a:solidFill>
          <a:ln w="17780">
            <a:solidFill>
              <a:srgbClr val="2F75B5"/>
            </a:solidFill>
            <a:prstDash val="solid"/>
          </a:ln>
          <a:effectLst>
            <a:outerShdw blurRad="101600" dist="25400" dir="5400000" algn="bl" rotWithShape="0">
              <a:srgbClr val="9AA8B8">
                <a:alpha val="32000"/>
              </a:srgbClr>
            </a:outerShdw>
          </a:effectLst>
        </p:spPr>
      </p:sp>
      <p:sp>
        <p:nvSpPr>
          <p:cNvPr id="8" name="Text 6"/>
          <p:cNvSpPr txBox="1"/>
          <p:nvPr/>
        </p:nvSpPr>
        <p:spPr>
          <a:xfrm>
            <a:off x="2926080" y="1344168"/>
            <a:ext cx="1801368" cy="274320"/>
          </a:xfrm>
          <a:prstGeom prst="rect">
            <a:avLst/>
          </a:prstGeom>
          <a:noFill/>
          <a:ln/>
        </p:spPr>
        <p:txBody>
          <a:bodyPr wrap="square" lIns="0" tIns="0" rIns="0" bIns="0" rtlCol="0" anchor="ctr"/>
          <a:lstStyle/>
          <a:p>
            <a:pPr marL="0" indent="0" algn="ctr">
              <a:buNone/>
            </a:pPr>
            <a:r>
              <a:rPr lang="en-US" sz="1150" b="1" dirty="0">
                <a:solidFill>
                  <a:srgbClr val="2F75B5"/>
                </a:solidFill>
                <a:latin typeface="Calibri" pitchFamily="34" charset="0"/>
                <a:ea typeface="Calibri" pitchFamily="34" charset="-122"/>
                <a:cs typeface="Calibri" pitchFamily="34" charset="-120"/>
              </a:rPr>
              <a:t>EXCEL PROFILING</a:t>
            </a:r>
            <a:endParaRPr lang="en-US" sz="1150" dirty="0"/>
          </a:p>
        </p:txBody>
      </p:sp>
      <p:sp>
        <p:nvSpPr>
          <p:cNvPr id="9" name="Shape 7"/>
          <p:cNvSpPr/>
          <p:nvPr/>
        </p:nvSpPr>
        <p:spPr>
          <a:xfrm>
            <a:off x="4873752" y="1627632"/>
            <a:ext cx="201168" cy="0"/>
          </a:xfrm>
          <a:prstGeom prst="line">
            <a:avLst/>
          </a:prstGeom>
          <a:noFill/>
          <a:ln w="22225">
            <a:solidFill>
              <a:srgbClr val="2F75B5"/>
            </a:solidFill>
            <a:prstDash val="solid"/>
            <a:tailEnd type="triangle"/>
          </a:ln>
        </p:spPr>
      </p:sp>
      <p:sp>
        <p:nvSpPr>
          <p:cNvPr id="10" name="Shape 8"/>
          <p:cNvSpPr/>
          <p:nvPr/>
        </p:nvSpPr>
        <p:spPr>
          <a:xfrm>
            <a:off x="5093208" y="1234440"/>
            <a:ext cx="2057400" cy="777240"/>
          </a:xfrm>
          <a:prstGeom prst="roundRect">
            <a:avLst>
              <a:gd name="adj" fmla="val 8235"/>
            </a:avLst>
          </a:prstGeom>
          <a:solidFill>
            <a:srgbClr val="FFFFFF"/>
          </a:solidFill>
          <a:ln w="17780">
            <a:solidFill>
              <a:srgbClr val="17365D"/>
            </a:solidFill>
            <a:prstDash val="solid"/>
          </a:ln>
          <a:effectLst>
            <a:outerShdw blurRad="101600" dist="25400" dir="5400000" algn="bl" rotWithShape="0">
              <a:srgbClr val="9AA8B8">
                <a:alpha val="32000"/>
              </a:srgbClr>
            </a:outerShdw>
          </a:effectLst>
        </p:spPr>
      </p:sp>
      <p:sp>
        <p:nvSpPr>
          <p:cNvPr id="11" name="Text 9"/>
          <p:cNvSpPr txBox="1"/>
          <p:nvPr/>
        </p:nvSpPr>
        <p:spPr>
          <a:xfrm>
            <a:off x="5221224" y="1344168"/>
            <a:ext cx="1801368" cy="274320"/>
          </a:xfrm>
          <a:prstGeom prst="rect">
            <a:avLst/>
          </a:prstGeom>
          <a:noFill/>
          <a:ln/>
        </p:spPr>
        <p:txBody>
          <a:bodyPr wrap="square" lIns="0" tIns="0" rIns="0" bIns="0" rtlCol="0" anchor="ctr"/>
          <a:lstStyle/>
          <a:p>
            <a:pPr marL="0" indent="0" algn="ctr">
              <a:buNone/>
            </a:pPr>
            <a:r>
              <a:rPr lang="en-US" sz="1150" b="1" dirty="0">
                <a:solidFill>
                  <a:srgbClr val="17365D"/>
                </a:solidFill>
                <a:latin typeface="Calibri" pitchFamily="34" charset="0"/>
                <a:ea typeface="Calibri" pitchFamily="34" charset="-122"/>
                <a:cs typeface="Calibri" pitchFamily="34" charset="-120"/>
              </a:rPr>
              <a:t>SNOWFLAKE</a:t>
            </a:r>
            <a:endParaRPr lang="en-US" sz="1150" dirty="0"/>
          </a:p>
        </p:txBody>
      </p:sp>
      <p:sp>
        <p:nvSpPr>
          <p:cNvPr id="12" name="Text 10"/>
          <p:cNvSpPr txBox="1"/>
          <p:nvPr/>
        </p:nvSpPr>
        <p:spPr>
          <a:xfrm>
            <a:off x="5221224" y="1636776"/>
            <a:ext cx="1801368" cy="265176"/>
          </a:xfrm>
          <a:prstGeom prst="rect">
            <a:avLst/>
          </a:prstGeom>
          <a:noFill/>
          <a:ln/>
        </p:spPr>
        <p:txBody>
          <a:bodyPr wrap="square" lIns="0" tIns="0" rIns="0" bIns="0" rtlCol="0" anchor="ctr"/>
          <a:lstStyle/>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Raw tables</a:t>
            </a:r>
            <a:endParaRPr lang="en-US" sz="950" dirty="0"/>
          </a:p>
        </p:txBody>
      </p:sp>
      <p:sp>
        <p:nvSpPr>
          <p:cNvPr id="13" name="Shape 11"/>
          <p:cNvSpPr/>
          <p:nvPr/>
        </p:nvSpPr>
        <p:spPr>
          <a:xfrm>
            <a:off x="7168896" y="1627632"/>
            <a:ext cx="201168" cy="0"/>
          </a:xfrm>
          <a:prstGeom prst="line">
            <a:avLst/>
          </a:prstGeom>
          <a:noFill/>
          <a:ln w="22225">
            <a:solidFill>
              <a:srgbClr val="2F75B5"/>
            </a:solidFill>
            <a:prstDash val="solid"/>
            <a:tailEnd type="triangle"/>
          </a:ln>
        </p:spPr>
      </p:sp>
      <p:sp>
        <p:nvSpPr>
          <p:cNvPr id="14" name="Shape 12"/>
          <p:cNvSpPr/>
          <p:nvPr/>
        </p:nvSpPr>
        <p:spPr>
          <a:xfrm>
            <a:off x="7388352" y="1234440"/>
            <a:ext cx="2057400" cy="777240"/>
          </a:xfrm>
          <a:prstGeom prst="roundRect">
            <a:avLst>
              <a:gd name="adj" fmla="val 8235"/>
            </a:avLst>
          </a:prstGeom>
          <a:solidFill>
            <a:srgbClr val="FFFFFF"/>
          </a:solidFill>
          <a:ln w="17780">
            <a:solidFill>
              <a:srgbClr val="17365D"/>
            </a:solidFill>
            <a:prstDash val="solid"/>
          </a:ln>
          <a:effectLst>
            <a:outerShdw blurRad="101600" dist="25400" dir="5400000" algn="bl" rotWithShape="0">
              <a:srgbClr val="9AA8B8">
                <a:alpha val="32000"/>
              </a:srgbClr>
            </a:outerShdw>
          </a:effectLst>
        </p:spPr>
      </p:sp>
      <p:sp>
        <p:nvSpPr>
          <p:cNvPr id="15" name="Text 13"/>
          <p:cNvSpPr txBox="1"/>
          <p:nvPr/>
        </p:nvSpPr>
        <p:spPr>
          <a:xfrm>
            <a:off x="7516368" y="1344168"/>
            <a:ext cx="1801368" cy="274320"/>
          </a:xfrm>
          <a:prstGeom prst="rect">
            <a:avLst/>
          </a:prstGeom>
          <a:noFill/>
          <a:ln/>
        </p:spPr>
        <p:txBody>
          <a:bodyPr wrap="square" lIns="0" tIns="0" rIns="0" bIns="0" rtlCol="0" anchor="ctr"/>
          <a:lstStyle/>
          <a:p>
            <a:pPr marL="0" indent="0" algn="ctr">
              <a:buNone/>
            </a:pPr>
            <a:r>
              <a:rPr lang="en-US" sz="1150" b="1" dirty="0">
                <a:solidFill>
                  <a:srgbClr val="17365D"/>
                </a:solidFill>
                <a:latin typeface="Calibri" pitchFamily="34" charset="0"/>
                <a:ea typeface="Calibri" pitchFamily="34" charset="-122"/>
                <a:cs typeface="Calibri" pitchFamily="34" charset="-120"/>
              </a:rPr>
              <a:t>SQL CLEANING</a:t>
            </a:r>
            <a:endParaRPr lang="en-US" sz="1150" dirty="0"/>
          </a:p>
        </p:txBody>
      </p:sp>
      <p:sp>
        <p:nvSpPr>
          <p:cNvPr id="16" name="Shape 14"/>
          <p:cNvSpPr/>
          <p:nvPr/>
        </p:nvSpPr>
        <p:spPr>
          <a:xfrm>
            <a:off x="9464040" y="1627632"/>
            <a:ext cx="201168" cy="0"/>
          </a:xfrm>
          <a:prstGeom prst="line">
            <a:avLst/>
          </a:prstGeom>
          <a:noFill/>
          <a:ln w="22225">
            <a:solidFill>
              <a:srgbClr val="2F75B5"/>
            </a:solidFill>
            <a:prstDash val="solid"/>
            <a:tailEnd type="triangle"/>
          </a:ln>
        </p:spPr>
      </p:sp>
      <p:sp>
        <p:nvSpPr>
          <p:cNvPr id="17" name="Shape 15"/>
          <p:cNvSpPr/>
          <p:nvPr/>
        </p:nvSpPr>
        <p:spPr>
          <a:xfrm>
            <a:off x="9683496" y="1234440"/>
            <a:ext cx="2057400" cy="777240"/>
          </a:xfrm>
          <a:prstGeom prst="roundRect">
            <a:avLst>
              <a:gd name="adj" fmla="val 8235"/>
            </a:avLst>
          </a:prstGeom>
          <a:solidFill>
            <a:srgbClr val="FFFFFF"/>
          </a:solidFill>
          <a:ln w="17780">
            <a:solidFill>
              <a:srgbClr val="17365D"/>
            </a:solidFill>
            <a:prstDash val="solid"/>
          </a:ln>
          <a:effectLst>
            <a:outerShdw blurRad="101600" dist="25400" dir="5400000" algn="bl" rotWithShape="0">
              <a:srgbClr val="9AA8B8">
                <a:alpha val="32000"/>
              </a:srgbClr>
            </a:outerShdw>
          </a:effectLst>
        </p:spPr>
      </p:sp>
      <p:sp>
        <p:nvSpPr>
          <p:cNvPr id="18" name="Text 16"/>
          <p:cNvSpPr txBox="1"/>
          <p:nvPr/>
        </p:nvSpPr>
        <p:spPr>
          <a:xfrm>
            <a:off x="9811512" y="1344168"/>
            <a:ext cx="1801368" cy="274320"/>
          </a:xfrm>
          <a:prstGeom prst="rect">
            <a:avLst/>
          </a:prstGeom>
          <a:noFill/>
          <a:ln/>
        </p:spPr>
        <p:txBody>
          <a:bodyPr wrap="square" lIns="0" tIns="0" rIns="0" bIns="0" rtlCol="0" anchor="ctr"/>
          <a:lstStyle/>
          <a:p>
            <a:pPr marL="0" indent="0" algn="ctr">
              <a:buNone/>
            </a:pPr>
            <a:r>
              <a:rPr lang="en-US" sz="1150" b="1" dirty="0">
                <a:solidFill>
                  <a:srgbClr val="17365D"/>
                </a:solidFill>
                <a:latin typeface="Calibri" pitchFamily="34" charset="0"/>
                <a:ea typeface="Calibri" pitchFamily="34" charset="-122"/>
                <a:cs typeface="Calibri" pitchFamily="34" charset="-120"/>
              </a:rPr>
              <a:t>SQL TRANSFORMATION</a:t>
            </a:r>
            <a:endParaRPr lang="en-US" sz="1150" dirty="0"/>
          </a:p>
        </p:txBody>
      </p:sp>
      <p:sp>
        <p:nvSpPr>
          <p:cNvPr id="19" name="Shape 17"/>
          <p:cNvSpPr/>
          <p:nvPr/>
        </p:nvSpPr>
        <p:spPr>
          <a:xfrm>
            <a:off x="3977640" y="2487168"/>
            <a:ext cx="4206240" cy="658368"/>
          </a:xfrm>
          <a:prstGeom prst="roundRect">
            <a:avLst>
              <a:gd name="adj" fmla="val 9722"/>
            </a:avLst>
          </a:prstGeom>
          <a:solidFill>
            <a:srgbClr val="17365D"/>
          </a:solidFill>
          <a:ln w="12700">
            <a:solidFill>
              <a:srgbClr val="17365D"/>
            </a:solidFill>
            <a:prstDash val="solid"/>
          </a:ln>
          <a:effectLst>
            <a:outerShdw blurRad="101600" dist="25400" dir="5400000" algn="bl" rotWithShape="0">
              <a:srgbClr val="9AA8B8">
                <a:alpha val="32000"/>
              </a:srgbClr>
            </a:outerShdw>
          </a:effectLst>
        </p:spPr>
      </p:sp>
      <p:sp>
        <p:nvSpPr>
          <p:cNvPr id="20" name="Text 18"/>
          <p:cNvSpPr txBox="1"/>
          <p:nvPr/>
        </p:nvSpPr>
        <p:spPr>
          <a:xfrm>
            <a:off x="3977640" y="2487168"/>
            <a:ext cx="4206240"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CLAIMS_ANALYTICS_VW</a:t>
            </a:r>
            <a:endParaRPr lang="en-US" sz="1600" dirty="0"/>
          </a:p>
        </p:txBody>
      </p:sp>
      <p:sp>
        <p:nvSpPr>
          <p:cNvPr id="21" name="Shape 19"/>
          <p:cNvSpPr/>
          <p:nvPr/>
        </p:nvSpPr>
        <p:spPr>
          <a:xfrm>
            <a:off x="10972800" y="2048256"/>
            <a:ext cx="0" cy="402336"/>
          </a:xfrm>
          <a:prstGeom prst="line">
            <a:avLst/>
          </a:prstGeom>
          <a:noFill/>
          <a:ln w="22225">
            <a:solidFill>
              <a:srgbClr val="2F75B5"/>
            </a:solidFill>
            <a:prstDash val="solid"/>
            <a:tailEnd type="triangle"/>
          </a:ln>
        </p:spPr>
      </p:sp>
      <p:sp>
        <p:nvSpPr>
          <p:cNvPr id="22" name="Shape 20"/>
          <p:cNvSpPr/>
          <p:nvPr/>
        </p:nvSpPr>
        <p:spPr>
          <a:xfrm>
            <a:off x="8183880" y="2816352"/>
            <a:ext cx="2788920" cy="0"/>
          </a:xfrm>
          <a:prstGeom prst="line">
            <a:avLst/>
          </a:prstGeom>
          <a:noFill/>
          <a:ln w="22225">
            <a:solidFill>
              <a:srgbClr val="2F75B5"/>
            </a:solidFill>
            <a:prstDash val="solid"/>
          </a:ln>
        </p:spPr>
      </p:sp>
      <p:sp>
        <p:nvSpPr>
          <p:cNvPr id="23" name="Shape 21"/>
          <p:cNvSpPr/>
          <p:nvPr/>
        </p:nvSpPr>
        <p:spPr>
          <a:xfrm>
            <a:off x="10972800" y="2450592"/>
            <a:ext cx="0" cy="384048"/>
          </a:xfrm>
          <a:prstGeom prst="line">
            <a:avLst/>
          </a:prstGeom>
          <a:noFill/>
          <a:ln w="22225">
            <a:solidFill>
              <a:srgbClr val="2F75B5"/>
            </a:solidFill>
            <a:prstDash val="solid"/>
          </a:ln>
        </p:spPr>
      </p:sp>
      <p:sp>
        <p:nvSpPr>
          <p:cNvPr id="24" name="Shape 22"/>
          <p:cNvSpPr/>
          <p:nvPr/>
        </p:nvSpPr>
        <p:spPr>
          <a:xfrm>
            <a:off x="1143000" y="3977640"/>
            <a:ext cx="3246120" cy="1417320"/>
          </a:xfrm>
          <a:prstGeom prst="roundRect">
            <a:avLst>
              <a:gd name="adj" fmla="val 4516"/>
            </a:avLst>
          </a:prstGeom>
          <a:solidFill>
            <a:srgbClr val="FFFFFF"/>
          </a:solidFill>
          <a:ln w="17780">
            <a:solidFill>
              <a:srgbClr val="2F75B5"/>
            </a:solidFill>
            <a:prstDash val="solid"/>
          </a:ln>
          <a:effectLst>
            <a:outerShdw blurRad="101600" dist="25400" dir="5400000" algn="bl" rotWithShape="0">
              <a:srgbClr val="9AA8B8">
                <a:alpha val="32000"/>
              </a:srgbClr>
            </a:outerShdw>
          </a:effectLst>
        </p:spPr>
      </p:sp>
      <p:sp>
        <p:nvSpPr>
          <p:cNvPr id="25" name="Text 23"/>
          <p:cNvSpPr txBox="1"/>
          <p:nvPr/>
        </p:nvSpPr>
        <p:spPr>
          <a:xfrm>
            <a:off x="1271016" y="4087368"/>
            <a:ext cx="2990088" cy="274320"/>
          </a:xfrm>
          <a:prstGeom prst="rect">
            <a:avLst/>
          </a:prstGeom>
          <a:noFill/>
          <a:ln/>
        </p:spPr>
        <p:txBody>
          <a:bodyPr wrap="square" lIns="0" tIns="0" rIns="0" bIns="0" rtlCol="0" anchor="ctr"/>
          <a:lstStyle/>
          <a:p>
            <a:pPr marL="0" indent="0" algn="ctr">
              <a:buNone/>
            </a:pPr>
            <a:r>
              <a:rPr lang="en-US" sz="1150" b="1" dirty="0">
                <a:solidFill>
                  <a:srgbClr val="2F75B5"/>
                </a:solidFill>
                <a:latin typeface="Calibri" pitchFamily="34" charset="0"/>
                <a:ea typeface="Calibri" pitchFamily="34" charset="-122"/>
                <a:cs typeface="Calibri" pitchFamily="34" charset="-120"/>
              </a:rPr>
              <a:t>PYTHON / DATABRICKS</a:t>
            </a:r>
            <a:endParaRPr lang="en-US" sz="1150" dirty="0"/>
          </a:p>
        </p:txBody>
      </p:sp>
      <p:sp>
        <p:nvSpPr>
          <p:cNvPr id="26" name="Text 24"/>
          <p:cNvSpPr txBox="1"/>
          <p:nvPr/>
        </p:nvSpPr>
        <p:spPr>
          <a:xfrm>
            <a:off x="1271016" y="4379976"/>
            <a:ext cx="2990088" cy="905256"/>
          </a:xfrm>
          <a:prstGeom prst="rect">
            <a:avLst/>
          </a:prstGeom>
          <a:noFill/>
          <a:ln/>
        </p:spPr>
        <p:txBody>
          <a:bodyPr wrap="square" lIns="0" tIns="0" rIns="0" bIns="0" rtlCol="0" anchor="ctr"/>
          <a:lstStyle/>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EDA</a:t>
            </a:r>
            <a:endParaRPr lang="en-US" sz="950" dirty="0"/>
          </a:p>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Diagnostic analysis</a:t>
            </a:r>
            <a:endParaRPr lang="en-US" sz="950" dirty="0"/>
          </a:p>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Machine learning</a:t>
            </a:r>
            <a:endParaRPr lang="en-US" sz="950" dirty="0"/>
          </a:p>
        </p:txBody>
      </p:sp>
      <p:sp>
        <p:nvSpPr>
          <p:cNvPr id="27" name="Shape 25"/>
          <p:cNvSpPr/>
          <p:nvPr/>
        </p:nvSpPr>
        <p:spPr>
          <a:xfrm>
            <a:off x="2761488" y="3566160"/>
            <a:ext cx="0" cy="384048"/>
          </a:xfrm>
          <a:prstGeom prst="line">
            <a:avLst/>
          </a:prstGeom>
          <a:noFill/>
          <a:ln w="22225">
            <a:solidFill>
              <a:srgbClr val="2F75B5"/>
            </a:solidFill>
            <a:prstDash val="solid"/>
            <a:tailEnd type="triangle"/>
          </a:ln>
        </p:spPr>
      </p:sp>
      <p:sp>
        <p:nvSpPr>
          <p:cNvPr id="28" name="Shape 26"/>
          <p:cNvSpPr/>
          <p:nvPr/>
        </p:nvSpPr>
        <p:spPr>
          <a:xfrm>
            <a:off x="4617720" y="3977640"/>
            <a:ext cx="3246120" cy="1417320"/>
          </a:xfrm>
          <a:prstGeom prst="roundRect">
            <a:avLst>
              <a:gd name="adj" fmla="val 4516"/>
            </a:avLst>
          </a:prstGeom>
          <a:solidFill>
            <a:srgbClr val="FFFFFF"/>
          </a:solidFill>
          <a:ln w="17780">
            <a:solidFill>
              <a:srgbClr val="2F75B5"/>
            </a:solidFill>
            <a:prstDash val="solid"/>
          </a:ln>
          <a:effectLst>
            <a:outerShdw blurRad="101600" dist="25400" dir="5400000" algn="bl" rotWithShape="0">
              <a:srgbClr val="9AA8B8">
                <a:alpha val="32000"/>
              </a:srgbClr>
            </a:outerShdw>
          </a:effectLst>
        </p:spPr>
      </p:sp>
      <p:sp>
        <p:nvSpPr>
          <p:cNvPr id="29" name="Text 27"/>
          <p:cNvSpPr txBox="1"/>
          <p:nvPr/>
        </p:nvSpPr>
        <p:spPr>
          <a:xfrm>
            <a:off x="4745736" y="4087368"/>
            <a:ext cx="2990088" cy="274320"/>
          </a:xfrm>
          <a:prstGeom prst="rect">
            <a:avLst/>
          </a:prstGeom>
          <a:noFill/>
          <a:ln/>
        </p:spPr>
        <p:txBody>
          <a:bodyPr wrap="square" lIns="0" tIns="0" rIns="0" bIns="0" rtlCol="0" anchor="ctr"/>
          <a:lstStyle/>
          <a:p>
            <a:pPr marL="0" indent="0" algn="ctr">
              <a:buNone/>
            </a:pPr>
            <a:r>
              <a:rPr lang="en-US" sz="1150" b="1" dirty="0">
                <a:solidFill>
                  <a:srgbClr val="2F75B5"/>
                </a:solidFill>
                <a:latin typeface="Calibri" pitchFamily="34" charset="0"/>
                <a:ea typeface="Calibri" pitchFamily="34" charset="-122"/>
                <a:cs typeface="Calibri" pitchFamily="34" charset="-120"/>
              </a:rPr>
              <a:t>POWER BI</a:t>
            </a:r>
            <a:endParaRPr lang="en-US" sz="1150" dirty="0"/>
          </a:p>
        </p:txBody>
      </p:sp>
      <p:sp>
        <p:nvSpPr>
          <p:cNvPr id="30" name="Text 28"/>
          <p:cNvSpPr txBox="1"/>
          <p:nvPr/>
        </p:nvSpPr>
        <p:spPr>
          <a:xfrm>
            <a:off x="4745736" y="4379976"/>
            <a:ext cx="2990088" cy="905256"/>
          </a:xfrm>
          <a:prstGeom prst="rect">
            <a:avLst/>
          </a:prstGeom>
          <a:noFill/>
          <a:ln/>
        </p:spPr>
        <p:txBody>
          <a:bodyPr wrap="square" lIns="0" tIns="0" rIns="0" bIns="0" rtlCol="0" anchor="ctr"/>
          <a:lstStyle/>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Overview</a:t>
            </a:r>
            <a:endParaRPr lang="en-US" sz="950" dirty="0"/>
          </a:p>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Risk &amp; Severity</a:t>
            </a:r>
            <a:endParaRPr lang="en-US" sz="950" dirty="0"/>
          </a:p>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Operations</a:t>
            </a:r>
            <a:endParaRPr lang="en-US" sz="950" dirty="0"/>
          </a:p>
        </p:txBody>
      </p:sp>
      <p:sp>
        <p:nvSpPr>
          <p:cNvPr id="31" name="Shape 29"/>
          <p:cNvSpPr/>
          <p:nvPr/>
        </p:nvSpPr>
        <p:spPr>
          <a:xfrm>
            <a:off x="6236208" y="3566160"/>
            <a:ext cx="0" cy="384048"/>
          </a:xfrm>
          <a:prstGeom prst="line">
            <a:avLst/>
          </a:prstGeom>
          <a:noFill/>
          <a:ln w="22225">
            <a:solidFill>
              <a:srgbClr val="2F75B5"/>
            </a:solidFill>
            <a:prstDash val="solid"/>
            <a:tailEnd type="triangle"/>
          </a:ln>
        </p:spPr>
      </p:sp>
      <p:sp>
        <p:nvSpPr>
          <p:cNvPr id="32" name="Shape 30"/>
          <p:cNvSpPr/>
          <p:nvPr/>
        </p:nvSpPr>
        <p:spPr>
          <a:xfrm>
            <a:off x="8092440" y="3977640"/>
            <a:ext cx="3246120" cy="1417320"/>
          </a:xfrm>
          <a:prstGeom prst="roundRect">
            <a:avLst>
              <a:gd name="adj" fmla="val 4516"/>
            </a:avLst>
          </a:prstGeom>
          <a:solidFill>
            <a:srgbClr val="FFFFFF"/>
          </a:solidFill>
          <a:ln w="17780">
            <a:solidFill>
              <a:srgbClr val="008C95"/>
            </a:solidFill>
            <a:prstDash val="solid"/>
          </a:ln>
          <a:effectLst>
            <a:outerShdw blurRad="101600" dist="25400" dir="5400000" algn="bl" rotWithShape="0">
              <a:srgbClr val="9AA8B8">
                <a:alpha val="32000"/>
              </a:srgbClr>
            </a:outerShdw>
          </a:effectLst>
        </p:spPr>
      </p:sp>
      <p:sp>
        <p:nvSpPr>
          <p:cNvPr id="33" name="Text 31"/>
          <p:cNvSpPr txBox="1"/>
          <p:nvPr/>
        </p:nvSpPr>
        <p:spPr>
          <a:xfrm>
            <a:off x="8220456" y="4087368"/>
            <a:ext cx="2990088" cy="274320"/>
          </a:xfrm>
          <a:prstGeom prst="rect">
            <a:avLst/>
          </a:prstGeom>
          <a:noFill/>
          <a:ln/>
        </p:spPr>
        <p:txBody>
          <a:bodyPr wrap="square" lIns="0" tIns="0" rIns="0" bIns="0" rtlCol="0" anchor="ctr"/>
          <a:lstStyle/>
          <a:p>
            <a:pPr marL="0" indent="0" algn="ctr">
              <a:buNone/>
            </a:pPr>
            <a:r>
              <a:rPr lang="en-US" sz="1150" b="1" dirty="0">
                <a:solidFill>
                  <a:srgbClr val="008C95"/>
                </a:solidFill>
                <a:latin typeface="Calibri" pitchFamily="34" charset="0"/>
                <a:ea typeface="Calibri" pitchFamily="34" charset="-122"/>
                <a:cs typeface="Calibri" pitchFamily="34" charset="-120"/>
              </a:rPr>
              <a:t>STREAMLIT</a:t>
            </a:r>
            <a:endParaRPr lang="en-US" sz="1150" dirty="0"/>
          </a:p>
        </p:txBody>
      </p:sp>
      <p:sp>
        <p:nvSpPr>
          <p:cNvPr id="34" name="Text 32"/>
          <p:cNvSpPr txBox="1"/>
          <p:nvPr/>
        </p:nvSpPr>
        <p:spPr>
          <a:xfrm>
            <a:off x="8220456" y="4379976"/>
            <a:ext cx="2990088" cy="905256"/>
          </a:xfrm>
          <a:prstGeom prst="rect">
            <a:avLst/>
          </a:prstGeom>
          <a:noFill/>
          <a:ln/>
        </p:spPr>
        <p:txBody>
          <a:bodyPr wrap="square" lIns="0" tIns="0" rIns="0" bIns="0" rtlCol="0" anchor="ctr"/>
          <a:lstStyle/>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Overview · Descriptive</a:t>
            </a:r>
            <a:endParaRPr lang="en-US" sz="950" dirty="0"/>
          </a:p>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Diagnostic · Predictive</a:t>
            </a:r>
            <a:endParaRPr lang="en-US" sz="950" dirty="0"/>
          </a:p>
          <a:p>
            <a:pPr marL="0" indent="0" algn="ctr">
              <a:lnSpc>
                <a:spcPts val="1300"/>
              </a:lnSpc>
              <a:buNone/>
            </a:pPr>
            <a:r>
              <a:rPr lang="en-US" sz="950" dirty="0">
                <a:solidFill>
                  <a:srgbClr val="6B7684"/>
                </a:solidFill>
                <a:latin typeface="Calibri" pitchFamily="34" charset="0"/>
                <a:ea typeface="Calibri" pitchFamily="34" charset="-122"/>
                <a:cs typeface="Calibri" pitchFamily="34" charset="-120"/>
              </a:rPr>
              <a:t>ML prediction</a:t>
            </a:r>
            <a:endParaRPr lang="en-US" sz="950" dirty="0"/>
          </a:p>
        </p:txBody>
      </p:sp>
      <p:sp>
        <p:nvSpPr>
          <p:cNvPr id="35" name="Shape 33"/>
          <p:cNvSpPr/>
          <p:nvPr/>
        </p:nvSpPr>
        <p:spPr>
          <a:xfrm>
            <a:off x="9710928" y="3566160"/>
            <a:ext cx="0" cy="384048"/>
          </a:xfrm>
          <a:prstGeom prst="line">
            <a:avLst/>
          </a:prstGeom>
          <a:noFill/>
          <a:ln w="22225">
            <a:solidFill>
              <a:srgbClr val="2F75B5"/>
            </a:solidFill>
            <a:prstDash val="solid"/>
            <a:tailEnd type="triangle"/>
          </a:ln>
        </p:spPr>
      </p:sp>
      <p:sp>
        <p:nvSpPr>
          <p:cNvPr id="36" name="Shape 34"/>
          <p:cNvSpPr/>
          <p:nvPr/>
        </p:nvSpPr>
        <p:spPr>
          <a:xfrm>
            <a:off x="2761488" y="3566160"/>
            <a:ext cx="8321040" cy="0"/>
          </a:xfrm>
          <a:prstGeom prst="line">
            <a:avLst/>
          </a:prstGeom>
          <a:noFill/>
          <a:ln w="22225">
            <a:solidFill>
              <a:srgbClr val="2F75B5"/>
            </a:solidFill>
            <a:prstDash val="solid"/>
          </a:ln>
        </p:spPr>
      </p:sp>
      <p:sp>
        <p:nvSpPr>
          <p:cNvPr id="37" name="Shape 35"/>
          <p:cNvSpPr/>
          <p:nvPr/>
        </p:nvSpPr>
        <p:spPr>
          <a:xfrm>
            <a:off x="6080760" y="3145536"/>
            <a:ext cx="0" cy="420624"/>
          </a:xfrm>
          <a:prstGeom prst="line">
            <a:avLst/>
          </a:prstGeom>
          <a:noFill/>
          <a:ln w="22225">
            <a:solidFill>
              <a:srgbClr val="2F75B5"/>
            </a:solidFill>
            <a:prstDash val="solid"/>
          </a:ln>
        </p:spPr>
      </p:sp>
      <p:sp>
        <p:nvSpPr>
          <p:cNvPr id="38" name="Shape 36"/>
          <p:cNvSpPr/>
          <p:nvPr/>
        </p:nvSpPr>
        <p:spPr>
          <a:xfrm>
            <a:off x="502920" y="5623560"/>
            <a:ext cx="11201400" cy="713232"/>
          </a:xfrm>
          <a:prstGeom prst="roundRect">
            <a:avLst>
              <a:gd name="adj" fmla="val 1025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9" name="Text 37"/>
          <p:cNvSpPr txBox="1"/>
          <p:nvPr/>
        </p:nvSpPr>
        <p:spPr>
          <a:xfrm>
            <a:off x="777240" y="5742432"/>
            <a:ext cx="10698480" cy="457200"/>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The analytical view acts as the common analytical layer for Python, Power BI and Streamlit — eliminating duplication of cleaning logic across tools.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Data Quality Assessment</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09</a:t>
            </a:r>
            <a:endParaRPr lang="en-US" sz="1000" dirty="0"/>
          </a:p>
        </p:txBody>
      </p:sp>
      <p:sp>
        <p:nvSpPr>
          <p:cNvPr id="4" name="Shape 2"/>
          <p:cNvSpPr/>
          <p:nvPr/>
        </p:nvSpPr>
        <p:spPr>
          <a:xfrm>
            <a:off x="502920" y="1234440"/>
            <a:ext cx="2670048" cy="1143000"/>
          </a:xfrm>
          <a:prstGeom prst="roundRect">
            <a:avLst>
              <a:gd name="adj" fmla="val 64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Text 3"/>
          <p:cNvSpPr txBox="1"/>
          <p:nvPr/>
        </p:nvSpPr>
        <p:spPr>
          <a:xfrm>
            <a:off x="576072" y="1399032"/>
            <a:ext cx="2523744" cy="548640"/>
          </a:xfrm>
          <a:prstGeom prst="rect">
            <a:avLst/>
          </a:prstGeom>
          <a:noFill/>
          <a:ln/>
        </p:spPr>
        <p:txBody>
          <a:bodyPr wrap="square" lIns="0" tIns="0" rIns="0" bIns="0" rtlCol="0" anchor="ctr"/>
          <a:lstStyle/>
          <a:p>
            <a:pPr marL="0" indent="0" algn="ctr">
              <a:buNone/>
            </a:pPr>
            <a:r>
              <a:rPr lang="en-US" sz="2500" b="1" dirty="0">
                <a:solidFill>
                  <a:srgbClr val="008C95"/>
                </a:solidFill>
                <a:latin typeface="Cambria" pitchFamily="34" charset="0"/>
                <a:ea typeface="Cambria" pitchFamily="34" charset="-122"/>
                <a:cs typeface="Cambria" pitchFamily="34" charset="-120"/>
              </a:rPr>
              <a:t>0</a:t>
            </a:r>
            <a:endParaRPr lang="en-US" sz="2500" dirty="0"/>
          </a:p>
        </p:txBody>
      </p:sp>
      <p:sp>
        <p:nvSpPr>
          <p:cNvPr id="6" name="Text 4"/>
          <p:cNvSpPr txBox="1"/>
          <p:nvPr/>
        </p:nvSpPr>
        <p:spPr>
          <a:xfrm>
            <a:off x="576072" y="1943100"/>
            <a:ext cx="2523744" cy="34290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Duplicate Rows</a:t>
            </a:r>
            <a:endParaRPr lang="en-US" sz="1100" dirty="0"/>
          </a:p>
        </p:txBody>
      </p:sp>
      <p:sp>
        <p:nvSpPr>
          <p:cNvPr id="7" name="Shape 5"/>
          <p:cNvSpPr/>
          <p:nvPr/>
        </p:nvSpPr>
        <p:spPr>
          <a:xfrm>
            <a:off x="3282696" y="1234440"/>
            <a:ext cx="2670048" cy="1143000"/>
          </a:xfrm>
          <a:prstGeom prst="roundRect">
            <a:avLst>
              <a:gd name="adj" fmla="val 64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8" name="Text 6"/>
          <p:cNvSpPr txBox="1"/>
          <p:nvPr/>
        </p:nvSpPr>
        <p:spPr>
          <a:xfrm>
            <a:off x="3355848" y="1399032"/>
            <a:ext cx="2523744" cy="548640"/>
          </a:xfrm>
          <a:prstGeom prst="rect">
            <a:avLst/>
          </a:prstGeom>
          <a:noFill/>
          <a:ln/>
        </p:spPr>
        <p:txBody>
          <a:bodyPr wrap="square" lIns="0" tIns="0" rIns="0" bIns="0" rtlCol="0" anchor="ctr"/>
          <a:lstStyle/>
          <a:p>
            <a:pPr marL="0" indent="0" algn="ctr">
              <a:buNone/>
            </a:pPr>
            <a:r>
              <a:rPr lang="en-US" sz="2500" b="1" dirty="0">
                <a:solidFill>
                  <a:srgbClr val="008C95"/>
                </a:solidFill>
                <a:latin typeface="Cambria" pitchFamily="34" charset="0"/>
                <a:ea typeface="Cambria" pitchFamily="34" charset="-122"/>
                <a:cs typeface="Cambria" pitchFamily="34" charset="-120"/>
              </a:rPr>
              <a:t>0</a:t>
            </a:r>
            <a:endParaRPr lang="en-US" sz="2500" dirty="0"/>
          </a:p>
        </p:txBody>
      </p:sp>
      <p:sp>
        <p:nvSpPr>
          <p:cNvPr id="9" name="Text 7"/>
          <p:cNvSpPr txBox="1"/>
          <p:nvPr/>
        </p:nvSpPr>
        <p:spPr>
          <a:xfrm>
            <a:off x="3355848" y="1943100"/>
            <a:ext cx="2523744" cy="34290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Invalid Agent References</a:t>
            </a:r>
            <a:endParaRPr lang="en-US" sz="1100" dirty="0"/>
          </a:p>
        </p:txBody>
      </p:sp>
      <p:sp>
        <p:nvSpPr>
          <p:cNvPr id="10" name="Shape 8"/>
          <p:cNvSpPr/>
          <p:nvPr/>
        </p:nvSpPr>
        <p:spPr>
          <a:xfrm>
            <a:off x="6062472" y="1234440"/>
            <a:ext cx="2670048" cy="1143000"/>
          </a:xfrm>
          <a:prstGeom prst="roundRect">
            <a:avLst>
              <a:gd name="adj" fmla="val 64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Text 9"/>
          <p:cNvSpPr txBox="1"/>
          <p:nvPr/>
        </p:nvSpPr>
        <p:spPr>
          <a:xfrm>
            <a:off x="6135624" y="1399032"/>
            <a:ext cx="2523744" cy="548640"/>
          </a:xfrm>
          <a:prstGeom prst="rect">
            <a:avLst/>
          </a:prstGeom>
          <a:noFill/>
          <a:ln/>
        </p:spPr>
        <p:txBody>
          <a:bodyPr wrap="square" lIns="0" tIns="0" rIns="0" bIns="0" rtlCol="0" anchor="ctr"/>
          <a:lstStyle/>
          <a:p>
            <a:pPr marL="0" indent="0" algn="ctr">
              <a:buNone/>
            </a:pPr>
            <a:r>
              <a:rPr lang="en-US" sz="2500" b="1" dirty="0">
                <a:solidFill>
                  <a:srgbClr val="008C95"/>
                </a:solidFill>
                <a:latin typeface="Cambria" pitchFamily="34" charset="0"/>
                <a:ea typeface="Cambria" pitchFamily="34" charset="-122"/>
                <a:cs typeface="Cambria" pitchFamily="34" charset="-120"/>
              </a:rPr>
              <a:t>0</a:t>
            </a:r>
            <a:endParaRPr lang="en-US" sz="2500" dirty="0"/>
          </a:p>
        </p:txBody>
      </p:sp>
      <p:sp>
        <p:nvSpPr>
          <p:cNvPr id="12" name="Text 10"/>
          <p:cNvSpPr txBox="1"/>
          <p:nvPr/>
        </p:nvSpPr>
        <p:spPr>
          <a:xfrm>
            <a:off x="6135624" y="1943100"/>
            <a:ext cx="2523744" cy="34290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Invalid Vendor References</a:t>
            </a:r>
            <a:endParaRPr lang="en-US" sz="1100" dirty="0"/>
          </a:p>
        </p:txBody>
      </p:sp>
      <p:sp>
        <p:nvSpPr>
          <p:cNvPr id="13" name="Shape 11"/>
          <p:cNvSpPr/>
          <p:nvPr/>
        </p:nvSpPr>
        <p:spPr>
          <a:xfrm>
            <a:off x="8842248" y="1234440"/>
            <a:ext cx="2670048" cy="1143000"/>
          </a:xfrm>
          <a:prstGeom prst="roundRect">
            <a:avLst>
              <a:gd name="adj" fmla="val 64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4" name="Text 12"/>
          <p:cNvSpPr txBox="1"/>
          <p:nvPr/>
        </p:nvSpPr>
        <p:spPr>
          <a:xfrm>
            <a:off x="8915400" y="1399032"/>
            <a:ext cx="2523744" cy="548640"/>
          </a:xfrm>
          <a:prstGeom prst="rect">
            <a:avLst/>
          </a:prstGeom>
          <a:noFill/>
          <a:ln/>
        </p:spPr>
        <p:txBody>
          <a:bodyPr wrap="square" lIns="0" tIns="0" rIns="0" bIns="0" rtlCol="0" anchor="ctr"/>
          <a:lstStyle/>
          <a:p>
            <a:pPr marL="0" indent="0" algn="ctr">
              <a:buNone/>
            </a:pPr>
            <a:r>
              <a:rPr lang="en-US" sz="2500" b="1" dirty="0">
                <a:solidFill>
                  <a:srgbClr val="008C95"/>
                </a:solidFill>
                <a:latin typeface="Cambria" pitchFamily="34" charset="0"/>
                <a:ea typeface="Cambria" pitchFamily="34" charset="-122"/>
                <a:cs typeface="Cambria" pitchFamily="34" charset="-120"/>
              </a:rPr>
              <a:t>0</a:t>
            </a:r>
            <a:endParaRPr lang="en-US" sz="2500" dirty="0"/>
          </a:p>
        </p:txBody>
      </p:sp>
      <p:sp>
        <p:nvSpPr>
          <p:cNvPr id="15" name="Text 13"/>
          <p:cNvSpPr txBox="1"/>
          <p:nvPr/>
        </p:nvSpPr>
        <p:spPr>
          <a:xfrm>
            <a:off x="8915400" y="1943100"/>
            <a:ext cx="2523744" cy="342900"/>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Negative Claim / Premium</a:t>
            </a:r>
            <a:endParaRPr lang="en-US" sz="1100" dirty="0"/>
          </a:p>
        </p:txBody>
      </p:sp>
      <p:sp>
        <p:nvSpPr>
          <p:cNvPr id="16" name="Shape 14"/>
          <p:cNvSpPr/>
          <p:nvPr/>
        </p:nvSpPr>
        <p:spPr>
          <a:xfrm>
            <a:off x="502920" y="2606040"/>
            <a:ext cx="5532120" cy="3520440"/>
          </a:xfrm>
          <a:prstGeom prst="roundRect">
            <a:avLst>
              <a:gd name="adj" fmla="val 2078"/>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7" name="Text 15"/>
          <p:cNvSpPr txBox="1"/>
          <p:nvPr/>
        </p:nvSpPr>
        <p:spPr>
          <a:xfrm>
            <a:off x="777240" y="2788920"/>
            <a:ext cx="4937760" cy="292608"/>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Major Missing-Value Findings</a:t>
            </a:r>
            <a:endParaRPr lang="en-US" sz="1500" dirty="0"/>
          </a:p>
        </p:txBody>
      </p:sp>
      <p:sp>
        <p:nvSpPr>
          <p:cNvPr id="18" name="Text 16"/>
          <p:cNvSpPr txBox="1"/>
          <p:nvPr/>
        </p:nvSpPr>
        <p:spPr>
          <a:xfrm>
            <a:off x="777240" y="3200400"/>
            <a:ext cx="2514600" cy="256032"/>
          </a:xfrm>
          <a:prstGeom prst="rect">
            <a:avLst/>
          </a:prstGeom>
          <a:noFill/>
          <a:ln/>
        </p:spPr>
        <p:txBody>
          <a:bodyPr wrap="square" lIns="0" tIns="0" rIns="0" bIns="0" rtlCol="0" anchor="ctr"/>
          <a:lstStyle/>
          <a:p>
            <a:pPr marL="0" indent="0">
              <a:buNone/>
            </a:pPr>
            <a:r>
              <a:rPr lang="en-US" sz="1050" dirty="0">
                <a:solidFill>
                  <a:srgbClr val="2B3440"/>
                </a:solidFill>
                <a:latin typeface="Calibri" pitchFamily="34" charset="0"/>
                <a:ea typeface="Calibri" pitchFamily="34" charset="-122"/>
                <a:cs typeface="Calibri" pitchFamily="34" charset="-120"/>
              </a:rPr>
              <a:t>ADDRESS_LINE2</a:t>
            </a:r>
            <a:endParaRPr lang="en-US" sz="1050" dirty="0"/>
          </a:p>
        </p:txBody>
      </p:sp>
      <p:sp>
        <p:nvSpPr>
          <p:cNvPr id="19" name="Shape 17"/>
          <p:cNvSpPr/>
          <p:nvPr/>
        </p:nvSpPr>
        <p:spPr>
          <a:xfrm>
            <a:off x="3310128" y="3273552"/>
            <a:ext cx="1417320" cy="118872"/>
          </a:xfrm>
          <a:prstGeom prst="rect">
            <a:avLst/>
          </a:prstGeom>
          <a:solidFill>
            <a:srgbClr val="E3E9F0"/>
          </a:solidFill>
          <a:ln w="12700">
            <a:solidFill>
              <a:srgbClr val="E3E9F0"/>
            </a:solidFill>
            <a:prstDash val="solid"/>
          </a:ln>
        </p:spPr>
      </p:sp>
      <p:sp>
        <p:nvSpPr>
          <p:cNvPr id="20" name="Shape 18"/>
          <p:cNvSpPr/>
          <p:nvPr/>
        </p:nvSpPr>
        <p:spPr>
          <a:xfrm>
            <a:off x="3310128" y="3273552"/>
            <a:ext cx="1205431" cy="118872"/>
          </a:xfrm>
          <a:prstGeom prst="rect">
            <a:avLst/>
          </a:prstGeom>
          <a:solidFill>
            <a:srgbClr val="2F75B5"/>
          </a:solidFill>
          <a:ln w="12700">
            <a:solidFill>
              <a:srgbClr val="2F75B5"/>
            </a:solidFill>
            <a:prstDash val="solid"/>
          </a:ln>
        </p:spPr>
      </p:sp>
      <p:sp>
        <p:nvSpPr>
          <p:cNvPr id="21" name="Text 19"/>
          <p:cNvSpPr txBox="1"/>
          <p:nvPr/>
        </p:nvSpPr>
        <p:spPr>
          <a:xfrm>
            <a:off x="4773168" y="3200400"/>
            <a:ext cx="1143000" cy="256032"/>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8,505  (85.05%)</a:t>
            </a:r>
            <a:endParaRPr lang="en-US" sz="1000" dirty="0"/>
          </a:p>
        </p:txBody>
      </p:sp>
      <p:sp>
        <p:nvSpPr>
          <p:cNvPr id="22" name="Text 20"/>
          <p:cNvSpPr txBox="1"/>
          <p:nvPr/>
        </p:nvSpPr>
        <p:spPr>
          <a:xfrm>
            <a:off x="777240" y="3675888"/>
            <a:ext cx="2514600" cy="256032"/>
          </a:xfrm>
          <a:prstGeom prst="rect">
            <a:avLst/>
          </a:prstGeom>
          <a:noFill/>
          <a:ln/>
        </p:spPr>
        <p:txBody>
          <a:bodyPr wrap="square" lIns="0" tIns="0" rIns="0" bIns="0" rtlCol="0" anchor="ctr"/>
          <a:lstStyle/>
          <a:p>
            <a:pPr marL="0" indent="0">
              <a:buNone/>
            </a:pPr>
            <a:r>
              <a:rPr lang="en-US" sz="1050" dirty="0">
                <a:solidFill>
                  <a:srgbClr val="2B3440"/>
                </a:solidFill>
                <a:latin typeface="Calibri" pitchFamily="34" charset="0"/>
                <a:ea typeface="Calibri" pitchFamily="34" charset="-122"/>
                <a:cs typeface="Calibri" pitchFamily="34" charset="-120"/>
              </a:rPr>
              <a:t>VENDOR_ID</a:t>
            </a:r>
            <a:endParaRPr lang="en-US" sz="1050" dirty="0"/>
          </a:p>
        </p:txBody>
      </p:sp>
      <p:sp>
        <p:nvSpPr>
          <p:cNvPr id="23" name="Shape 21"/>
          <p:cNvSpPr/>
          <p:nvPr/>
        </p:nvSpPr>
        <p:spPr>
          <a:xfrm>
            <a:off x="3310128" y="3749040"/>
            <a:ext cx="1417320" cy="118872"/>
          </a:xfrm>
          <a:prstGeom prst="rect">
            <a:avLst/>
          </a:prstGeom>
          <a:solidFill>
            <a:srgbClr val="E3E9F0"/>
          </a:solidFill>
          <a:ln w="12700">
            <a:solidFill>
              <a:srgbClr val="E3E9F0"/>
            </a:solidFill>
            <a:prstDash val="solid"/>
          </a:ln>
        </p:spPr>
      </p:sp>
      <p:sp>
        <p:nvSpPr>
          <p:cNvPr id="24" name="Shape 22"/>
          <p:cNvSpPr/>
          <p:nvPr/>
        </p:nvSpPr>
        <p:spPr>
          <a:xfrm>
            <a:off x="3310128" y="3749040"/>
            <a:ext cx="459920" cy="118872"/>
          </a:xfrm>
          <a:prstGeom prst="rect">
            <a:avLst/>
          </a:prstGeom>
          <a:solidFill>
            <a:srgbClr val="2F75B5"/>
          </a:solidFill>
          <a:ln w="12700">
            <a:solidFill>
              <a:srgbClr val="2F75B5"/>
            </a:solidFill>
            <a:prstDash val="solid"/>
          </a:ln>
        </p:spPr>
      </p:sp>
      <p:sp>
        <p:nvSpPr>
          <p:cNvPr id="25" name="Text 23"/>
          <p:cNvSpPr txBox="1"/>
          <p:nvPr/>
        </p:nvSpPr>
        <p:spPr>
          <a:xfrm>
            <a:off x="4773168" y="3675888"/>
            <a:ext cx="1143000" cy="256032"/>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3,245  (32.45%)</a:t>
            </a:r>
            <a:endParaRPr lang="en-US" sz="1000" dirty="0"/>
          </a:p>
        </p:txBody>
      </p:sp>
      <p:sp>
        <p:nvSpPr>
          <p:cNvPr id="26" name="Text 24"/>
          <p:cNvSpPr txBox="1"/>
          <p:nvPr/>
        </p:nvSpPr>
        <p:spPr>
          <a:xfrm>
            <a:off x="777240" y="4151376"/>
            <a:ext cx="2514600" cy="256032"/>
          </a:xfrm>
          <a:prstGeom prst="rect">
            <a:avLst/>
          </a:prstGeom>
          <a:noFill/>
          <a:ln/>
        </p:spPr>
        <p:txBody>
          <a:bodyPr wrap="square" lIns="0" tIns="0" rIns="0" bIns="0" rtlCol="0" anchor="ctr"/>
          <a:lstStyle/>
          <a:p>
            <a:pPr marL="0" indent="0">
              <a:buNone/>
            </a:pPr>
            <a:r>
              <a:rPr lang="en-US" sz="1050" dirty="0">
                <a:solidFill>
                  <a:srgbClr val="2B3440"/>
                </a:solidFill>
                <a:latin typeface="Calibri" pitchFamily="34" charset="0"/>
                <a:ea typeface="Calibri" pitchFamily="34" charset="-122"/>
                <a:cs typeface="Calibri" pitchFamily="34" charset="-120"/>
              </a:rPr>
              <a:t>AUTHORITY_CONTACTED</a:t>
            </a:r>
            <a:endParaRPr lang="en-US" sz="1050" dirty="0"/>
          </a:p>
        </p:txBody>
      </p:sp>
      <p:sp>
        <p:nvSpPr>
          <p:cNvPr id="27" name="Shape 25"/>
          <p:cNvSpPr/>
          <p:nvPr/>
        </p:nvSpPr>
        <p:spPr>
          <a:xfrm>
            <a:off x="3310128" y="4224528"/>
            <a:ext cx="1417320" cy="118872"/>
          </a:xfrm>
          <a:prstGeom prst="rect">
            <a:avLst/>
          </a:prstGeom>
          <a:solidFill>
            <a:srgbClr val="E3E9F0"/>
          </a:solidFill>
          <a:ln w="12700">
            <a:solidFill>
              <a:srgbClr val="E3E9F0"/>
            </a:solidFill>
            <a:prstDash val="solid"/>
          </a:ln>
        </p:spPr>
      </p:sp>
      <p:sp>
        <p:nvSpPr>
          <p:cNvPr id="28" name="Shape 26"/>
          <p:cNvSpPr/>
          <p:nvPr/>
        </p:nvSpPr>
        <p:spPr>
          <a:xfrm>
            <a:off x="3310128" y="4224528"/>
            <a:ext cx="275669" cy="118872"/>
          </a:xfrm>
          <a:prstGeom prst="rect">
            <a:avLst/>
          </a:prstGeom>
          <a:solidFill>
            <a:srgbClr val="2F75B5"/>
          </a:solidFill>
          <a:ln w="12700">
            <a:solidFill>
              <a:srgbClr val="2F75B5"/>
            </a:solidFill>
            <a:prstDash val="solid"/>
          </a:ln>
        </p:spPr>
      </p:sp>
      <p:sp>
        <p:nvSpPr>
          <p:cNvPr id="29" name="Text 27"/>
          <p:cNvSpPr txBox="1"/>
          <p:nvPr/>
        </p:nvSpPr>
        <p:spPr>
          <a:xfrm>
            <a:off x="4773168" y="4151376"/>
            <a:ext cx="1143000" cy="256032"/>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1,945  (19.45%)</a:t>
            </a:r>
            <a:endParaRPr lang="en-US" sz="1000" dirty="0"/>
          </a:p>
        </p:txBody>
      </p:sp>
      <p:sp>
        <p:nvSpPr>
          <p:cNvPr id="30" name="Text 28"/>
          <p:cNvSpPr txBox="1"/>
          <p:nvPr/>
        </p:nvSpPr>
        <p:spPr>
          <a:xfrm>
            <a:off x="777240" y="4626864"/>
            <a:ext cx="2514600" cy="256032"/>
          </a:xfrm>
          <a:prstGeom prst="rect">
            <a:avLst/>
          </a:prstGeom>
          <a:noFill/>
          <a:ln/>
        </p:spPr>
        <p:txBody>
          <a:bodyPr wrap="square" lIns="0" tIns="0" rIns="0" bIns="0" rtlCol="0" anchor="ctr"/>
          <a:lstStyle/>
          <a:p>
            <a:pPr marL="0" indent="0">
              <a:buNone/>
            </a:pPr>
            <a:r>
              <a:rPr lang="en-US" sz="1050" dirty="0">
                <a:solidFill>
                  <a:srgbClr val="2B3440"/>
                </a:solidFill>
                <a:latin typeface="Calibri" pitchFamily="34" charset="0"/>
                <a:ea typeface="Calibri" pitchFamily="34" charset="-122"/>
                <a:cs typeface="Calibri" pitchFamily="34" charset="-120"/>
              </a:rPr>
              <a:t>CUSTOMER_EDUCATION_LEVEL</a:t>
            </a:r>
            <a:endParaRPr lang="en-US" sz="1050" dirty="0"/>
          </a:p>
        </p:txBody>
      </p:sp>
      <p:sp>
        <p:nvSpPr>
          <p:cNvPr id="31" name="Shape 29"/>
          <p:cNvSpPr/>
          <p:nvPr/>
        </p:nvSpPr>
        <p:spPr>
          <a:xfrm>
            <a:off x="3310128" y="4700016"/>
            <a:ext cx="1417320" cy="118872"/>
          </a:xfrm>
          <a:prstGeom prst="rect">
            <a:avLst/>
          </a:prstGeom>
          <a:solidFill>
            <a:srgbClr val="E3E9F0"/>
          </a:solidFill>
          <a:ln w="12700">
            <a:solidFill>
              <a:srgbClr val="E3E9F0"/>
            </a:solidFill>
            <a:prstDash val="solid"/>
          </a:ln>
        </p:spPr>
      </p:sp>
      <p:sp>
        <p:nvSpPr>
          <p:cNvPr id="32" name="Shape 30"/>
          <p:cNvSpPr/>
          <p:nvPr/>
        </p:nvSpPr>
        <p:spPr>
          <a:xfrm>
            <a:off x="3310128" y="4700016"/>
            <a:ext cx="74976" cy="118872"/>
          </a:xfrm>
          <a:prstGeom prst="rect">
            <a:avLst/>
          </a:prstGeom>
          <a:solidFill>
            <a:srgbClr val="2F75B5"/>
          </a:solidFill>
          <a:ln w="12700">
            <a:solidFill>
              <a:srgbClr val="2F75B5"/>
            </a:solidFill>
            <a:prstDash val="solid"/>
          </a:ln>
        </p:spPr>
      </p:sp>
      <p:sp>
        <p:nvSpPr>
          <p:cNvPr id="33" name="Text 31"/>
          <p:cNvSpPr txBox="1"/>
          <p:nvPr/>
        </p:nvSpPr>
        <p:spPr>
          <a:xfrm>
            <a:off x="4773168" y="4626864"/>
            <a:ext cx="1143000" cy="256032"/>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529  (5.29%)</a:t>
            </a:r>
            <a:endParaRPr lang="en-US" sz="1000" dirty="0"/>
          </a:p>
        </p:txBody>
      </p:sp>
      <p:sp>
        <p:nvSpPr>
          <p:cNvPr id="34" name="Text 32"/>
          <p:cNvSpPr txBox="1"/>
          <p:nvPr/>
        </p:nvSpPr>
        <p:spPr>
          <a:xfrm>
            <a:off x="777240" y="5102352"/>
            <a:ext cx="2514600" cy="256032"/>
          </a:xfrm>
          <a:prstGeom prst="rect">
            <a:avLst/>
          </a:prstGeom>
          <a:noFill/>
          <a:ln/>
        </p:spPr>
        <p:txBody>
          <a:bodyPr wrap="square" lIns="0" tIns="0" rIns="0" bIns="0" rtlCol="0" anchor="ctr"/>
          <a:lstStyle/>
          <a:p>
            <a:pPr marL="0" indent="0">
              <a:buNone/>
            </a:pPr>
            <a:r>
              <a:rPr lang="en-US" sz="1050" dirty="0">
                <a:solidFill>
                  <a:srgbClr val="2B3440"/>
                </a:solidFill>
                <a:latin typeface="Calibri" pitchFamily="34" charset="0"/>
                <a:ea typeface="Calibri" pitchFamily="34" charset="-122"/>
                <a:cs typeface="Calibri" pitchFamily="34" charset="-120"/>
              </a:rPr>
              <a:t>CITY</a:t>
            </a:r>
            <a:endParaRPr lang="en-US" sz="1050" dirty="0"/>
          </a:p>
        </p:txBody>
      </p:sp>
      <p:sp>
        <p:nvSpPr>
          <p:cNvPr id="35" name="Shape 33"/>
          <p:cNvSpPr/>
          <p:nvPr/>
        </p:nvSpPr>
        <p:spPr>
          <a:xfrm>
            <a:off x="3310128" y="5175504"/>
            <a:ext cx="1417320" cy="118872"/>
          </a:xfrm>
          <a:prstGeom prst="rect">
            <a:avLst/>
          </a:prstGeom>
          <a:solidFill>
            <a:srgbClr val="E3E9F0"/>
          </a:solidFill>
          <a:ln w="12700">
            <a:solidFill>
              <a:srgbClr val="E3E9F0"/>
            </a:solidFill>
            <a:prstDash val="solid"/>
          </a:ln>
        </p:spPr>
      </p:sp>
      <p:sp>
        <p:nvSpPr>
          <p:cNvPr id="36" name="Shape 34"/>
          <p:cNvSpPr/>
          <p:nvPr/>
        </p:nvSpPr>
        <p:spPr>
          <a:xfrm>
            <a:off x="3310128" y="5175504"/>
            <a:ext cx="27432" cy="118872"/>
          </a:xfrm>
          <a:prstGeom prst="rect">
            <a:avLst/>
          </a:prstGeom>
          <a:solidFill>
            <a:srgbClr val="2F75B5"/>
          </a:solidFill>
          <a:ln w="12700">
            <a:solidFill>
              <a:srgbClr val="2F75B5"/>
            </a:solidFill>
            <a:prstDash val="solid"/>
          </a:ln>
        </p:spPr>
      </p:sp>
      <p:sp>
        <p:nvSpPr>
          <p:cNvPr id="37" name="Text 35"/>
          <p:cNvSpPr txBox="1"/>
          <p:nvPr/>
        </p:nvSpPr>
        <p:spPr>
          <a:xfrm>
            <a:off x="4773168" y="5102352"/>
            <a:ext cx="1143000" cy="256032"/>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54  (0.54%)</a:t>
            </a:r>
            <a:endParaRPr lang="en-US" sz="1000" dirty="0"/>
          </a:p>
        </p:txBody>
      </p:sp>
      <p:sp>
        <p:nvSpPr>
          <p:cNvPr id="38" name="Text 36"/>
          <p:cNvSpPr txBox="1"/>
          <p:nvPr/>
        </p:nvSpPr>
        <p:spPr>
          <a:xfrm>
            <a:off x="777240" y="5577840"/>
            <a:ext cx="2514600" cy="256032"/>
          </a:xfrm>
          <a:prstGeom prst="rect">
            <a:avLst/>
          </a:prstGeom>
          <a:noFill/>
          <a:ln/>
        </p:spPr>
        <p:txBody>
          <a:bodyPr wrap="square" lIns="0" tIns="0" rIns="0" bIns="0" rtlCol="0" anchor="ctr"/>
          <a:lstStyle/>
          <a:p>
            <a:pPr marL="0" indent="0">
              <a:buNone/>
            </a:pPr>
            <a:r>
              <a:rPr lang="en-US" sz="1050" dirty="0">
                <a:solidFill>
                  <a:srgbClr val="2B3440"/>
                </a:solidFill>
                <a:latin typeface="Calibri" pitchFamily="34" charset="0"/>
                <a:ea typeface="Calibri" pitchFamily="34" charset="-122"/>
                <a:cs typeface="Calibri" pitchFamily="34" charset="-120"/>
              </a:rPr>
              <a:t>INCIDENT_CITY</a:t>
            </a:r>
            <a:endParaRPr lang="en-US" sz="1050" dirty="0"/>
          </a:p>
        </p:txBody>
      </p:sp>
      <p:sp>
        <p:nvSpPr>
          <p:cNvPr id="39" name="Shape 37"/>
          <p:cNvSpPr/>
          <p:nvPr/>
        </p:nvSpPr>
        <p:spPr>
          <a:xfrm>
            <a:off x="3310128" y="5650992"/>
            <a:ext cx="1417320" cy="118872"/>
          </a:xfrm>
          <a:prstGeom prst="rect">
            <a:avLst/>
          </a:prstGeom>
          <a:solidFill>
            <a:srgbClr val="E3E9F0"/>
          </a:solidFill>
          <a:ln w="12700">
            <a:solidFill>
              <a:srgbClr val="E3E9F0"/>
            </a:solidFill>
            <a:prstDash val="solid"/>
          </a:ln>
        </p:spPr>
      </p:sp>
      <p:sp>
        <p:nvSpPr>
          <p:cNvPr id="40" name="Shape 38"/>
          <p:cNvSpPr/>
          <p:nvPr/>
        </p:nvSpPr>
        <p:spPr>
          <a:xfrm>
            <a:off x="3310128" y="5650992"/>
            <a:ext cx="27432" cy="118872"/>
          </a:xfrm>
          <a:prstGeom prst="rect">
            <a:avLst/>
          </a:prstGeom>
          <a:solidFill>
            <a:srgbClr val="2F75B5"/>
          </a:solidFill>
          <a:ln w="12700">
            <a:solidFill>
              <a:srgbClr val="2F75B5"/>
            </a:solidFill>
            <a:prstDash val="solid"/>
          </a:ln>
        </p:spPr>
      </p:sp>
      <p:sp>
        <p:nvSpPr>
          <p:cNvPr id="41" name="Text 39"/>
          <p:cNvSpPr txBox="1"/>
          <p:nvPr/>
        </p:nvSpPr>
        <p:spPr>
          <a:xfrm>
            <a:off x="4773168" y="5577840"/>
            <a:ext cx="1143000" cy="256032"/>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46  (0.46%)</a:t>
            </a:r>
            <a:endParaRPr lang="en-US" sz="1000" dirty="0"/>
          </a:p>
        </p:txBody>
      </p:sp>
      <p:sp>
        <p:nvSpPr>
          <p:cNvPr id="42" name="Shape 40"/>
          <p:cNvSpPr/>
          <p:nvPr/>
        </p:nvSpPr>
        <p:spPr>
          <a:xfrm>
            <a:off x="6199632" y="2606040"/>
            <a:ext cx="5532120" cy="3520440"/>
          </a:xfrm>
          <a:prstGeom prst="roundRect">
            <a:avLst>
              <a:gd name="adj" fmla="val 2078"/>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43" name="Text 41"/>
          <p:cNvSpPr txBox="1"/>
          <p:nvPr/>
        </p:nvSpPr>
        <p:spPr>
          <a:xfrm>
            <a:off x="6473952" y="2788920"/>
            <a:ext cx="4937760" cy="292608"/>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Validation Checks Passed</a:t>
            </a:r>
            <a:endParaRPr lang="en-US" sz="1500" dirty="0"/>
          </a:p>
        </p:txBody>
      </p:sp>
      <p:sp>
        <p:nvSpPr>
          <p:cNvPr id="44" name="Shape 42"/>
          <p:cNvSpPr/>
          <p:nvPr/>
        </p:nvSpPr>
        <p:spPr>
          <a:xfrm>
            <a:off x="6473952" y="3246120"/>
            <a:ext cx="201168" cy="201168"/>
          </a:xfrm>
          <a:prstGeom prst="ellipse">
            <a:avLst/>
          </a:prstGeom>
          <a:solidFill>
            <a:srgbClr val="008C95"/>
          </a:solidFill>
          <a:ln w="12700">
            <a:solidFill>
              <a:srgbClr val="008C95"/>
            </a:solidFill>
            <a:prstDash val="solid"/>
          </a:ln>
        </p:spPr>
      </p:sp>
      <p:sp>
        <p:nvSpPr>
          <p:cNvPr id="45" name="Text 43"/>
          <p:cNvSpPr txBox="1"/>
          <p:nvPr/>
        </p:nvSpPr>
        <p:spPr>
          <a:xfrm>
            <a:off x="6473952" y="3246120"/>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46" name="Text 44"/>
          <p:cNvSpPr txBox="1"/>
          <p:nvPr/>
        </p:nvSpPr>
        <p:spPr>
          <a:xfrm>
            <a:off x="6784848" y="3200400"/>
            <a:ext cx="4663440" cy="310896"/>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No full-row duplicates identified.</a:t>
            </a:r>
            <a:endParaRPr lang="en-US" sz="1150" dirty="0"/>
          </a:p>
        </p:txBody>
      </p:sp>
      <p:sp>
        <p:nvSpPr>
          <p:cNvPr id="47" name="Shape 45"/>
          <p:cNvSpPr/>
          <p:nvPr/>
        </p:nvSpPr>
        <p:spPr>
          <a:xfrm>
            <a:off x="6473952" y="3721608"/>
            <a:ext cx="201168" cy="201168"/>
          </a:xfrm>
          <a:prstGeom prst="ellipse">
            <a:avLst/>
          </a:prstGeom>
          <a:solidFill>
            <a:srgbClr val="008C95"/>
          </a:solidFill>
          <a:ln w="12700">
            <a:solidFill>
              <a:srgbClr val="008C95"/>
            </a:solidFill>
            <a:prstDash val="solid"/>
          </a:ln>
        </p:spPr>
      </p:sp>
      <p:sp>
        <p:nvSpPr>
          <p:cNvPr id="48" name="Text 46"/>
          <p:cNvSpPr txBox="1"/>
          <p:nvPr/>
        </p:nvSpPr>
        <p:spPr>
          <a:xfrm>
            <a:off x="6473952" y="3721608"/>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49" name="Text 47"/>
          <p:cNvSpPr txBox="1"/>
          <p:nvPr/>
        </p:nvSpPr>
        <p:spPr>
          <a:xfrm>
            <a:off x="6784848" y="3675888"/>
            <a:ext cx="4663440" cy="310896"/>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No invalid Agent_ID references identified.</a:t>
            </a:r>
            <a:endParaRPr lang="en-US" sz="1150" dirty="0"/>
          </a:p>
        </p:txBody>
      </p:sp>
      <p:sp>
        <p:nvSpPr>
          <p:cNvPr id="50" name="Shape 48"/>
          <p:cNvSpPr/>
          <p:nvPr/>
        </p:nvSpPr>
        <p:spPr>
          <a:xfrm>
            <a:off x="6473952" y="4197096"/>
            <a:ext cx="201168" cy="201168"/>
          </a:xfrm>
          <a:prstGeom prst="ellipse">
            <a:avLst/>
          </a:prstGeom>
          <a:solidFill>
            <a:srgbClr val="008C95"/>
          </a:solidFill>
          <a:ln w="12700">
            <a:solidFill>
              <a:srgbClr val="008C95"/>
            </a:solidFill>
            <a:prstDash val="solid"/>
          </a:ln>
        </p:spPr>
      </p:sp>
      <p:sp>
        <p:nvSpPr>
          <p:cNvPr id="51" name="Text 49"/>
          <p:cNvSpPr txBox="1"/>
          <p:nvPr/>
        </p:nvSpPr>
        <p:spPr>
          <a:xfrm>
            <a:off x="6473952" y="4197096"/>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52" name="Text 50"/>
          <p:cNvSpPr txBox="1"/>
          <p:nvPr/>
        </p:nvSpPr>
        <p:spPr>
          <a:xfrm>
            <a:off x="6784848" y="4151376"/>
            <a:ext cx="4663440" cy="310896"/>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No invalid non-null Vendor_ID references identified.</a:t>
            </a:r>
            <a:endParaRPr lang="en-US" sz="1150" dirty="0"/>
          </a:p>
        </p:txBody>
      </p:sp>
      <p:sp>
        <p:nvSpPr>
          <p:cNvPr id="53" name="Shape 51"/>
          <p:cNvSpPr/>
          <p:nvPr/>
        </p:nvSpPr>
        <p:spPr>
          <a:xfrm>
            <a:off x="6473952" y="4672584"/>
            <a:ext cx="201168" cy="201168"/>
          </a:xfrm>
          <a:prstGeom prst="ellipse">
            <a:avLst/>
          </a:prstGeom>
          <a:solidFill>
            <a:srgbClr val="008C95"/>
          </a:solidFill>
          <a:ln w="12700">
            <a:solidFill>
              <a:srgbClr val="008C95"/>
            </a:solidFill>
            <a:prstDash val="solid"/>
          </a:ln>
        </p:spPr>
      </p:sp>
      <p:sp>
        <p:nvSpPr>
          <p:cNvPr id="54" name="Text 52"/>
          <p:cNvSpPr txBox="1"/>
          <p:nvPr/>
        </p:nvSpPr>
        <p:spPr>
          <a:xfrm>
            <a:off x="6473952" y="4672584"/>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55" name="Text 53"/>
          <p:cNvSpPr txBox="1"/>
          <p:nvPr/>
        </p:nvSpPr>
        <p:spPr>
          <a:xfrm>
            <a:off x="6784848" y="4626864"/>
            <a:ext cx="4663440" cy="310896"/>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Reporting delay remained between 0 and 5 days.</a:t>
            </a:r>
            <a:endParaRPr lang="en-US" sz="1150" dirty="0"/>
          </a:p>
        </p:txBody>
      </p:sp>
      <p:sp>
        <p:nvSpPr>
          <p:cNvPr id="56" name="Shape 54"/>
          <p:cNvSpPr/>
          <p:nvPr/>
        </p:nvSpPr>
        <p:spPr>
          <a:xfrm>
            <a:off x="6473952" y="5148072"/>
            <a:ext cx="201168" cy="201168"/>
          </a:xfrm>
          <a:prstGeom prst="ellipse">
            <a:avLst/>
          </a:prstGeom>
          <a:solidFill>
            <a:srgbClr val="008C95"/>
          </a:solidFill>
          <a:ln w="12700">
            <a:solidFill>
              <a:srgbClr val="008C95"/>
            </a:solidFill>
            <a:prstDash val="solid"/>
          </a:ln>
        </p:spPr>
      </p:sp>
      <p:sp>
        <p:nvSpPr>
          <p:cNvPr id="57" name="Text 55"/>
          <p:cNvSpPr txBox="1"/>
          <p:nvPr/>
        </p:nvSpPr>
        <p:spPr>
          <a:xfrm>
            <a:off x="6473952" y="5148072"/>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58" name="Text 56"/>
          <p:cNvSpPr txBox="1"/>
          <p:nvPr/>
        </p:nvSpPr>
        <p:spPr>
          <a:xfrm>
            <a:off x="6784848" y="5102352"/>
            <a:ext cx="4663440" cy="310896"/>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No policy effective date occurred after the loss date.</a:t>
            </a:r>
            <a:endParaRPr lang="en-US" sz="1150" dirty="0"/>
          </a:p>
        </p:txBody>
      </p:sp>
      <p:sp>
        <p:nvSpPr>
          <p:cNvPr id="59" name="Shape 57"/>
          <p:cNvSpPr/>
          <p:nvPr/>
        </p:nvSpPr>
        <p:spPr>
          <a:xfrm>
            <a:off x="6473952" y="5623560"/>
            <a:ext cx="201168" cy="201168"/>
          </a:xfrm>
          <a:prstGeom prst="ellipse">
            <a:avLst/>
          </a:prstGeom>
          <a:solidFill>
            <a:srgbClr val="008C95"/>
          </a:solidFill>
          <a:ln w="12700">
            <a:solidFill>
              <a:srgbClr val="008C95"/>
            </a:solidFill>
            <a:prstDash val="solid"/>
          </a:ln>
        </p:spPr>
      </p:sp>
      <p:sp>
        <p:nvSpPr>
          <p:cNvPr id="60" name="Text 58"/>
          <p:cNvSpPr txBox="1"/>
          <p:nvPr/>
        </p:nvSpPr>
        <p:spPr>
          <a:xfrm>
            <a:off x="6473952" y="5623560"/>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61" name="Text 59"/>
          <p:cNvSpPr txBox="1"/>
          <p:nvPr/>
        </p:nvSpPr>
        <p:spPr>
          <a:xfrm>
            <a:off x="6784848" y="5577840"/>
            <a:ext cx="4663440" cy="310896"/>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No report date occurred before the loss date.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SQL Data Cleaning &amp; Transformation</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10</a:t>
            </a:r>
            <a:endParaRPr lang="en-US" sz="1000" dirty="0"/>
          </a:p>
        </p:txBody>
      </p:sp>
      <p:sp>
        <p:nvSpPr>
          <p:cNvPr id="4" name="Shape 2"/>
          <p:cNvSpPr/>
          <p:nvPr/>
        </p:nvSpPr>
        <p:spPr>
          <a:xfrm>
            <a:off x="502920" y="1234440"/>
            <a:ext cx="3703320" cy="420624"/>
          </a:xfrm>
          <a:prstGeom prst="roundRect">
            <a:avLst>
              <a:gd name="adj" fmla="val 13043"/>
            </a:avLst>
          </a:prstGeom>
          <a:solidFill>
            <a:srgbClr val="6B7684"/>
          </a:solidFill>
          <a:ln w="12700">
            <a:solidFill>
              <a:srgbClr val="6B7684"/>
            </a:solidFill>
            <a:prstDash val="solid"/>
          </a:ln>
        </p:spPr>
      </p:sp>
      <p:sp>
        <p:nvSpPr>
          <p:cNvPr id="5" name="Text 3"/>
          <p:cNvSpPr txBox="1"/>
          <p:nvPr/>
        </p:nvSpPr>
        <p:spPr>
          <a:xfrm>
            <a:off x="502920" y="1234440"/>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Raw Data</a:t>
            </a:r>
            <a:endParaRPr lang="en-US" sz="1150" dirty="0"/>
          </a:p>
        </p:txBody>
      </p:sp>
      <p:sp>
        <p:nvSpPr>
          <p:cNvPr id="6" name="Shape 4"/>
          <p:cNvSpPr/>
          <p:nvPr/>
        </p:nvSpPr>
        <p:spPr>
          <a:xfrm>
            <a:off x="2359152" y="1673352"/>
            <a:ext cx="0" cy="118872"/>
          </a:xfrm>
          <a:prstGeom prst="line">
            <a:avLst/>
          </a:prstGeom>
          <a:noFill/>
          <a:ln w="22225">
            <a:solidFill>
              <a:srgbClr val="2F75B5"/>
            </a:solidFill>
            <a:prstDash val="solid"/>
            <a:tailEnd type="triangle"/>
          </a:ln>
        </p:spPr>
      </p:sp>
      <p:sp>
        <p:nvSpPr>
          <p:cNvPr id="7" name="Shape 5"/>
          <p:cNvSpPr/>
          <p:nvPr/>
        </p:nvSpPr>
        <p:spPr>
          <a:xfrm>
            <a:off x="502920" y="1787652"/>
            <a:ext cx="3703320" cy="420624"/>
          </a:xfrm>
          <a:prstGeom prst="roundRect">
            <a:avLst>
              <a:gd name="adj" fmla="val 13043"/>
            </a:avLst>
          </a:prstGeom>
          <a:solidFill>
            <a:srgbClr val="2F75B5"/>
          </a:solidFill>
          <a:ln w="12700">
            <a:solidFill>
              <a:srgbClr val="2F75B5"/>
            </a:solidFill>
            <a:prstDash val="solid"/>
          </a:ln>
        </p:spPr>
      </p:sp>
      <p:sp>
        <p:nvSpPr>
          <p:cNvPr id="8" name="Text 6"/>
          <p:cNvSpPr txBox="1"/>
          <p:nvPr/>
        </p:nvSpPr>
        <p:spPr>
          <a:xfrm>
            <a:off x="502920" y="1787652"/>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Data Type Validation</a:t>
            </a:r>
            <a:endParaRPr lang="en-US" sz="1150" dirty="0"/>
          </a:p>
        </p:txBody>
      </p:sp>
      <p:sp>
        <p:nvSpPr>
          <p:cNvPr id="9" name="Shape 7"/>
          <p:cNvSpPr/>
          <p:nvPr/>
        </p:nvSpPr>
        <p:spPr>
          <a:xfrm>
            <a:off x="2359152" y="2226564"/>
            <a:ext cx="0" cy="118872"/>
          </a:xfrm>
          <a:prstGeom prst="line">
            <a:avLst/>
          </a:prstGeom>
          <a:noFill/>
          <a:ln w="22225">
            <a:solidFill>
              <a:srgbClr val="2F75B5"/>
            </a:solidFill>
            <a:prstDash val="solid"/>
            <a:tailEnd type="triangle"/>
          </a:ln>
        </p:spPr>
      </p:sp>
      <p:sp>
        <p:nvSpPr>
          <p:cNvPr id="10" name="Shape 8"/>
          <p:cNvSpPr/>
          <p:nvPr/>
        </p:nvSpPr>
        <p:spPr>
          <a:xfrm>
            <a:off x="502920" y="2340864"/>
            <a:ext cx="3703320" cy="420624"/>
          </a:xfrm>
          <a:prstGeom prst="roundRect">
            <a:avLst>
              <a:gd name="adj" fmla="val 13043"/>
            </a:avLst>
          </a:prstGeom>
          <a:solidFill>
            <a:srgbClr val="2F75B5"/>
          </a:solidFill>
          <a:ln w="12700">
            <a:solidFill>
              <a:srgbClr val="2F75B5"/>
            </a:solidFill>
            <a:prstDash val="solid"/>
          </a:ln>
        </p:spPr>
      </p:sp>
      <p:sp>
        <p:nvSpPr>
          <p:cNvPr id="11" name="Text 9"/>
          <p:cNvSpPr txBox="1"/>
          <p:nvPr/>
        </p:nvSpPr>
        <p:spPr>
          <a:xfrm>
            <a:off x="502920" y="2340864"/>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NULL / Blank Handling</a:t>
            </a:r>
            <a:endParaRPr lang="en-US" sz="1150" dirty="0"/>
          </a:p>
        </p:txBody>
      </p:sp>
      <p:sp>
        <p:nvSpPr>
          <p:cNvPr id="12" name="Shape 10"/>
          <p:cNvSpPr/>
          <p:nvPr/>
        </p:nvSpPr>
        <p:spPr>
          <a:xfrm>
            <a:off x="2359152" y="2779776"/>
            <a:ext cx="0" cy="118872"/>
          </a:xfrm>
          <a:prstGeom prst="line">
            <a:avLst/>
          </a:prstGeom>
          <a:noFill/>
          <a:ln w="22225">
            <a:solidFill>
              <a:srgbClr val="2F75B5"/>
            </a:solidFill>
            <a:prstDash val="solid"/>
            <a:tailEnd type="triangle"/>
          </a:ln>
        </p:spPr>
      </p:sp>
      <p:sp>
        <p:nvSpPr>
          <p:cNvPr id="13" name="Shape 11"/>
          <p:cNvSpPr/>
          <p:nvPr/>
        </p:nvSpPr>
        <p:spPr>
          <a:xfrm>
            <a:off x="502920" y="2894076"/>
            <a:ext cx="3703320" cy="420624"/>
          </a:xfrm>
          <a:prstGeom prst="roundRect">
            <a:avLst>
              <a:gd name="adj" fmla="val 13043"/>
            </a:avLst>
          </a:prstGeom>
          <a:solidFill>
            <a:srgbClr val="2F75B5"/>
          </a:solidFill>
          <a:ln w="12700">
            <a:solidFill>
              <a:srgbClr val="2F75B5"/>
            </a:solidFill>
            <a:prstDash val="solid"/>
          </a:ln>
        </p:spPr>
      </p:sp>
      <p:sp>
        <p:nvSpPr>
          <p:cNvPr id="14" name="Text 12"/>
          <p:cNvSpPr txBox="1"/>
          <p:nvPr/>
        </p:nvSpPr>
        <p:spPr>
          <a:xfrm>
            <a:off x="502920" y="2894076"/>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Duplicate Validation</a:t>
            </a:r>
            <a:endParaRPr lang="en-US" sz="1150" dirty="0"/>
          </a:p>
        </p:txBody>
      </p:sp>
      <p:sp>
        <p:nvSpPr>
          <p:cNvPr id="15" name="Shape 13"/>
          <p:cNvSpPr/>
          <p:nvPr/>
        </p:nvSpPr>
        <p:spPr>
          <a:xfrm>
            <a:off x="2359152" y="3332988"/>
            <a:ext cx="0" cy="118872"/>
          </a:xfrm>
          <a:prstGeom prst="line">
            <a:avLst/>
          </a:prstGeom>
          <a:noFill/>
          <a:ln w="22225">
            <a:solidFill>
              <a:srgbClr val="2F75B5"/>
            </a:solidFill>
            <a:prstDash val="solid"/>
            <a:tailEnd type="triangle"/>
          </a:ln>
        </p:spPr>
      </p:sp>
      <p:sp>
        <p:nvSpPr>
          <p:cNvPr id="16" name="Shape 14"/>
          <p:cNvSpPr/>
          <p:nvPr/>
        </p:nvSpPr>
        <p:spPr>
          <a:xfrm>
            <a:off x="502920" y="3447288"/>
            <a:ext cx="3703320" cy="420624"/>
          </a:xfrm>
          <a:prstGeom prst="roundRect">
            <a:avLst>
              <a:gd name="adj" fmla="val 13043"/>
            </a:avLst>
          </a:prstGeom>
          <a:solidFill>
            <a:srgbClr val="2F75B5"/>
          </a:solidFill>
          <a:ln w="12700">
            <a:solidFill>
              <a:srgbClr val="2F75B5"/>
            </a:solidFill>
            <a:prstDash val="solid"/>
          </a:ln>
        </p:spPr>
      </p:sp>
      <p:sp>
        <p:nvSpPr>
          <p:cNvPr id="17" name="Text 15"/>
          <p:cNvSpPr txBox="1"/>
          <p:nvPr/>
        </p:nvSpPr>
        <p:spPr>
          <a:xfrm>
            <a:off x="502920" y="3447288"/>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Foreign-Key Validation</a:t>
            </a:r>
            <a:endParaRPr lang="en-US" sz="1150" dirty="0"/>
          </a:p>
        </p:txBody>
      </p:sp>
      <p:sp>
        <p:nvSpPr>
          <p:cNvPr id="18" name="Shape 16"/>
          <p:cNvSpPr/>
          <p:nvPr/>
        </p:nvSpPr>
        <p:spPr>
          <a:xfrm>
            <a:off x="2359152" y="3886200"/>
            <a:ext cx="0" cy="118872"/>
          </a:xfrm>
          <a:prstGeom prst="line">
            <a:avLst/>
          </a:prstGeom>
          <a:noFill/>
          <a:ln w="22225">
            <a:solidFill>
              <a:srgbClr val="2F75B5"/>
            </a:solidFill>
            <a:prstDash val="solid"/>
            <a:tailEnd type="triangle"/>
          </a:ln>
        </p:spPr>
      </p:sp>
      <p:sp>
        <p:nvSpPr>
          <p:cNvPr id="19" name="Shape 17"/>
          <p:cNvSpPr/>
          <p:nvPr/>
        </p:nvSpPr>
        <p:spPr>
          <a:xfrm>
            <a:off x="502920" y="4000500"/>
            <a:ext cx="3703320" cy="420624"/>
          </a:xfrm>
          <a:prstGeom prst="roundRect">
            <a:avLst>
              <a:gd name="adj" fmla="val 13043"/>
            </a:avLst>
          </a:prstGeom>
          <a:solidFill>
            <a:srgbClr val="2F75B5"/>
          </a:solidFill>
          <a:ln w="12700">
            <a:solidFill>
              <a:srgbClr val="2F75B5"/>
            </a:solidFill>
            <a:prstDash val="solid"/>
          </a:ln>
        </p:spPr>
      </p:sp>
      <p:sp>
        <p:nvSpPr>
          <p:cNvPr id="20" name="Text 18"/>
          <p:cNvSpPr txBox="1"/>
          <p:nvPr/>
        </p:nvSpPr>
        <p:spPr>
          <a:xfrm>
            <a:off x="502920" y="4000500"/>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Date Validation</a:t>
            </a:r>
            <a:endParaRPr lang="en-US" sz="1150" dirty="0"/>
          </a:p>
        </p:txBody>
      </p:sp>
      <p:sp>
        <p:nvSpPr>
          <p:cNvPr id="21" name="Shape 19"/>
          <p:cNvSpPr/>
          <p:nvPr/>
        </p:nvSpPr>
        <p:spPr>
          <a:xfrm>
            <a:off x="2359152" y="4439412"/>
            <a:ext cx="0" cy="118872"/>
          </a:xfrm>
          <a:prstGeom prst="line">
            <a:avLst/>
          </a:prstGeom>
          <a:noFill/>
          <a:ln w="22225">
            <a:solidFill>
              <a:srgbClr val="2F75B5"/>
            </a:solidFill>
            <a:prstDash val="solid"/>
            <a:tailEnd type="triangle"/>
          </a:ln>
        </p:spPr>
      </p:sp>
      <p:sp>
        <p:nvSpPr>
          <p:cNvPr id="22" name="Shape 20"/>
          <p:cNvSpPr/>
          <p:nvPr/>
        </p:nvSpPr>
        <p:spPr>
          <a:xfrm>
            <a:off x="502920" y="4553712"/>
            <a:ext cx="3703320" cy="420624"/>
          </a:xfrm>
          <a:prstGeom prst="roundRect">
            <a:avLst>
              <a:gd name="adj" fmla="val 13043"/>
            </a:avLst>
          </a:prstGeom>
          <a:solidFill>
            <a:srgbClr val="2F75B5"/>
          </a:solidFill>
          <a:ln w="12700">
            <a:solidFill>
              <a:srgbClr val="2F75B5"/>
            </a:solidFill>
            <a:prstDash val="solid"/>
          </a:ln>
        </p:spPr>
      </p:sp>
      <p:sp>
        <p:nvSpPr>
          <p:cNvPr id="23" name="Text 21"/>
          <p:cNvSpPr txBox="1"/>
          <p:nvPr/>
        </p:nvSpPr>
        <p:spPr>
          <a:xfrm>
            <a:off x="502920" y="4553712"/>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Derived Columns</a:t>
            </a:r>
            <a:endParaRPr lang="en-US" sz="1150" dirty="0"/>
          </a:p>
        </p:txBody>
      </p:sp>
      <p:sp>
        <p:nvSpPr>
          <p:cNvPr id="24" name="Shape 22"/>
          <p:cNvSpPr/>
          <p:nvPr/>
        </p:nvSpPr>
        <p:spPr>
          <a:xfrm>
            <a:off x="2359152" y="4992624"/>
            <a:ext cx="0" cy="118872"/>
          </a:xfrm>
          <a:prstGeom prst="line">
            <a:avLst/>
          </a:prstGeom>
          <a:noFill/>
          <a:ln w="22225">
            <a:solidFill>
              <a:srgbClr val="2F75B5"/>
            </a:solidFill>
            <a:prstDash val="solid"/>
            <a:tailEnd type="triangle"/>
          </a:ln>
        </p:spPr>
      </p:sp>
      <p:sp>
        <p:nvSpPr>
          <p:cNvPr id="25" name="Shape 23"/>
          <p:cNvSpPr/>
          <p:nvPr/>
        </p:nvSpPr>
        <p:spPr>
          <a:xfrm>
            <a:off x="502920" y="5106924"/>
            <a:ext cx="3703320" cy="420624"/>
          </a:xfrm>
          <a:prstGeom prst="roundRect">
            <a:avLst>
              <a:gd name="adj" fmla="val 13043"/>
            </a:avLst>
          </a:prstGeom>
          <a:solidFill>
            <a:srgbClr val="2F75B5"/>
          </a:solidFill>
          <a:ln w="12700">
            <a:solidFill>
              <a:srgbClr val="2F75B5"/>
            </a:solidFill>
            <a:prstDash val="solid"/>
          </a:ln>
        </p:spPr>
      </p:sp>
      <p:sp>
        <p:nvSpPr>
          <p:cNvPr id="26" name="Text 24"/>
          <p:cNvSpPr txBox="1"/>
          <p:nvPr/>
        </p:nvSpPr>
        <p:spPr>
          <a:xfrm>
            <a:off x="502920" y="5106924"/>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Cleaned Tables</a:t>
            </a:r>
            <a:endParaRPr lang="en-US" sz="1150" dirty="0"/>
          </a:p>
        </p:txBody>
      </p:sp>
      <p:sp>
        <p:nvSpPr>
          <p:cNvPr id="27" name="Shape 25"/>
          <p:cNvSpPr/>
          <p:nvPr/>
        </p:nvSpPr>
        <p:spPr>
          <a:xfrm>
            <a:off x="2359152" y="5545836"/>
            <a:ext cx="0" cy="118872"/>
          </a:xfrm>
          <a:prstGeom prst="line">
            <a:avLst/>
          </a:prstGeom>
          <a:noFill/>
          <a:ln w="22225">
            <a:solidFill>
              <a:srgbClr val="2F75B5"/>
            </a:solidFill>
            <a:prstDash val="solid"/>
            <a:tailEnd type="triangle"/>
          </a:ln>
        </p:spPr>
      </p:sp>
      <p:sp>
        <p:nvSpPr>
          <p:cNvPr id="28" name="Shape 26"/>
          <p:cNvSpPr/>
          <p:nvPr/>
        </p:nvSpPr>
        <p:spPr>
          <a:xfrm>
            <a:off x="502920" y="5660136"/>
            <a:ext cx="3703320" cy="420624"/>
          </a:xfrm>
          <a:prstGeom prst="roundRect">
            <a:avLst>
              <a:gd name="adj" fmla="val 13043"/>
            </a:avLst>
          </a:prstGeom>
          <a:solidFill>
            <a:srgbClr val="17365D"/>
          </a:solidFill>
          <a:ln w="12700">
            <a:solidFill>
              <a:srgbClr val="17365D"/>
            </a:solidFill>
            <a:prstDash val="solid"/>
          </a:ln>
        </p:spPr>
      </p:sp>
      <p:sp>
        <p:nvSpPr>
          <p:cNvPr id="29" name="Text 27"/>
          <p:cNvSpPr txBox="1"/>
          <p:nvPr/>
        </p:nvSpPr>
        <p:spPr>
          <a:xfrm>
            <a:off x="502920" y="5660136"/>
            <a:ext cx="3703320" cy="420624"/>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CLAIMS_ANALYTICS_VW</a:t>
            </a:r>
            <a:endParaRPr lang="en-US" sz="1150" dirty="0"/>
          </a:p>
        </p:txBody>
      </p:sp>
      <p:sp>
        <p:nvSpPr>
          <p:cNvPr id="30" name="Shape 28"/>
          <p:cNvSpPr/>
          <p:nvPr/>
        </p:nvSpPr>
        <p:spPr>
          <a:xfrm>
            <a:off x="4526280" y="1234440"/>
            <a:ext cx="3794760" cy="4206240"/>
          </a:xfrm>
          <a:prstGeom prst="roundRect">
            <a:avLst>
              <a:gd name="adj" fmla="val 1928"/>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1" name="Text 29"/>
          <p:cNvSpPr txBox="1"/>
          <p:nvPr/>
        </p:nvSpPr>
        <p:spPr>
          <a:xfrm>
            <a:off x="4773168" y="1417320"/>
            <a:ext cx="3291840" cy="27432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Derived Fields Created</a:t>
            </a:r>
            <a:endParaRPr lang="en-US" sz="1500" dirty="0"/>
          </a:p>
        </p:txBody>
      </p:sp>
      <p:sp>
        <p:nvSpPr>
          <p:cNvPr id="32" name="Shape 30"/>
          <p:cNvSpPr/>
          <p:nvPr/>
        </p:nvSpPr>
        <p:spPr>
          <a:xfrm>
            <a:off x="4791456" y="1911096"/>
            <a:ext cx="91440" cy="91440"/>
          </a:xfrm>
          <a:prstGeom prst="ellipse">
            <a:avLst/>
          </a:prstGeom>
          <a:solidFill>
            <a:srgbClr val="008C95"/>
          </a:solidFill>
          <a:ln w="12700">
            <a:solidFill>
              <a:srgbClr val="008C95"/>
            </a:solidFill>
            <a:prstDash val="solid"/>
          </a:ln>
        </p:spPr>
      </p:sp>
      <p:sp>
        <p:nvSpPr>
          <p:cNvPr id="33" name="Text 31"/>
          <p:cNvSpPr txBox="1"/>
          <p:nvPr/>
        </p:nvSpPr>
        <p:spPr>
          <a:xfrm>
            <a:off x="5010912" y="1810512"/>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REPORTING_DELAY_DAYS</a:t>
            </a:r>
            <a:endParaRPr lang="en-US" sz="1100" dirty="0"/>
          </a:p>
        </p:txBody>
      </p:sp>
      <p:sp>
        <p:nvSpPr>
          <p:cNvPr id="34" name="Shape 32"/>
          <p:cNvSpPr/>
          <p:nvPr/>
        </p:nvSpPr>
        <p:spPr>
          <a:xfrm>
            <a:off x="4791456" y="2263140"/>
            <a:ext cx="91440" cy="91440"/>
          </a:xfrm>
          <a:prstGeom prst="ellipse">
            <a:avLst/>
          </a:prstGeom>
          <a:solidFill>
            <a:srgbClr val="008C95"/>
          </a:solidFill>
          <a:ln w="12700">
            <a:solidFill>
              <a:srgbClr val="008C95"/>
            </a:solidFill>
            <a:prstDash val="solid"/>
          </a:ln>
        </p:spPr>
      </p:sp>
      <p:sp>
        <p:nvSpPr>
          <p:cNvPr id="35" name="Text 33"/>
          <p:cNvSpPr txBox="1"/>
          <p:nvPr/>
        </p:nvSpPr>
        <p:spPr>
          <a:xfrm>
            <a:off x="5010912" y="2162556"/>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CLAIM_TO_PREMIUM_RATIO</a:t>
            </a:r>
            <a:endParaRPr lang="en-US" sz="1100" dirty="0"/>
          </a:p>
        </p:txBody>
      </p:sp>
      <p:sp>
        <p:nvSpPr>
          <p:cNvPr id="36" name="Shape 34"/>
          <p:cNvSpPr/>
          <p:nvPr/>
        </p:nvSpPr>
        <p:spPr>
          <a:xfrm>
            <a:off x="4791456" y="2615184"/>
            <a:ext cx="91440" cy="91440"/>
          </a:xfrm>
          <a:prstGeom prst="ellipse">
            <a:avLst/>
          </a:prstGeom>
          <a:solidFill>
            <a:srgbClr val="008C95"/>
          </a:solidFill>
          <a:ln w="12700">
            <a:solidFill>
              <a:srgbClr val="008C95"/>
            </a:solidFill>
            <a:prstDash val="solid"/>
          </a:ln>
        </p:spPr>
      </p:sp>
      <p:sp>
        <p:nvSpPr>
          <p:cNvPr id="37" name="Text 35"/>
          <p:cNvSpPr txBox="1"/>
          <p:nvPr/>
        </p:nvSpPr>
        <p:spPr>
          <a:xfrm>
            <a:off x="5010912" y="2514600"/>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AGE_GROUP</a:t>
            </a:r>
            <a:endParaRPr lang="en-US" sz="1100" dirty="0"/>
          </a:p>
        </p:txBody>
      </p:sp>
      <p:sp>
        <p:nvSpPr>
          <p:cNvPr id="38" name="Shape 36"/>
          <p:cNvSpPr/>
          <p:nvPr/>
        </p:nvSpPr>
        <p:spPr>
          <a:xfrm>
            <a:off x="4791456" y="2967228"/>
            <a:ext cx="91440" cy="91440"/>
          </a:xfrm>
          <a:prstGeom prst="ellipse">
            <a:avLst/>
          </a:prstGeom>
          <a:solidFill>
            <a:srgbClr val="008C95"/>
          </a:solidFill>
          <a:ln w="12700">
            <a:solidFill>
              <a:srgbClr val="008C95"/>
            </a:solidFill>
            <a:prstDash val="solid"/>
          </a:ln>
        </p:spPr>
      </p:sp>
      <p:sp>
        <p:nvSpPr>
          <p:cNvPr id="39" name="Text 37"/>
          <p:cNvSpPr txBox="1"/>
          <p:nvPr/>
        </p:nvSpPr>
        <p:spPr>
          <a:xfrm>
            <a:off x="5010912" y="2866644"/>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TENURE_GROUP</a:t>
            </a:r>
            <a:endParaRPr lang="en-US" sz="1100" dirty="0"/>
          </a:p>
        </p:txBody>
      </p:sp>
      <p:sp>
        <p:nvSpPr>
          <p:cNvPr id="40" name="Shape 38"/>
          <p:cNvSpPr/>
          <p:nvPr/>
        </p:nvSpPr>
        <p:spPr>
          <a:xfrm>
            <a:off x="4791456" y="3319272"/>
            <a:ext cx="91440" cy="91440"/>
          </a:xfrm>
          <a:prstGeom prst="ellipse">
            <a:avLst/>
          </a:prstGeom>
          <a:solidFill>
            <a:srgbClr val="008C95"/>
          </a:solidFill>
          <a:ln w="12700">
            <a:solidFill>
              <a:srgbClr val="008C95"/>
            </a:solidFill>
            <a:prstDash val="solid"/>
          </a:ln>
        </p:spPr>
      </p:sp>
      <p:sp>
        <p:nvSpPr>
          <p:cNvPr id="41" name="Text 39"/>
          <p:cNvSpPr txBox="1"/>
          <p:nvPr/>
        </p:nvSpPr>
        <p:spPr>
          <a:xfrm>
            <a:off x="5010912" y="3218688"/>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CLAIM_AMOUNT_BUCKET</a:t>
            </a:r>
            <a:endParaRPr lang="en-US" sz="1100" dirty="0"/>
          </a:p>
        </p:txBody>
      </p:sp>
      <p:sp>
        <p:nvSpPr>
          <p:cNvPr id="42" name="Shape 40"/>
          <p:cNvSpPr/>
          <p:nvPr/>
        </p:nvSpPr>
        <p:spPr>
          <a:xfrm>
            <a:off x="4791456" y="3671316"/>
            <a:ext cx="91440" cy="91440"/>
          </a:xfrm>
          <a:prstGeom prst="ellipse">
            <a:avLst/>
          </a:prstGeom>
          <a:solidFill>
            <a:srgbClr val="008C95"/>
          </a:solidFill>
          <a:ln w="12700">
            <a:solidFill>
              <a:srgbClr val="008C95"/>
            </a:solidFill>
            <a:prstDash val="solid"/>
          </a:ln>
        </p:spPr>
      </p:sp>
      <p:sp>
        <p:nvSpPr>
          <p:cNvPr id="43" name="Text 41"/>
          <p:cNvSpPr txBox="1"/>
          <p:nvPr/>
        </p:nvSpPr>
        <p:spPr>
          <a:xfrm>
            <a:off x="5010912" y="3570732"/>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REPORTING_CATEGORY</a:t>
            </a:r>
            <a:endParaRPr lang="en-US" sz="1100" dirty="0"/>
          </a:p>
        </p:txBody>
      </p:sp>
      <p:sp>
        <p:nvSpPr>
          <p:cNvPr id="44" name="Shape 42"/>
          <p:cNvSpPr/>
          <p:nvPr/>
        </p:nvSpPr>
        <p:spPr>
          <a:xfrm>
            <a:off x="4791456" y="4023360"/>
            <a:ext cx="91440" cy="91440"/>
          </a:xfrm>
          <a:prstGeom prst="ellipse">
            <a:avLst/>
          </a:prstGeom>
          <a:solidFill>
            <a:srgbClr val="008C95"/>
          </a:solidFill>
          <a:ln w="12700">
            <a:solidFill>
              <a:srgbClr val="008C95"/>
            </a:solidFill>
            <a:prstDash val="solid"/>
          </a:ln>
        </p:spPr>
      </p:sp>
      <p:sp>
        <p:nvSpPr>
          <p:cNvPr id="45" name="Text 43"/>
          <p:cNvSpPr txBox="1"/>
          <p:nvPr/>
        </p:nvSpPr>
        <p:spPr>
          <a:xfrm>
            <a:off x="5010912" y="3922776"/>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CLAIM_VALUE_CATEGORY</a:t>
            </a:r>
            <a:endParaRPr lang="en-US" sz="1100" dirty="0"/>
          </a:p>
        </p:txBody>
      </p:sp>
      <p:sp>
        <p:nvSpPr>
          <p:cNvPr id="46" name="Shape 44"/>
          <p:cNvSpPr/>
          <p:nvPr/>
        </p:nvSpPr>
        <p:spPr>
          <a:xfrm>
            <a:off x="4791456" y="4375404"/>
            <a:ext cx="91440" cy="91440"/>
          </a:xfrm>
          <a:prstGeom prst="ellipse">
            <a:avLst/>
          </a:prstGeom>
          <a:solidFill>
            <a:srgbClr val="008C95"/>
          </a:solidFill>
          <a:ln w="12700">
            <a:solidFill>
              <a:srgbClr val="008C95"/>
            </a:solidFill>
            <a:prstDash val="solid"/>
          </a:ln>
        </p:spPr>
      </p:sp>
      <p:sp>
        <p:nvSpPr>
          <p:cNvPr id="47" name="Text 45"/>
          <p:cNvSpPr txBox="1"/>
          <p:nvPr/>
        </p:nvSpPr>
        <p:spPr>
          <a:xfrm>
            <a:off x="5010912" y="4274820"/>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LOSS_YEAR</a:t>
            </a:r>
            <a:endParaRPr lang="en-US" sz="1100" dirty="0"/>
          </a:p>
        </p:txBody>
      </p:sp>
      <p:sp>
        <p:nvSpPr>
          <p:cNvPr id="48" name="Shape 46"/>
          <p:cNvSpPr/>
          <p:nvPr/>
        </p:nvSpPr>
        <p:spPr>
          <a:xfrm>
            <a:off x="4791456" y="4727448"/>
            <a:ext cx="91440" cy="91440"/>
          </a:xfrm>
          <a:prstGeom prst="ellipse">
            <a:avLst/>
          </a:prstGeom>
          <a:solidFill>
            <a:srgbClr val="008C95"/>
          </a:solidFill>
          <a:ln w="12700">
            <a:solidFill>
              <a:srgbClr val="008C95"/>
            </a:solidFill>
            <a:prstDash val="solid"/>
          </a:ln>
        </p:spPr>
      </p:sp>
      <p:sp>
        <p:nvSpPr>
          <p:cNvPr id="49" name="Text 47"/>
          <p:cNvSpPr txBox="1"/>
          <p:nvPr/>
        </p:nvSpPr>
        <p:spPr>
          <a:xfrm>
            <a:off x="5010912" y="4626864"/>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LOSS_MONTH</a:t>
            </a:r>
            <a:endParaRPr lang="en-US" sz="1100" dirty="0"/>
          </a:p>
        </p:txBody>
      </p:sp>
      <p:sp>
        <p:nvSpPr>
          <p:cNvPr id="50" name="Shape 48"/>
          <p:cNvSpPr/>
          <p:nvPr/>
        </p:nvSpPr>
        <p:spPr>
          <a:xfrm>
            <a:off x="4791456" y="5079492"/>
            <a:ext cx="91440" cy="91440"/>
          </a:xfrm>
          <a:prstGeom prst="ellipse">
            <a:avLst/>
          </a:prstGeom>
          <a:solidFill>
            <a:srgbClr val="008C95"/>
          </a:solidFill>
          <a:ln w="12700">
            <a:solidFill>
              <a:srgbClr val="008C95"/>
            </a:solidFill>
            <a:prstDash val="solid"/>
          </a:ln>
        </p:spPr>
      </p:sp>
      <p:sp>
        <p:nvSpPr>
          <p:cNvPr id="51" name="Text 49"/>
          <p:cNvSpPr txBox="1"/>
          <p:nvPr/>
        </p:nvSpPr>
        <p:spPr>
          <a:xfrm>
            <a:off x="5010912" y="4978908"/>
            <a:ext cx="3108960" cy="292608"/>
          </a:xfrm>
          <a:prstGeom prst="rect">
            <a:avLst/>
          </a:prstGeom>
          <a:noFill/>
          <a:ln/>
        </p:spPr>
        <p:txBody>
          <a:bodyPr wrap="square" lIns="0" tIns="0" rIns="0" bIns="0" rtlCol="0" anchor="ctr"/>
          <a:lstStyle/>
          <a:p>
            <a:pPr marL="0" indent="0">
              <a:buNone/>
            </a:pPr>
            <a:r>
              <a:rPr lang="en-US" sz="1100" dirty="0">
                <a:solidFill>
                  <a:srgbClr val="2B3440"/>
                </a:solidFill>
                <a:latin typeface="Calibri" pitchFamily="34" charset="0"/>
                <a:ea typeface="Calibri" pitchFamily="34" charset="-122"/>
                <a:cs typeface="Calibri" pitchFamily="34" charset="-120"/>
              </a:rPr>
              <a:t>LOSS_MONTH_NAME</a:t>
            </a:r>
            <a:endParaRPr lang="en-US" sz="1100" dirty="0"/>
          </a:p>
        </p:txBody>
      </p:sp>
      <p:sp>
        <p:nvSpPr>
          <p:cNvPr id="52" name="Shape 50"/>
          <p:cNvSpPr/>
          <p:nvPr/>
        </p:nvSpPr>
        <p:spPr>
          <a:xfrm>
            <a:off x="8613648" y="1234440"/>
            <a:ext cx="3108960" cy="1965960"/>
          </a:xfrm>
          <a:prstGeom prst="roundRect">
            <a:avLst>
              <a:gd name="adj" fmla="val 3721"/>
            </a:avLst>
          </a:prstGeom>
          <a:solidFill>
            <a:srgbClr val="17365D"/>
          </a:solidFill>
          <a:ln w="12700">
            <a:solidFill>
              <a:srgbClr val="17365D"/>
            </a:solidFill>
            <a:prstDash val="solid"/>
          </a:ln>
          <a:effectLst>
            <a:outerShdw blurRad="101600" dist="25400" dir="5400000" algn="bl" rotWithShape="0">
              <a:srgbClr val="9AA8B8">
                <a:alpha val="32000"/>
              </a:srgbClr>
            </a:outerShdw>
          </a:effectLst>
        </p:spPr>
      </p:sp>
      <p:sp>
        <p:nvSpPr>
          <p:cNvPr id="53" name="Text 51"/>
          <p:cNvSpPr txBox="1"/>
          <p:nvPr/>
        </p:nvSpPr>
        <p:spPr>
          <a:xfrm>
            <a:off x="8869680" y="1444752"/>
            <a:ext cx="2651760" cy="27432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Data Security</a:t>
            </a:r>
            <a:endParaRPr lang="en-US" sz="1500" dirty="0"/>
          </a:p>
        </p:txBody>
      </p:sp>
      <p:sp>
        <p:nvSpPr>
          <p:cNvPr id="54" name="Text 52"/>
          <p:cNvSpPr txBox="1"/>
          <p:nvPr/>
        </p:nvSpPr>
        <p:spPr>
          <a:xfrm>
            <a:off x="8869680" y="1810512"/>
            <a:ext cx="2651760" cy="1234440"/>
          </a:xfrm>
          <a:prstGeom prst="rect">
            <a:avLst/>
          </a:prstGeom>
          <a:noFill/>
          <a:ln/>
        </p:spPr>
        <p:txBody>
          <a:bodyPr wrap="square" lIns="0" tIns="0" rIns="0" bIns="0" rtlCol="0" anchor="ctr"/>
          <a:lstStyle/>
          <a:p>
            <a:pPr marL="0" indent="0">
              <a:lnSpc>
                <a:spcPts val="1700"/>
              </a:lnSpc>
              <a:buNone/>
            </a:pPr>
            <a:r>
              <a:rPr lang="en-US" sz="1200" dirty="0">
                <a:solidFill>
                  <a:srgbClr val="C7DCF0"/>
                </a:solidFill>
                <a:latin typeface="Calibri" pitchFamily="34" charset="0"/>
                <a:ea typeface="Calibri" pitchFamily="34" charset="-122"/>
                <a:cs typeface="Calibri" pitchFamily="34" charset="-120"/>
              </a:rPr>
              <a:t>Sensitive fields such as SSN, account number and routing number were excluded from the downstream analytical dataset.</a:t>
            </a:r>
            <a:endParaRPr lang="en-US" sz="1200" dirty="0"/>
          </a:p>
        </p:txBody>
      </p:sp>
      <p:sp>
        <p:nvSpPr>
          <p:cNvPr id="55" name="Shape 53"/>
          <p:cNvSpPr/>
          <p:nvPr/>
        </p:nvSpPr>
        <p:spPr>
          <a:xfrm>
            <a:off x="8613648" y="3474720"/>
            <a:ext cx="3108960" cy="1965960"/>
          </a:xfrm>
          <a:prstGeom prst="roundRect">
            <a:avLst>
              <a:gd name="adj" fmla="val 372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6" name="Text 54"/>
          <p:cNvSpPr txBox="1"/>
          <p:nvPr/>
        </p:nvSpPr>
        <p:spPr>
          <a:xfrm>
            <a:off x="8869680" y="3675888"/>
            <a:ext cx="2651760" cy="27432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Why a View?</a:t>
            </a:r>
            <a:endParaRPr lang="en-US" sz="1500" dirty="0"/>
          </a:p>
        </p:txBody>
      </p:sp>
      <p:sp>
        <p:nvSpPr>
          <p:cNvPr id="57" name="Text 55"/>
          <p:cNvSpPr txBox="1"/>
          <p:nvPr/>
        </p:nvSpPr>
        <p:spPr>
          <a:xfrm>
            <a:off x="8869680" y="4041648"/>
            <a:ext cx="2651760" cy="1234440"/>
          </a:xfrm>
          <a:prstGeom prst="rect">
            <a:avLst/>
          </a:prstGeom>
          <a:noFill/>
          <a:ln/>
        </p:spPr>
        <p:txBody>
          <a:bodyPr wrap="square" lIns="0" tIns="0" rIns="0" bIns="0" rtlCol="0" anchor="ctr"/>
          <a:lstStyle/>
          <a:p>
            <a:pPr marL="0" indent="0">
              <a:lnSpc>
                <a:spcPts val="1700"/>
              </a:lnSpc>
              <a:buNone/>
            </a:pPr>
            <a:r>
              <a:rPr lang="en-US" sz="1200" dirty="0">
                <a:solidFill>
                  <a:srgbClr val="2B3440"/>
                </a:solidFill>
                <a:latin typeface="Calibri" pitchFamily="34" charset="0"/>
                <a:ea typeface="Calibri" pitchFamily="34" charset="-122"/>
                <a:cs typeface="Calibri" pitchFamily="34" charset="-120"/>
              </a:rPr>
              <a:t>All cleaning and derivation logic lives once in SQL, so Python, Power BI and Streamlit consume identical, consistent data.</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Descriptive Analysis</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11</a:t>
            </a:r>
            <a:endParaRPr lang="en-US" sz="1000" dirty="0"/>
          </a:p>
        </p:txBody>
      </p:sp>
      <p:sp>
        <p:nvSpPr>
          <p:cNvPr id="4" name="Shape 2"/>
          <p:cNvSpPr/>
          <p:nvPr/>
        </p:nvSpPr>
        <p:spPr>
          <a:xfrm>
            <a:off x="502920" y="1188720"/>
            <a:ext cx="1755648" cy="1051560"/>
          </a:xfrm>
          <a:prstGeom prst="roundRect">
            <a:avLst>
              <a:gd name="adj" fmla="val 695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Text 3"/>
          <p:cNvSpPr txBox="1"/>
          <p:nvPr/>
        </p:nvSpPr>
        <p:spPr>
          <a:xfrm>
            <a:off x="576072" y="1353312"/>
            <a:ext cx="1609344" cy="504749"/>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10,000</a:t>
            </a:r>
            <a:endParaRPr lang="en-US" sz="2500" dirty="0"/>
          </a:p>
        </p:txBody>
      </p:sp>
      <p:sp>
        <p:nvSpPr>
          <p:cNvPr id="6" name="Text 4"/>
          <p:cNvSpPr txBox="1"/>
          <p:nvPr/>
        </p:nvSpPr>
        <p:spPr>
          <a:xfrm>
            <a:off x="576072" y="1840687"/>
            <a:ext cx="1609344" cy="315468"/>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Total Claims</a:t>
            </a:r>
            <a:endParaRPr lang="en-US" sz="1100" dirty="0"/>
          </a:p>
        </p:txBody>
      </p:sp>
      <p:sp>
        <p:nvSpPr>
          <p:cNvPr id="7" name="Shape 5"/>
          <p:cNvSpPr/>
          <p:nvPr/>
        </p:nvSpPr>
        <p:spPr>
          <a:xfrm>
            <a:off x="2331720" y="1188720"/>
            <a:ext cx="1755648" cy="1051560"/>
          </a:xfrm>
          <a:prstGeom prst="roundRect">
            <a:avLst>
              <a:gd name="adj" fmla="val 695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8" name="Text 6"/>
          <p:cNvSpPr txBox="1"/>
          <p:nvPr/>
        </p:nvSpPr>
        <p:spPr>
          <a:xfrm>
            <a:off x="2404872" y="1353312"/>
            <a:ext cx="1609344" cy="504749"/>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₹165.64M</a:t>
            </a:r>
            <a:endParaRPr lang="en-US" sz="2500" dirty="0"/>
          </a:p>
        </p:txBody>
      </p:sp>
      <p:sp>
        <p:nvSpPr>
          <p:cNvPr id="9" name="Text 7"/>
          <p:cNvSpPr txBox="1"/>
          <p:nvPr/>
        </p:nvSpPr>
        <p:spPr>
          <a:xfrm>
            <a:off x="2404872" y="1840687"/>
            <a:ext cx="1609344" cy="315468"/>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Total Claim Amount</a:t>
            </a:r>
            <a:endParaRPr lang="en-US" sz="1100" dirty="0"/>
          </a:p>
        </p:txBody>
      </p:sp>
      <p:sp>
        <p:nvSpPr>
          <p:cNvPr id="10" name="Shape 8"/>
          <p:cNvSpPr/>
          <p:nvPr/>
        </p:nvSpPr>
        <p:spPr>
          <a:xfrm>
            <a:off x="4160520" y="1188720"/>
            <a:ext cx="1755648" cy="1051560"/>
          </a:xfrm>
          <a:prstGeom prst="roundRect">
            <a:avLst>
              <a:gd name="adj" fmla="val 695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Text 9"/>
          <p:cNvSpPr txBox="1"/>
          <p:nvPr/>
        </p:nvSpPr>
        <p:spPr>
          <a:xfrm>
            <a:off x="4233672" y="1353312"/>
            <a:ext cx="1609344" cy="504749"/>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a:t>
            </a:r>
            <a:r>
              <a:rPr lang="en-US" sz="2450" b="1" dirty="0">
                <a:solidFill>
                  <a:srgbClr val="17365D"/>
                </a:solidFill>
                <a:latin typeface="Cambria" pitchFamily="34" charset="0"/>
                <a:ea typeface="Cambria" pitchFamily="34" charset="-122"/>
                <a:cs typeface="Cambria" pitchFamily="34" charset="-120"/>
              </a:rPr>
              <a:t>16,563.83</a:t>
            </a:r>
            <a:endParaRPr lang="en-US" sz="2450" dirty="0"/>
          </a:p>
        </p:txBody>
      </p:sp>
      <p:sp>
        <p:nvSpPr>
          <p:cNvPr id="12" name="Text 10"/>
          <p:cNvSpPr txBox="1"/>
          <p:nvPr/>
        </p:nvSpPr>
        <p:spPr>
          <a:xfrm>
            <a:off x="4233672" y="1840687"/>
            <a:ext cx="1609344" cy="315468"/>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Average Claim</a:t>
            </a:r>
            <a:endParaRPr lang="en-US" sz="1100" dirty="0"/>
          </a:p>
        </p:txBody>
      </p:sp>
      <p:sp>
        <p:nvSpPr>
          <p:cNvPr id="13" name="Shape 11"/>
          <p:cNvSpPr/>
          <p:nvPr/>
        </p:nvSpPr>
        <p:spPr>
          <a:xfrm>
            <a:off x="5989320" y="1188720"/>
            <a:ext cx="1755648" cy="1051560"/>
          </a:xfrm>
          <a:prstGeom prst="roundRect">
            <a:avLst>
              <a:gd name="adj" fmla="val 695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4" name="Text 12"/>
          <p:cNvSpPr txBox="1"/>
          <p:nvPr/>
        </p:nvSpPr>
        <p:spPr>
          <a:xfrm>
            <a:off x="6062472" y="1353312"/>
            <a:ext cx="1609344" cy="504749"/>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₹7,000</a:t>
            </a:r>
            <a:endParaRPr lang="en-US" sz="2500" dirty="0"/>
          </a:p>
        </p:txBody>
      </p:sp>
      <p:sp>
        <p:nvSpPr>
          <p:cNvPr id="15" name="Text 13"/>
          <p:cNvSpPr txBox="1"/>
          <p:nvPr/>
        </p:nvSpPr>
        <p:spPr>
          <a:xfrm>
            <a:off x="6062472" y="1840687"/>
            <a:ext cx="1609344" cy="315468"/>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Median Claim</a:t>
            </a:r>
            <a:endParaRPr lang="en-US" sz="1100" dirty="0"/>
          </a:p>
        </p:txBody>
      </p:sp>
      <p:sp>
        <p:nvSpPr>
          <p:cNvPr id="16" name="Shape 14"/>
          <p:cNvSpPr/>
          <p:nvPr/>
        </p:nvSpPr>
        <p:spPr>
          <a:xfrm>
            <a:off x="7818120" y="1188720"/>
            <a:ext cx="1755648" cy="1051560"/>
          </a:xfrm>
          <a:prstGeom prst="roundRect">
            <a:avLst>
              <a:gd name="adj" fmla="val 695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7" name="Text 15"/>
          <p:cNvSpPr txBox="1"/>
          <p:nvPr/>
        </p:nvSpPr>
        <p:spPr>
          <a:xfrm>
            <a:off x="7891272" y="1353312"/>
            <a:ext cx="1609344" cy="504749"/>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₹88.51</a:t>
            </a:r>
            <a:endParaRPr lang="en-US" sz="2500" dirty="0"/>
          </a:p>
        </p:txBody>
      </p:sp>
      <p:sp>
        <p:nvSpPr>
          <p:cNvPr id="18" name="Text 16"/>
          <p:cNvSpPr txBox="1"/>
          <p:nvPr/>
        </p:nvSpPr>
        <p:spPr>
          <a:xfrm>
            <a:off x="7891272" y="1840687"/>
            <a:ext cx="1609344" cy="315468"/>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Average Premium</a:t>
            </a:r>
            <a:endParaRPr lang="en-US" sz="1100" dirty="0"/>
          </a:p>
        </p:txBody>
      </p:sp>
      <p:sp>
        <p:nvSpPr>
          <p:cNvPr id="19" name="Shape 17"/>
          <p:cNvSpPr/>
          <p:nvPr/>
        </p:nvSpPr>
        <p:spPr>
          <a:xfrm>
            <a:off x="9646920" y="1188720"/>
            <a:ext cx="1755648" cy="1051560"/>
          </a:xfrm>
          <a:prstGeom prst="roundRect">
            <a:avLst>
              <a:gd name="adj" fmla="val 695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0" name="Text 18"/>
          <p:cNvSpPr txBox="1"/>
          <p:nvPr/>
        </p:nvSpPr>
        <p:spPr>
          <a:xfrm>
            <a:off x="9720072" y="1353312"/>
            <a:ext cx="1609344" cy="504749"/>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3.21 days</a:t>
            </a:r>
            <a:endParaRPr lang="en-US" sz="2500" dirty="0"/>
          </a:p>
        </p:txBody>
      </p:sp>
      <p:sp>
        <p:nvSpPr>
          <p:cNvPr id="21" name="Text 19"/>
          <p:cNvSpPr txBox="1"/>
          <p:nvPr/>
        </p:nvSpPr>
        <p:spPr>
          <a:xfrm>
            <a:off x="9720072" y="1840687"/>
            <a:ext cx="1609344" cy="315468"/>
          </a:xfrm>
          <a:prstGeom prst="rect">
            <a:avLst/>
          </a:prstGeom>
          <a:noFill/>
          <a:ln/>
        </p:spPr>
        <p:txBody>
          <a:bodyPr wrap="square" lIns="0" tIns="0" rIns="0" bIns="0" rtlCol="0" anchor="ctr"/>
          <a:lstStyle/>
          <a:p>
            <a:pPr marL="0" indent="0" algn="ctr">
              <a:buNone/>
            </a:pPr>
            <a:r>
              <a:rPr lang="en-US" sz="1100" dirty="0">
                <a:solidFill>
                  <a:srgbClr val="6B7684"/>
                </a:solidFill>
                <a:latin typeface="Calibri" pitchFamily="34" charset="0"/>
                <a:ea typeface="Calibri" pitchFamily="34" charset="-122"/>
                <a:cs typeface="Calibri" pitchFamily="34" charset="-120"/>
              </a:rPr>
              <a:t>Avg Reporting Delay</a:t>
            </a:r>
            <a:endParaRPr lang="en-US" sz="1100" dirty="0"/>
          </a:p>
        </p:txBody>
      </p:sp>
      <p:sp>
        <p:nvSpPr>
          <p:cNvPr id="22" name="Shape 20"/>
          <p:cNvSpPr/>
          <p:nvPr/>
        </p:nvSpPr>
        <p:spPr>
          <a:xfrm>
            <a:off x="502920" y="2450592"/>
            <a:ext cx="3547872" cy="3657600"/>
          </a:xfrm>
          <a:prstGeom prst="roundRect">
            <a:avLst>
              <a:gd name="adj" fmla="val 206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3" name="Text 21"/>
          <p:cNvSpPr txBox="1"/>
          <p:nvPr/>
        </p:nvSpPr>
        <p:spPr>
          <a:xfrm>
            <a:off x="704088" y="2606040"/>
            <a:ext cx="3145536" cy="292608"/>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Claims by Insurance Type</a:t>
            </a:r>
            <a:endParaRPr lang="en-US" sz="1400" dirty="0"/>
          </a:p>
        </p:txBody>
      </p:sp>
      <p:graphicFrame>
        <p:nvGraphicFramePr>
          <p:cNvPr id="24" name="Chart 0"/>
          <p:cNvGraphicFramePr/>
          <p:nvPr/>
        </p:nvGraphicFramePr>
        <p:xfrm>
          <a:off x="612648" y="2944368"/>
          <a:ext cx="3328416"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25" name="Shape 22"/>
          <p:cNvSpPr/>
          <p:nvPr/>
        </p:nvSpPr>
        <p:spPr>
          <a:xfrm>
            <a:off x="4343400" y="2450592"/>
            <a:ext cx="3547872" cy="3657600"/>
          </a:xfrm>
          <a:prstGeom prst="roundRect">
            <a:avLst>
              <a:gd name="adj" fmla="val 206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6" name="Text 23"/>
          <p:cNvSpPr txBox="1"/>
          <p:nvPr/>
        </p:nvSpPr>
        <p:spPr>
          <a:xfrm>
            <a:off x="4544568" y="2606040"/>
            <a:ext cx="3145536" cy="292608"/>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Claims by Risk Segment</a:t>
            </a:r>
            <a:endParaRPr lang="en-US" sz="1400" dirty="0"/>
          </a:p>
        </p:txBody>
      </p:sp>
      <p:graphicFrame>
        <p:nvGraphicFramePr>
          <p:cNvPr id="27" name="Chart 1"/>
          <p:cNvGraphicFramePr/>
          <p:nvPr/>
        </p:nvGraphicFramePr>
        <p:xfrm>
          <a:off x="4453128" y="2944368"/>
          <a:ext cx="3328416"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28" name="Shape 24"/>
          <p:cNvSpPr/>
          <p:nvPr/>
        </p:nvSpPr>
        <p:spPr>
          <a:xfrm>
            <a:off x="8183880" y="2450592"/>
            <a:ext cx="3547872" cy="3657600"/>
          </a:xfrm>
          <a:prstGeom prst="roundRect">
            <a:avLst>
              <a:gd name="adj" fmla="val 206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9" name="Text 25"/>
          <p:cNvSpPr txBox="1"/>
          <p:nvPr/>
        </p:nvSpPr>
        <p:spPr>
          <a:xfrm>
            <a:off x="8385048" y="2606040"/>
            <a:ext cx="3145536" cy="292608"/>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Claims by Incident Severity</a:t>
            </a:r>
            <a:endParaRPr lang="en-US" sz="1400" dirty="0"/>
          </a:p>
        </p:txBody>
      </p:sp>
      <p:graphicFrame>
        <p:nvGraphicFramePr>
          <p:cNvPr id="30" name="Chart 2"/>
          <p:cNvGraphicFramePr/>
          <p:nvPr/>
        </p:nvGraphicFramePr>
        <p:xfrm>
          <a:off x="8293608" y="2944368"/>
          <a:ext cx="3328416" cy="3017520"/>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Claim Exposure by Insurance Type</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Claim volume is split almost evenly across six products — claim value is not</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12</a:t>
            </a:r>
            <a:endParaRPr lang="en-US" sz="1000" dirty="0"/>
          </a:p>
        </p:txBody>
      </p:sp>
      <p:sp>
        <p:nvSpPr>
          <p:cNvPr id="6" name="Shape 3"/>
          <p:cNvSpPr/>
          <p:nvPr/>
        </p:nvSpPr>
        <p:spPr>
          <a:xfrm>
            <a:off x="502920" y="1325880"/>
            <a:ext cx="5394960" cy="3520440"/>
          </a:xfrm>
          <a:prstGeom prst="roundRect">
            <a:avLst>
              <a:gd name="adj" fmla="val 2078"/>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731520" y="1481328"/>
            <a:ext cx="493776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Total Claim Amount by Insurance Type (₹ Million)</a:t>
            </a:r>
            <a:endParaRPr lang="en-US" sz="1400" dirty="0"/>
          </a:p>
        </p:txBody>
      </p:sp>
      <p:graphicFrame>
        <p:nvGraphicFramePr>
          <p:cNvPr id="8" name="Chart 0"/>
          <p:cNvGraphicFramePr/>
          <p:nvPr/>
        </p:nvGraphicFramePr>
        <p:xfrm>
          <a:off x="640080" y="1828800"/>
          <a:ext cx="512064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172200" y="1325880"/>
            <a:ext cx="5513832" cy="3520440"/>
          </a:xfrm>
          <a:prstGeom prst="roundRect">
            <a:avLst>
              <a:gd name="adj" fmla="val 2078"/>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6"/>
          <p:cNvSpPr txBox="1"/>
          <p:nvPr/>
        </p:nvSpPr>
        <p:spPr>
          <a:xfrm>
            <a:off x="6400800" y="1481328"/>
            <a:ext cx="502920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Share of Claims vs Share of Exposure</a:t>
            </a:r>
            <a:endParaRPr lang="en-US" sz="1400" dirty="0"/>
          </a:p>
        </p:txBody>
      </p:sp>
      <p:graphicFrame>
        <p:nvGraphicFramePr>
          <p:cNvPr id="11" name="Chart 1"/>
          <p:cNvGraphicFramePr/>
          <p:nvPr/>
        </p:nvGraphicFramePr>
        <p:xfrm>
          <a:off x="6263640" y="1828800"/>
          <a:ext cx="5349240" cy="2926080"/>
        </p:xfrm>
        <a:graphic>
          <a:graphicData uri="http://schemas.openxmlformats.org/drawingml/2006/chart">
            <c:chart xmlns:c="http://schemas.openxmlformats.org/drawingml/2006/chart" xmlns:r="http://schemas.openxmlformats.org/officeDocument/2006/relationships" r:id="rId4"/>
          </a:graphicData>
        </a:graphic>
      </p:graphicFrame>
      <p:sp>
        <p:nvSpPr>
          <p:cNvPr id="12" name="Shape 7"/>
          <p:cNvSpPr/>
          <p:nvPr/>
        </p:nvSpPr>
        <p:spPr>
          <a:xfrm>
            <a:off x="502920" y="5074920"/>
            <a:ext cx="354482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3" name="Text 8"/>
          <p:cNvSpPr txBox="1"/>
          <p:nvPr/>
        </p:nvSpPr>
        <p:spPr>
          <a:xfrm>
            <a:off x="731520" y="5193792"/>
            <a:ext cx="3087624" cy="411480"/>
          </a:xfrm>
          <a:prstGeom prst="rect">
            <a:avLst/>
          </a:prstGeom>
          <a:noFill/>
          <a:ln/>
        </p:spPr>
        <p:txBody>
          <a:bodyPr wrap="square" lIns="0" tIns="0" rIns="0" bIns="0" rtlCol="0" anchor="ctr"/>
          <a:lstStyle/>
          <a:p>
            <a:pPr marL="0" indent="0">
              <a:buNone/>
            </a:pPr>
            <a:r>
              <a:rPr lang="en-US" sz="2400" b="1" dirty="0">
                <a:solidFill>
                  <a:srgbClr val="008C95"/>
                </a:solidFill>
                <a:latin typeface="Cambria" pitchFamily="34" charset="0"/>
                <a:ea typeface="Cambria" pitchFamily="34" charset="-122"/>
                <a:cs typeface="Cambria" pitchFamily="34" charset="-120"/>
              </a:rPr>
              <a:t>55.2%</a:t>
            </a:r>
            <a:endParaRPr lang="en-US" sz="2400" dirty="0"/>
          </a:p>
        </p:txBody>
      </p:sp>
      <p:sp>
        <p:nvSpPr>
          <p:cNvPr id="14" name="Text 9"/>
          <p:cNvSpPr txBox="1"/>
          <p:nvPr/>
        </p:nvSpPr>
        <p:spPr>
          <a:xfrm>
            <a:off x="731520" y="5623560"/>
            <a:ext cx="3087624" cy="457200"/>
          </a:xfrm>
          <a:prstGeom prst="rect">
            <a:avLst/>
          </a:prstGeom>
          <a:noFill/>
          <a:ln/>
        </p:spPr>
        <p:txBody>
          <a:bodyPr wrap="square" lIns="0" tIns="0" rIns="0" bIns="0" rtlCol="0" anchor="t"/>
          <a:lstStyle/>
          <a:p>
            <a:pPr marL="0" indent="0">
              <a:buNone/>
            </a:pPr>
            <a:r>
              <a:rPr lang="en-US" sz="1100" dirty="0">
                <a:solidFill>
                  <a:srgbClr val="6B7684"/>
                </a:solidFill>
                <a:latin typeface="Calibri" pitchFamily="34" charset="0"/>
                <a:ea typeface="Calibri" pitchFamily="34" charset="-122"/>
                <a:cs typeface="Calibri" pitchFamily="34" charset="-120"/>
              </a:rPr>
              <a:t>of total exposure comes from Life claims, which are only 16.8% of the claim count</a:t>
            </a:r>
            <a:endParaRPr lang="en-US" sz="1100" dirty="0"/>
          </a:p>
        </p:txBody>
      </p:sp>
      <p:sp>
        <p:nvSpPr>
          <p:cNvPr id="15" name="Shape 10"/>
          <p:cNvSpPr/>
          <p:nvPr/>
        </p:nvSpPr>
        <p:spPr>
          <a:xfrm>
            <a:off x="4322064" y="5074920"/>
            <a:ext cx="354482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6" name="Text 11"/>
          <p:cNvSpPr txBox="1"/>
          <p:nvPr/>
        </p:nvSpPr>
        <p:spPr>
          <a:xfrm>
            <a:off x="4550664" y="5193792"/>
            <a:ext cx="3087624" cy="411480"/>
          </a:xfrm>
          <a:prstGeom prst="rect">
            <a:avLst/>
          </a:prstGeom>
          <a:noFill/>
          <a:ln/>
        </p:spPr>
        <p:txBody>
          <a:bodyPr wrap="square" lIns="0" tIns="0" rIns="0" bIns="0" rtlCol="0" anchor="ctr"/>
          <a:lstStyle/>
          <a:p>
            <a:pPr marL="0" indent="0">
              <a:buNone/>
            </a:pPr>
            <a:r>
              <a:rPr lang="en-US" sz="2400" b="1" dirty="0">
                <a:solidFill>
                  <a:srgbClr val="17365D"/>
                </a:solidFill>
                <a:latin typeface="Cambria" pitchFamily="34" charset="0"/>
                <a:ea typeface="Cambria" pitchFamily="34" charset="-122"/>
                <a:cs typeface="Cambria" pitchFamily="34" charset="-120"/>
              </a:rPr>
              <a:t>80.3%</a:t>
            </a:r>
            <a:endParaRPr lang="en-US" sz="2400" dirty="0"/>
          </a:p>
        </p:txBody>
      </p:sp>
      <p:sp>
        <p:nvSpPr>
          <p:cNvPr id="17" name="Text 12"/>
          <p:cNvSpPr txBox="1"/>
          <p:nvPr/>
        </p:nvSpPr>
        <p:spPr>
          <a:xfrm>
            <a:off x="4550664" y="5623560"/>
            <a:ext cx="3087624" cy="457200"/>
          </a:xfrm>
          <a:prstGeom prst="rect">
            <a:avLst/>
          </a:prstGeom>
          <a:noFill/>
          <a:ln/>
        </p:spPr>
        <p:txBody>
          <a:bodyPr wrap="square" lIns="0" tIns="0" rIns="0" bIns="0" rtlCol="0" anchor="t"/>
          <a:lstStyle/>
          <a:p>
            <a:pPr marL="0" indent="0">
              <a:buNone/>
            </a:pPr>
            <a:r>
              <a:rPr lang="en-US" sz="1100" dirty="0">
                <a:solidFill>
                  <a:srgbClr val="6B7684"/>
                </a:solidFill>
                <a:latin typeface="Calibri" pitchFamily="34" charset="0"/>
                <a:ea typeface="Calibri" pitchFamily="34" charset="-122"/>
                <a:cs typeface="Calibri" pitchFamily="34" charset="-120"/>
              </a:rPr>
              <a:t>of total exposure sits in just two products: Life and Property</a:t>
            </a:r>
            <a:endParaRPr lang="en-US" sz="1100" dirty="0"/>
          </a:p>
        </p:txBody>
      </p:sp>
      <p:sp>
        <p:nvSpPr>
          <p:cNvPr id="18" name="Shape 13"/>
          <p:cNvSpPr/>
          <p:nvPr/>
        </p:nvSpPr>
        <p:spPr>
          <a:xfrm>
            <a:off x="8141208" y="5074920"/>
            <a:ext cx="354482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9" name="Text 14"/>
          <p:cNvSpPr txBox="1"/>
          <p:nvPr/>
        </p:nvSpPr>
        <p:spPr>
          <a:xfrm>
            <a:off x="8369808" y="5193792"/>
            <a:ext cx="3087624" cy="411480"/>
          </a:xfrm>
          <a:prstGeom prst="rect">
            <a:avLst/>
          </a:prstGeom>
          <a:noFill/>
          <a:ln/>
        </p:spPr>
        <p:txBody>
          <a:bodyPr wrap="square" lIns="0" tIns="0" rIns="0" bIns="0" rtlCol="0" anchor="ctr"/>
          <a:lstStyle/>
          <a:p>
            <a:pPr marL="0" indent="0">
              <a:buNone/>
            </a:pPr>
            <a:r>
              <a:rPr lang="en-US" sz="2400" b="1" dirty="0">
                <a:solidFill>
                  <a:srgbClr val="17365D"/>
                </a:solidFill>
                <a:latin typeface="Cambria" pitchFamily="34" charset="0"/>
                <a:ea typeface="Cambria" pitchFamily="34" charset="-122"/>
                <a:cs typeface="Cambria" pitchFamily="34" charset="-120"/>
              </a:rPr>
              <a:t>₹100,000</a:t>
            </a:r>
            <a:endParaRPr lang="en-US" sz="2400" dirty="0"/>
          </a:p>
        </p:txBody>
      </p:sp>
      <p:sp>
        <p:nvSpPr>
          <p:cNvPr id="20" name="Text 15"/>
          <p:cNvSpPr txBox="1"/>
          <p:nvPr/>
        </p:nvSpPr>
        <p:spPr>
          <a:xfrm>
            <a:off x="8369808" y="5623560"/>
            <a:ext cx="3087624" cy="457200"/>
          </a:xfrm>
          <a:prstGeom prst="rect">
            <a:avLst/>
          </a:prstGeom>
          <a:noFill/>
          <a:ln/>
        </p:spPr>
        <p:txBody>
          <a:bodyPr wrap="square" lIns="0" tIns="0" rIns="0" bIns="0" rtlCol="0" anchor="t"/>
          <a:lstStyle/>
          <a:p>
            <a:pPr marL="0" indent="0">
              <a:buNone/>
            </a:pPr>
            <a:r>
              <a:rPr lang="en-US" sz="1100" dirty="0">
                <a:solidFill>
                  <a:srgbClr val="6B7684"/>
                </a:solidFill>
                <a:latin typeface="Calibri" pitchFamily="34" charset="0"/>
                <a:ea typeface="Calibri" pitchFamily="34" charset="-122"/>
                <a:cs typeface="Calibri" pitchFamily="34" charset="-120"/>
              </a:rPr>
              <a:t>is the highest claim value — the top 10 claims are all Life policies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Monthly Trend &amp; Top States</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Claim amount by loss month, and where exposure is concentrated geographically</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13</a:t>
            </a:r>
            <a:endParaRPr lang="en-US" sz="1000" dirty="0"/>
          </a:p>
        </p:txBody>
      </p:sp>
      <p:sp>
        <p:nvSpPr>
          <p:cNvPr id="6" name="Shape 3"/>
          <p:cNvSpPr/>
          <p:nvPr/>
        </p:nvSpPr>
        <p:spPr>
          <a:xfrm>
            <a:off x="502920" y="1325880"/>
            <a:ext cx="6812280" cy="4709160"/>
          </a:xfrm>
          <a:prstGeom prst="roundRect">
            <a:avLst>
              <a:gd name="adj" fmla="val 1553"/>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731520" y="1481328"/>
            <a:ext cx="630936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Monthly Claim Amount (₹ Million, by loss month)</a:t>
            </a:r>
            <a:endParaRPr lang="en-US" sz="1400" dirty="0"/>
          </a:p>
        </p:txBody>
      </p:sp>
      <p:graphicFrame>
        <p:nvGraphicFramePr>
          <p:cNvPr id="8" name="Chart 0"/>
          <p:cNvGraphicFramePr/>
          <p:nvPr/>
        </p:nvGraphicFramePr>
        <p:xfrm>
          <a:off x="594360" y="1828800"/>
          <a:ext cx="658368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5"/>
          <p:cNvSpPr txBox="1"/>
          <p:nvPr/>
        </p:nvSpPr>
        <p:spPr>
          <a:xfrm>
            <a:off x="731520" y="5349240"/>
            <a:ext cx="6355080" cy="54864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Full months run at ₹11.7M–₹14.3M. May 2020 and Jun 2021 are lower, most likely because they are partial months.</a:t>
            </a:r>
            <a:endParaRPr lang="en-US" sz="1150" dirty="0"/>
          </a:p>
        </p:txBody>
      </p:sp>
      <p:sp>
        <p:nvSpPr>
          <p:cNvPr id="10" name="Shape 6"/>
          <p:cNvSpPr/>
          <p:nvPr/>
        </p:nvSpPr>
        <p:spPr>
          <a:xfrm>
            <a:off x="7543800" y="1325880"/>
            <a:ext cx="4142232" cy="4709160"/>
          </a:xfrm>
          <a:prstGeom prst="roundRect">
            <a:avLst>
              <a:gd name="adj" fmla="val 176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Text 7"/>
          <p:cNvSpPr txBox="1"/>
          <p:nvPr/>
        </p:nvSpPr>
        <p:spPr>
          <a:xfrm>
            <a:off x="7772400" y="1481328"/>
            <a:ext cx="374904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Top 5 States by Claim Amount (₹M)</a:t>
            </a:r>
            <a:endParaRPr lang="en-US" sz="1400" dirty="0"/>
          </a:p>
        </p:txBody>
      </p:sp>
      <p:graphicFrame>
        <p:nvGraphicFramePr>
          <p:cNvPr id="12" name="Chart 1"/>
          <p:cNvGraphicFramePr/>
          <p:nvPr/>
        </p:nvGraphicFramePr>
        <p:xfrm>
          <a:off x="7635240" y="1828800"/>
          <a:ext cx="3931920" cy="3429000"/>
        </p:xfrm>
        <a:graphic>
          <a:graphicData uri="http://schemas.openxmlformats.org/drawingml/2006/chart">
            <c:chart xmlns:c="http://schemas.openxmlformats.org/drawingml/2006/chart" xmlns:r="http://schemas.openxmlformats.org/officeDocument/2006/relationships" r:id="rId4"/>
          </a:graphicData>
        </a:graphic>
      </p:graphicFrame>
      <p:sp>
        <p:nvSpPr>
          <p:cNvPr id="13" name="Text 8"/>
          <p:cNvSpPr txBox="1"/>
          <p:nvPr/>
        </p:nvSpPr>
        <p:spPr>
          <a:xfrm>
            <a:off x="7772400" y="5349240"/>
            <a:ext cx="3703320" cy="54864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California leads with 1,035 claims (10.4%) and ₹18.08M (10.9% of exposure), across 16 states in total.</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Customer Profile &amp; Claim Characteristics</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Who files claims, and how those claims are recorded</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14</a:t>
            </a:r>
            <a:endParaRPr lang="en-US" sz="1000" dirty="0"/>
          </a:p>
        </p:txBody>
      </p:sp>
      <p:sp>
        <p:nvSpPr>
          <p:cNvPr id="6" name="Shape 3"/>
          <p:cNvSpPr/>
          <p:nvPr/>
        </p:nvSpPr>
        <p:spPr>
          <a:xfrm>
            <a:off x="502920"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594360"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94.97%</a:t>
            </a:r>
            <a:endParaRPr lang="en-US" sz="2500" dirty="0"/>
          </a:p>
        </p:txBody>
      </p:sp>
      <p:sp>
        <p:nvSpPr>
          <p:cNvPr id="8" name="Text 5"/>
          <p:cNvSpPr txBox="1"/>
          <p:nvPr/>
        </p:nvSpPr>
        <p:spPr>
          <a:xfrm>
            <a:off x="640080"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Claims with status A (9,497 of 10,000)</a:t>
            </a:r>
            <a:endParaRPr lang="en-US" sz="1100" dirty="0"/>
          </a:p>
        </p:txBody>
      </p:sp>
      <p:sp>
        <p:nvSpPr>
          <p:cNvPr id="9" name="Shape 6"/>
          <p:cNvSpPr/>
          <p:nvPr/>
        </p:nvSpPr>
        <p:spPr>
          <a:xfrm>
            <a:off x="3362706"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7"/>
          <p:cNvSpPr txBox="1"/>
          <p:nvPr/>
        </p:nvSpPr>
        <p:spPr>
          <a:xfrm>
            <a:off x="3454146"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69.9%</a:t>
            </a:r>
            <a:endParaRPr lang="en-US" sz="2500" dirty="0"/>
          </a:p>
        </p:txBody>
      </p:sp>
      <p:sp>
        <p:nvSpPr>
          <p:cNvPr id="11" name="Text 8"/>
          <p:cNvSpPr txBox="1"/>
          <p:nvPr/>
        </p:nvSpPr>
        <p:spPr>
          <a:xfrm>
            <a:off x="3499866"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Claims with an injury reported</a:t>
            </a:r>
            <a:endParaRPr lang="en-US" sz="1100" dirty="0"/>
          </a:p>
        </p:txBody>
      </p:sp>
      <p:sp>
        <p:nvSpPr>
          <p:cNvPr id="12" name="Shape 9"/>
          <p:cNvSpPr/>
          <p:nvPr/>
        </p:nvSpPr>
        <p:spPr>
          <a:xfrm>
            <a:off x="6222492"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3" name="Text 10"/>
          <p:cNvSpPr txBox="1"/>
          <p:nvPr/>
        </p:nvSpPr>
        <p:spPr>
          <a:xfrm>
            <a:off x="6313932"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69.3%</a:t>
            </a:r>
            <a:endParaRPr lang="en-US" sz="2500" dirty="0"/>
          </a:p>
        </p:txBody>
      </p:sp>
      <p:sp>
        <p:nvSpPr>
          <p:cNvPr id="14" name="Text 11"/>
          <p:cNvSpPr txBox="1"/>
          <p:nvPr/>
        </p:nvSpPr>
        <p:spPr>
          <a:xfrm>
            <a:off x="6359652"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Claims with a police report available</a:t>
            </a:r>
            <a:endParaRPr lang="en-US" sz="1100" dirty="0"/>
          </a:p>
        </p:txBody>
      </p:sp>
      <p:sp>
        <p:nvSpPr>
          <p:cNvPr id="15" name="Shape 12"/>
          <p:cNvSpPr/>
          <p:nvPr/>
        </p:nvSpPr>
        <p:spPr>
          <a:xfrm>
            <a:off x="9082278"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6" name="Text 13"/>
          <p:cNvSpPr txBox="1"/>
          <p:nvPr/>
        </p:nvSpPr>
        <p:spPr>
          <a:xfrm>
            <a:off x="9173718"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9.2%</a:t>
            </a:r>
            <a:endParaRPr lang="en-US" sz="2500" dirty="0"/>
          </a:p>
        </p:txBody>
      </p:sp>
      <p:sp>
        <p:nvSpPr>
          <p:cNvPr id="17" name="Text 14"/>
          <p:cNvSpPr txBox="1"/>
          <p:nvPr/>
        </p:nvSpPr>
        <p:spPr>
          <a:xfrm>
            <a:off x="9219438"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High-value claims (₹50,000 or more)</a:t>
            </a:r>
            <a:endParaRPr lang="en-US" sz="1100" dirty="0"/>
          </a:p>
        </p:txBody>
      </p:sp>
      <p:sp>
        <p:nvSpPr>
          <p:cNvPr id="18" name="Shape 15"/>
          <p:cNvSpPr/>
          <p:nvPr/>
        </p:nvSpPr>
        <p:spPr>
          <a:xfrm>
            <a:off x="502920" y="2697480"/>
            <a:ext cx="5486400" cy="3429000"/>
          </a:xfrm>
          <a:prstGeom prst="roundRect">
            <a:avLst>
              <a:gd name="adj" fmla="val 2133"/>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9" name="Text 16"/>
          <p:cNvSpPr txBox="1"/>
          <p:nvPr/>
        </p:nvSpPr>
        <p:spPr>
          <a:xfrm>
            <a:off x="731520" y="2852928"/>
            <a:ext cx="502920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Claims by Age Group</a:t>
            </a:r>
            <a:endParaRPr lang="en-US" sz="1400" dirty="0"/>
          </a:p>
        </p:txBody>
      </p:sp>
      <p:graphicFrame>
        <p:nvGraphicFramePr>
          <p:cNvPr id="20" name="Chart 0"/>
          <p:cNvGraphicFramePr/>
          <p:nvPr/>
        </p:nvGraphicFramePr>
        <p:xfrm>
          <a:off x="594360" y="3154680"/>
          <a:ext cx="530352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21" name="Text 17"/>
          <p:cNvSpPr txBox="1"/>
          <p:nvPr/>
        </p:nvSpPr>
        <p:spPr>
          <a:xfrm>
            <a:off x="731520" y="5623560"/>
            <a:ext cx="5029200" cy="36576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Average claim stays between ₹16.2K and ₹16.9K in every age group.</a:t>
            </a:r>
            <a:endParaRPr lang="en-US" sz="1150" dirty="0"/>
          </a:p>
        </p:txBody>
      </p:sp>
      <p:sp>
        <p:nvSpPr>
          <p:cNvPr id="22" name="Shape 18"/>
          <p:cNvSpPr/>
          <p:nvPr/>
        </p:nvSpPr>
        <p:spPr>
          <a:xfrm>
            <a:off x="6199632" y="2697480"/>
            <a:ext cx="5486400" cy="3429000"/>
          </a:xfrm>
          <a:prstGeom prst="roundRect">
            <a:avLst>
              <a:gd name="adj" fmla="val 2133"/>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3" name="Text 19"/>
          <p:cNvSpPr txBox="1"/>
          <p:nvPr/>
        </p:nvSpPr>
        <p:spPr>
          <a:xfrm>
            <a:off x="6428232" y="2852928"/>
            <a:ext cx="502920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Claims by Tenure Group</a:t>
            </a:r>
            <a:endParaRPr lang="en-US" sz="1400" dirty="0"/>
          </a:p>
        </p:txBody>
      </p:sp>
      <p:graphicFrame>
        <p:nvGraphicFramePr>
          <p:cNvPr id="24" name="Chart 1"/>
          <p:cNvGraphicFramePr/>
          <p:nvPr/>
        </p:nvGraphicFramePr>
        <p:xfrm>
          <a:off x="6291072" y="3154680"/>
          <a:ext cx="5303520"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25" name="Text 20"/>
          <p:cNvSpPr txBox="1"/>
          <p:nvPr/>
        </p:nvSpPr>
        <p:spPr>
          <a:xfrm>
            <a:off x="6428232" y="5623560"/>
            <a:ext cx="5029200" cy="36576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Average claim stays between ₹16.4K and ₹16.8K in every tenure group.</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Diagnostic Analysis</a:t>
            </a:r>
            <a:endParaRPr lang="en-US" sz="3100" dirty="0"/>
          </a:p>
        </p:txBody>
      </p:sp>
      <p:sp>
        <p:nvSpPr>
          <p:cNvPr id="3" name="Text 1"/>
          <p:cNvSpPr txBox="1"/>
          <p:nvPr/>
        </p:nvSpPr>
        <p:spPr>
          <a:xfrm>
            <a:off x="530352" y="896112"/>
            <a:ext cx="1115568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Examining relationships between claim attributes</a:t>
            </a:r>
            <a:endParaRPr lang="en-US" sz="1300" dirty="0"/>
          </a:p>
        </p:txBody>
      </p:sp>
      <p:sp>
        <p:nvSpPr>
          <p:cNvPr id="4" name="Text 2"/>
          <p:cNvSpPr txBox="1"/>
          <p:nvPr/>
        </p:nvSpPr>
        <p:spPr>
          <a:xfrm>
            <a:off x="1161288" y="1207008"/>
            <a:ext cx="3246120" cy="237744"/>
          </a:xfrm>
          <a:prstGeom prst="rect">
            <a:avLst/>
          </a:prstGeom>
          <a:noFill/>
          <a:ln/>
        </p:spPr>
        <p:txBody>
          <a:bodyPr wrap="square" lIns="0" tIns="0" rIns="0" bIns="0" rtlCol="0" anchor="ctr"/>
          <a:lstStyle/>
          <a:p>
            <a:pPr marL="0" indent="0">
              <a:buNone/>
            </a:pPr>
            <a:r>
              <a:rPr lang="en-US" sz="950" b="1" kern="0" spc="120" dirty="0">
                <a:solidFill>
                  <a:srgbClr val="6B7684"/>
                </a:solidFill>
                <a:latin typeface="Calibri" pitchFamily="34" charset="0"/>
                <a:ea typeface="Calibri" pitchFamily="34" charset="-122"/>
                <a:cs typeface="Calibri" pitchFamily="34" charset="-120"/>
              </a:rPr>
              <a:t>QUESTION</a:t>
            </a:r>
            <a:endParaRPr lang="en-US" sz="950" dirty="0"/>
          </a:p>
        </p:txBody>
      </p:sp>
      <p:sp>
        <p:nvSpPr>
          <p:cNvPr id="5" name="Text 3"/>
          <p:cNvSpPr txBox="1"/>
          <p:nvPr/>
        </p:nvSpPr>
        <p:spPr>
          <a:xfrm>
            <a:off x="4590288" y="1207008"/>
            <a:ext cx="1737360" cy="237744"/>
          </a:xfrm>
          <a:prstGeom prst="rect">
            <a:avLst/>
          </a:prstGeom>
          <a:noFill/>
          <a:ln/>
        </p:spPr>
        <p:txBody>
          <a:bodyPr wrap="square" lIns="0" tIns="0" rIns="0" bIns="0" rtlCol="0" anchor="ctr"/>
          <a:lstStyle/>
          <a:p>
            <a:pPr marL="0" indent="0">
              <a:buNone/>
            </a:pPr>
            <a:r>
              <a:rPr lang="en-US" sz="950" b="1" kern="0" spc="120" dirty="0">
                <a:solidFill>
                  <a:srgbClr val="6B7684"/>
                </a:solidFill>
                <a:latin typeface="Calibri" pitchFamily="34" charset="0"/>
                <a:ea typeface="Calibri" pitchFamily="34" charset="-122"/>
                <a:cs typeface="Calibri" pitchFamily="34" charset="-120"/>
              </a:rPr>
              <a:t>VERDICT</a:t>
            </a:r>
            <a:endParaRPr lang="en-US" sz="950" dirty="0"/>
          </a:p>
        </p:txBody>
      </p:sp>
      <p:sp>
        <p:nvSpPr>
          <p:cNvPr id="6" name="Text 4"/>
          <p:cNvSpPr txBox="1"/>
          <p:nvPr/>
        </p:nvSpPr>
        <p:spPr>
          <a:xfrm>
            <a:off x="6510528" y="1207008"/>
            <a:ext cx="2240280" cy="237744"/>
          </a:xfrm>
          <a:prstGeom prst="rect">
            <a:avLst/>
          </a:prstGeom>
          <a:noFill/>
          <a:ln/>
        </p:spPr>
        <p:txBody>
          <a:bodyPr wrap="square" lIns="0" tIns="0" rIns="0" bIns="0" rtlCol="0" anchor="ctr"/>
          <a:lstStyle/>
          <a:p>
            <a:pPr marL="0" indent="0">
              <a:buNone/>
            </a:pPr>
            <a:r>
              <a:rPr lang="en-US" sz="950" b="1" kern="0" spc="120" dirty="0">
                <a:solidFill>
                  <a:srgbClr val="6B7684"/>
                </a:solidFill>
                <a:latin typeface="Calibri" pitchFamily="34" charset="0"/>
                <a:ea typeface="Calibri" pitchFamily="34" charset="-122"/>
                <a:cs typeface="Calibri" pitchFamily="34" charset="-120"/>
              </a:rPr>
              <a:t>EVIDENCE</a:t>
            </a:r>
            <a:endParaRPr lang="en-US" sz="950" dirty="0"/>
          </a:p>
        </p:txBody>
      </p:sp>
      <p:sp>
        <p:nvSpPr>
          <p:cNvPr id="7" name="Text 5"/>
          <p:cNvSpPr txBox="1"/>
          <p:nvPr/>
        </p:nvSpPr>
        <p:spPr>
          <a:xfrm>
            <a:off x="8942832" y="1207008"/>
            <a:ext cx="2606040" cy="237744"/>
          </a:xfrm>
          <a:prstGeom prst="rect">
            <a:avLst/>
          </a:prstGeom>
          <a:noFill/>
          <a:ln/>
        </p:spPr>
        <p:txBody>
          <a:bodyPr wrap="square" lIns="0" tIns="0" rIns="0" bIns="0" rtlCol="0" anchor="ctr"/>
          <a:lstStyle/>
          <a:p>
            <a:pPr marL="0" indent="0">
              <a:buNone/>
            </a:pPr>
            <a:r>
              <a:rPr lang="en-US" sz="950" b="1" kern="0" spc="120" dirty="0">
                <a:solidFill>
                  <a:srgbClr val="6B7684"/>
                </a:solidFill>
                <a:latin typeface="Calibri" pitchFamily="34" charset="0"/>
                <a:ea typeface="Calibri" pitchFamily="34" charset="-122"/>
                <a:cs typeface="Calibri" pitchFamily="34" charset="-120"/>
              </a:rPr>
              <a:t>WHAT IT MEANS</a:t>
            </a:r>
            <a:endParaRPr lang="en-US" sz="950" dirty="0"/>
          </a:p>
        </p:txBody>
      </p:sp>
      <p:sp>
        <p:nvSpPr>
          <p:cNvPr id="8" name="Shape 6"/>
          <p:cNvSpPr/>
          <p:nvPr/>
        </p:nvSpPr>
        <p:spPr>
          <a:xfrm>
            <a:off x="502920" y="1499616"/>
            <a:ext cx="11228832" cy="804672"/>
          </a:xfrm>
          <a:prstGeom prst="roundRect">
            <a:avLst>
              <a:gd name="adj" fmla="val 909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9" name="Shape 7"/>
          <p:cNvSpPr/>
          <p:nvPr/>
        </p:nvSpPr>
        <p:spPr>
          <a:xfrm>
            <a:off x="713232" y="1737360"/>
            <a:ext cx="329184" cy="329184"/>
          </a:xfrm>
          <a:prstGeom prst="ellipse">
            <a:avLst/>
          </a:prstGeom>
          <a:solidFill>
            <a:srgbClr val="2F75B5"/>
          </a:solidFill>
          <a:ln w="12700">
            <a:solidFill>
              <a:srgbClr val="2F75B5"/>
            </a:solidFill>
            <a:prstDash val="solid"/>
          </a:ln>
        </p:spPr>
      </p:sp>
      <p:sp>
        <p:nvSpPr>
          <p:cNvPr id="10" name="Text 8"/>
          <p:cNvSpPr txBox="1"/>
          <p:nvPr/>
        </p:nvSpPr>
        <p:spPr>
          <a:xfrm>
            <a:off x="713232" y="1737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11" name="Text 9"/>
          <p:cNvSpPr txBox="1"/>
          <p:nvPr/>
        </p:nvSpPr>
        <p:spPr>
          <a:xfrm>
            <a:off x="1161288" y="1499616"/>
            <a:ext cx="3246120" cy="804672"/>
          </a:xfrm>
          <a:prstGeom prst="rect">
            <a:avLst/>
          </a:prstGeom>
          <a:noFill/>
          <a:ln/>
        </p:spPr>
        <p:txBody>
          <a:bodyPr wrap="square" lIns="0" tIns="0" rIns="0" bIns="0" rtlCol="0" anchor="ctr"/>
          <a:lstStyle/>
          <a:p>
            <a:pPr marL="0" indent="0">
              <a:lnSpc>
                <a:spcPts val="1500"/>
              </a:lnSpc>
              <a:buNone/>
            </a:pPr>
            <a:r>
              <a:rPr lang="en-US" sz="1200" b="1" dirty="0">
                <a:solidFill>
                  <a:srgbClr val="17365D"/>
                </a:solidFill>
                <a:latin typeface="Calibri" pitchFamily="34" charset="0"/>
                <a:ea typeface="Calibri" pitchFamily="34" charset="-122"/>
                <a:cs typeface="Calibri" pitchFamily="34" charset="-120"/>
              </a:rPr>
              <a:t>Does risk vary across incident severity?</a:t>
            </a:r>
            <a:endParaRPr lang="en-US" sz="1200" dirty="0"/>
          </a:p>
        </p:txBody>
      </p:sp>
      <p:sp>
        <p:nvSpPr>
          <p:cNvPr id="12" name="Shape 10"/>
          <p:cNvSpPr/>
          <p:nvPr/>
        </p:nvSpPr>
        <p:spPr>
          <a:xfrm>
            <a:off x="4590288" y="1719072"/>
            <a:ext cx="1737360" cy="365760"/>
          </a:xfrm>
          <a:prstGeom prst="roundRect">
            <a:avLst>
              <a:gd name="adj" fmla="val 12500"/>
            </a:avLst>
          </a:prstGeom>
          <a:solidFill>
            <a:srgbClr val="E2F1F2"/>
          </a:solidFill>
          <a:ln w="12700">
            <a:solidFill>
              <a:srgbClr val="BFE0E2"/>
            </a:solidFill>
            <a:prstDash val="solid"/>
          </a:ln>
        </p:spPr>
      </p:sp>
      <p:sp>
        <p:nvSpPr>
          <p:cNvPr id="13" name="Text 11"/>
          <p:cNvSpPr txBox="1"/>
          <p:nvPr/>
        </p:nvSpPr>
        <p:spPr>
          <a:xfrm>
            <a:off x="4590288" y="1719072"/>
            <a:ext cx="1737360" cy="365760"/>
          </a:xfrm>
          <a:prstGeom prst="rect">
            <a:avLst/>
          </a:prstGeom>
          <a:noFill/>
          <a:ln/>
        </p:spPr>
        <p:txBody>
          <a:bodyPr wrap="square" lIns="0" tIns="0" rIns="0" bIns="0" rtlCol="0" anchor="ctr"/>
          <a:lstStyle/>
          <a:p>
            <a:pPr marL="0" indent="0" algn="ctr">
              <a:buNone/>
            </a:pPr>
            <a:r>
              <a:rPr lang="en-US" sz="850" b="1" kern="0" spc="40" dirty="0">
                <a:solidFill>
                  <a:srgbClr val="00666D"/>
                </a:solidFill>
                <a:latin typeface="Calibri" pitchFamily="34" charset="0"/>
                <a:ea typeface="Calibri" pitchFamily="34" charset="-122"/>
                <a:cs typeface="Calibri" pitchFamily="34" charset="-120"/>
              </a:rPr>
              <a:t>PATTERN OBSERVED</a:t>
            </a:r>
            <a:endParaRPr lang="en-US" sz="850" dirty="0"/>
          </a:p>
        </p:txBody>
      </p:sp>
      <p:sp>
        <p:nvSpPr>
          <p:cNvPr id="14" name="Text 12"/>
          <p:cNvSpPr txBox="1"/>
          <p:nvPr/>
        </p:nvSpPr>
        <p:spPr>
          <a:xfrm>
            <a:off x="6510528" y="1499616"/>
            <a:ext cx="2240280" cy="804672"/>
          </a:xfrm>
          <a:prstGeom prst="rect">
            <a:avLst/>
          </a:prstGeom>
          <a:noFill/>
          <a:ln/>
        </p:spPr>
        <p:txBody>
          <a:bodyPr wrap="square" lIns="0" tIns="0" rIns="0" bIns="0" rtlCol="0" anchor="ctr"/>
          <a:lstStyle/>
          <a:p>
            <a:pPr marL="0" indent="0">
              <a:lnSpc>
                <a:spcPts val="1400"/>
              </a:lnSpc>
              <a:buNone/>
            </a:pPr>
            <a:r>
              <a:rPr lang="en-US" sz="1050" b="1" dirty="0">
                <a:solidFill>
                  <a:srgbClr val="2F75B5"/>
                </a:solidFill>
                <a:latin typeface="Calibri" pitchFamily="34" charset="0"/>
                <a:ea typeface="Calibri" pitchFamily="34" charset="-122"/>
                <a:cs typeface="Calibri" pitchFamily="34" charset="-120"/>
              </a:rPr>
              <a:t>Low 4,395  ·  Medium 4,150  ·  High 1,455</a:t>
            </a:r>
            <a:endParaRPr lang="en-US" sz="1050" dirty="0"/>
          </a:p>
        </p:txBody>
      </p:sp>
      <p:sp>
        <p:nvSpPr>
          <p:cNvPr id="15" name="Text 13"/>
          <p:cNvSpPr txBox="1"/>
          <p:nvPr/>
        </p:nvSpPr>
        <p:spPr>
          <a:xfrm>
            <a:off x="8942832" y="1499616"/>
            <a:ext cx="2606040" cy="804672"/>
          </a:xfrm>
          <a:prstGeom prst="rect">
            <a:avLst/>
          </a:prstGeom>
          <a:noFill/>
          <a:ln/>
        </p:spPr>
        <p:txBody>
          <a:bodyPr wrap="square" lIns="0" tIns="0" rIns="0" bIns="0" rtlCol="0" anchor="ctr"/>
          <a:lstStyle/>
          <a:p>
            <a:pPr marL="0" indent="0">
              <a:lnSpc>
                <a:spcPts val="1400"/>
              </a:lnSpc>
              <a:buNone/>
            </a:pPr>
            <a:r>
              <a:rPr lang="en-US" sz="1050" dirty="0">
                <a:solidFill>
                  <a:srgbClr val="2B3440"/>
                </a:solidFill>
                <a:latin typeface="Calibri" pitchFamily="34" charset="0"/>
                <a:ea typeface="Calibri" pitchFamily="34" charset="-122"/>
                <a:cs typeface="Calibri" pitchFamily="34" charset="-120"/>
              </a:rPr>
              <a:t>Shows how risk categories are distributed across severity levels.</a:t>
            </a:r>
            <a:endParaRPr lang="en-US" sz="1050" dirty="0"/>
          </a:p>
        </p:txBody>
      </p:sp>
      <p:sp>
        <p:nvSpPr>
          <p:cNvPr id="16" name="Shape 14"/>
          <p:cNvSpPr/>
          <p:nvPr/>
        </p:nvSpPr>
        <p:spPr>
          <a:xfrm>
            <a:off x="502920" y="2395728"/>
            <a:ext cx="11228832" cy="804672"/>
          </a:xfrm>
          <a:prstGeom prst="roundRect">
            <a:avLst>
              <a:gd name="adj" fmla="val 909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7" name="Shape 15"/>
          <p:cNvSpPr/>
          <p:nvPr/>
        </p:nvSpPr>
        <p:spPr>
          <a:xfrm>
            <a:off x="713232" y="2633472"/>
            <a:ext cx="329184" cy="329184"/>
          </a:xfrm>
          <a:prstGeom prst="ellipse">
            <a:avLst/>
          </a:prstGeom>
          <a:solidFill>
            <a:srgbClr val="008C95"/>
          </a:solidFill>
          <a:ln w="12700">
            <a:solidFill>
              <a:srgbClr val="008C95"/>
            </a:solidFill>
            <a:prstDash val="solid"/>
          </a:ln>
        </p:spPr>
      </p:sp>
      <p:sp>
        <p:nvSpPr>
          <p:cNvPr id="18" name="Text 16"/>
          <p:cNvSpPr txBox="1"/>
          <p:nvPr/>
        </p:nvSpPr>
        <p:spPr>
          <a:xfrm>
            <a:off x="713232" y="26334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9" name="Text 17"/>
          <p:cNvSpPr txBox="1"/>
          <p:nvPr/>
        </p:nvSpPr>
        <p:spPr>
          <a:xfrm>
            <a:off x="1161288" y="2395728"/>
            <a:ext cx="3246120" cy="804672"/>
          </a:xfrm>
          <a:prstGeom prst="rect">
            <a:avLst/>
          </a:prstGeom>
          <a:noFill/>
          <a:ln/>
        </p:spPr>
        <p:txBody>
          <a:bodyPr wrap="square" lIns="0" tIns="0" rIns="0" bIns="0" rtlCol="0" anchor="ctr"/>
          <a:lstStyle/>
          <a:p>
            <a:pPr marL="0" indent="0">
              <a:lnSpc>
                <a:spcPts val="1500"/>
              </a:lnSpc>
              <a:buNone/>
            </a:pPr>
            <a:r>
              <a:rPr lang="en-US" sz="1200" b="1" dirty="0">
                <a:solidFill>
                  <a:srgbClr val="17365D"/>
                </a:solidFill>
                <a:latin typeface="Calibri" pitchFamily="34" charset="0"/>
                <a:ea typeface="Calibri" pitchFamily="34" charset="-122"/>
                <a:cs typeface="Calibri" pitchFamily="34" charset="-120"/>
              </a:rPr>
              <a:t>Does risk profile differ by insurance type?</a:t>
            </a:r>
            <a:endParaRPr lang="en-US" sz="1200" dirty="0"/>
          </a:p>
        </p:txBody>
      </p:sp>
      <p:sp>
        <p:nvSpPr>
          <p:cNvPr id="20" name="Shape 18"/>
          <p:cNvSpPr/>
          <p:nvPr/>
        </p:nvSpPr>
        <p:spPr>
          <a:xfrm>
            <a:off x="4590288" y="2615184"/>
            <a:ext cx="1737360" cy="365760"/>
          </a:xfrm>
          <a:prstGeom prst="roundRect">
            <a:avLst>
              <a:gd name="adj" fmla="val 12500"/>
            </a:avLst>
          </a:prstGeom>
          <a:solidFill>
            <a:srgbClr val="E2F1F2"/>
          </a:solidFill>
          <a:ln w="12700">
            <a:solidFill>
              <a:srgbClr val="BFE0E2"/>
            </a:solidFill>
            <a:prstDash val="solid"/>
          </a:ln>
        </p:spPr>
      </p:sp>
      <p:sp>
        <p:nvSpPr>
          <p:cNvPr id="21" name="Text 19"/>
          <p:cNvSpPr txBox="1"/>
          <p:nvPr/>
        </p:nvSpPr>
        <p:spPr>
          <a:xfrm>
            <a:off x="4590288" y="2615184"/>
            <a:ext cx="1737360" cy="365760"/>
          </a:xfrm>
          <a:prstGeom prst="rect">
            <a:avLst/>
          </a:prstGeom>
          <a:noFill/>
          <a:ln/>
        </p:spPr>
        <p:txBody>
          <a:bodyPr wrap="square" lIns="0" tIns="0" rIns="0" bIns="0" rtlCol="0" anchor="ctr"/>
          <a:lstStyle/>
          <a:p>
            <a:pPr marL="0" indent="0" algn="ctr">
              <a:buNone/>
            </a:pPr>
            <a:r>
              <a:rPr lang="en-US" sz="850" b="1" kern="0" spc="40" dirty="0">
                <a:solidFill>
                  <a:srgbClr val="00666D"/>
                </a:solidFill>
                <a:latin typeface="Calibri" pitchFamily="34" charset="0"/>
                <a:ea typeface="Calibri" pitchFamily="34" charset="-122"/>
                <a:cs typeface="Calibri" pitchFamily="34" charset="-120"/>
              </a:rPr>
              <a:t>PATTERN OBSERVED</a:t>
            </a:r>
            <a:endParaRPr lang="en-US" sz="850" dirty="0"/>
          </a:p>
        </p:txBody>
      </p:sp>
      <p:sp>
        <p:nvSpPr>
          <p:cNvPr id="22" name="Text 20"/>
          <p:cNvSpPr txBox="1"/>
          <p:nvPr/>
        </p:nvSpPr>
        <p:spPr>
          <a:xfrm>
            <a:off x="6510528" y="2395728"/>
            <a:ext cx="2240280" cy="804672"/>
          </a:xfrm>
          <a:prstGeom prst="rect">
            <a:avLst/>
          </a:prstGeom>
          <a:noFill/>
          <a:ln/>
        </p:spPr>
        <p:txBody>
          <a:bodyPr wrap="square" lIns="0" tIns="0" rIns="0" bIns="0" rtlCol="0" anchor="ctr"/>
          <a:lstStyle/>
          <a:p>
            <a:pPr marL="0" indent="0">
              <a:lnSpc>
                <a:spcPts val="1400"/>
              </a:lnSpc>
              <a:buNone/>
            </a:pPr>
            <a:r>
              <a:rPr lang="en-US" sz="1050" b="1" dirty="0">
                <a:solidFill>
                  <a:srgbClr val="2F75B5"/>
                </a:solidFill>
                <a:latin typeface="Calibri" pitchFamily="34" charset="0"/>
                <a:ea typeface="Calibri" pitchFamily="34" charset="-122"/>
                <a:cs typeface="Calibri" pitchFamily="34" charset="-120"/>
              </a:rPr>
              <a:t>6 insurance types  ·  10,000 claims</a:t>
            </a:r>
            <a:endParaRPr lang="en-US" sz="1050" dirty="0"/>
          </a:p>
        </p:txBody>
      </p:sp>
      <p:sp>
        <p:nvSpPr>
          <p:cNvPr id="23" name="Text 21"/>
          <p:cNvSpPr txBox="1"/>
          <p:nvPr/>
        </p:nvSpPr>
        <p:spPr>
          <a:xfrm>
            <a:off x="8942832" y="2395728"/>
            <a:ext cx="2606040" cy="804672"/>
          </a:xfrm>
          <a:prstGeom prst="rect">
            <a:avLst/>
          </a:prstGeom>
          <a:noFill/>
          <a:ln/>
        </p:spPr>
        <p:txBody>
          <a:bodyPr wrap="square" lIns="0" tIns="0" rIns="0" bIns="0" rtlCol="0" anchor="ctr"/>
          <a:lstStyle/>
          <a:p>
            <a:pPr marL="0" indent="0">
              <a:lnSpc>
                <a:spcPts val="1400"/>
              </a:lnSpc>
              <a:buNone/>
            </a:pPr>
            <a:r>
              <a:rPr lang="en-US" sz="1050" dirty="0">
                <a:solidFill>
                  <a:srgbClr val="2B3440"/>
                </a:solidFill>
                <a:latin typeface="Calibri" pitchFamily="34" charset="0"/>
                <a:ea typeface="Calibri" pitchFamily="34" charset="-122"/>
                <a:cs typeface="Calibri" pitchFamily="34" charset="-120"/>
              </a:rPr>
              <a:t>Helps compare risk composition across insurance products.</a:t>
            </a:r>
            <a:endParaRPr lang="en-US" sz="1050" dirty="0"/>
          </a:p>
        </p:txBody>
      </p:sp>
      <p:sp>
        <p:nvSpPr>
          <p:cNvPr id="24" name="Shape 22"/>
          <p:cNvSpPr/>
          <p:nvPr/>
        </p:nvSpPr>
        <p:spPr>
          <a:xfrm>
            <a:off x="502920" y="3291840"/>
            <a:ext cx="11228832" cy="804672"/>
          </a:xfrm>
          <a:prstGeom prst="roundRect">
            <a:avLst>
              <a:gd name="adj" fmla="val 909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5" name="Shape 23"/>
          <p:cNvSpPr/>
          <p:nvPr/>
        </p:nvSpPr>
        <p:spPr>
          <a:xfrm>
            <a:off x="713232" y="3529584"/>
            <a:ext cx="329184" cy="329184"/>
          </a:xfrm>
          <a:prstGeom prst="ellipse">
            <a:avLst/>
          </a:prstGeom>
          <a:solidFill>
            <a:srgbClr val="2F75B5"/>
          </a:solidFill>
          <a:ln w="12700">
            <a:solidFill>
              <a:srgbClr val="2F75B5"/>
            </a:solidFill>
            <a:prstDash val="solid"/>
          </a:ln>
        </p:spPr>
      </p:sp>
      <p:sp>
        <p:nvSpPr>
          <p:cNvPr id="26" name="Text 24"/>
          <p:cNvSpPr txBox="1"/>
          <p:nvPr/>
        </p:nvSpPr>
        <p:spPr>
          <a:xfrm>
            <a:off x="713232" y="35295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27" name="Text 25"/>
          <p:cNvSpPr txBox="1"/>
          <p:nvPr/>
        </p:nvSpPr>
        <p:spPr>
          <a:xfrm>
            <a:off x="1161288" y="3291840"/>
            <a:ext cx="3246120" cy="804672"/>
          </a:xfrm>
          <a:prstGeom prst="rect">
            <a:avLst/>
          </a:prstGeom>
          <a:noFill/>
          <a:ln/>
        </p:spPr>
        <p:txBody>
          <a:bodyPr wrap="square" lIns="0" tIns="0" rIns="0" bIns="0" rtlCol="0" anchor="ctr"/>
          <a:lstStyle/>
          <a:p>
            <a:pPr marL="0" indent="0">
              <a:lnSpc>
                <a:spcPts val="1500"/>
              </a:lnSpc>
              <a:buNone/>
            </a:pPr>
            <a:r>
              <a:rPr lang="en-US" sz="1200" b="1" dirty="0">
                <a:solidFill>
                  <a:srgbClr val="17365D"/>
                </a:solidFill>
                <a:latin typeface="Calibri" pitchFamily="34" charset="0"/>
                <a:ea typeface="Calibri" pitchFamily="34" charset="-122"/>
                <a:cs typeface="Calibri" pitchFamily="34" charset="-120"/>
              </a:rPr>
              <a:t>Does claim amount vary by severity?</a:t>
            </a:r>
            <a:endParaRPr lang="en-US" sz="1200" dirty="0"/>
          </a:p>
        </p:txBody>
      </p:sp>
      <p:sp>
        <p:nvSpPr>
          <p:cNvPr id="28" name="Shape 26"/>
          <p:cNvSpPr/>
          <p:nvPr/>
        </p:nvSpPr>
        <p:spPr>
          <a:xfrm>
            <a:off x="4590288" y="3511296"/>
            <a:ext cx="1737360" cy="365760"/>
          </a:xfrm>
          <a:prstGeom prst="roundRect">
            <a:avLst>
              <a:gd name="adj" fmla="val 12500"/>
            </a:avLst>
          </a:prstGeom>
          <a:solidFill>
            <a:srgbClr val="E2F1F2"/>
          </a:solidFill>
          <a:ln w="12700">
            <a:solidFill>
              <a:srgbClr val="BFE0E2"/>
            </a:solidFill>
            <a:prstDash val="solid"/>
          </a:ln>
        </p:spPr>
      </p:sp>
      <p:sp>
        <p:nvSpPr>
          <p:cNvPr id="29" name="Text 27"/>
          <p:cNvSpPr txBox="1"/>
          <p:nvPr/>
        </p:nvSpPr>
        <p:spPr>
          <a:xfrm>
            <a:off x="4590288" y="3511296"/>
            <a:ext cx="1737360" cy="365760"/>
          </a:xfrm>
          <a:prstGeom prst="rect">
            <a:avLst/>
          </a:prstGeom>
          <a:noFill/>
          <a:ln/>
        </p:spPr>
        <p:txBody>
          <a:bodyPr wrap="square" lIns="0" tIns="0" rIns="0" bIns="0" rtlCol="0" anchor="ctr"/>
          <a:lstStyle/>
          <a:p>
            <a:pPr marL="0" indent="0" algn="ctr">
              <a:buNone/>
            </a:pPr>
            <a:r>
              <a:rPr lang="en-US" sz="850" b="1" kern="0" spc="40" dirty="0">
                <a:solidFill>
                  <a:srgbClr val="00666D"/>
                </a:solidFill>
                <a:latin typeface="Calibri" pitchFamily="34" charset="0"/>
                <a:ea typeface="Calibri" pitchFamily="34" charset="-122"/>
                <a:cs typeface="Calibri" pitchFamily="34" charset="-120"/>
              </a:rPr>
              <a:t>PATTERN OBSERVED</a:t>
            </a:r>
            <a:endParaRPr lang="en-US" sz="850" dirty="0"/>
          </a:p>
        </p:txBody>
      </p:sp>
      <p:sp>
        <p:nvSpPr>
          <p:cNvPr id="30" name="Text 28"/>
          <p:cNvSpPr txBox="1"/>
          <p:nvPr/>
        </p:nvSpPr>
        <p:spPr>
          <a:xfrm>
            <a:off x="6510528" y="3291840"/>
            <a:ext cx="2240280" cy="804672"/>
          </a:xfrm>
          <a:prstGeom prst="rect">
            <a:avLst/>
          </a:prstGeom>
          <a:noFill/>
          <a:ln/>
        </p:spPr>
        <p:txBody>
          <a:bodyPr wrap="square" lIns="0" tIns="0" rIns="0" bIns="0" rtlCol="0" anchor="ctr"/>
          <a:lstStyle/>
          <a:p>
            <a:pPr marL="0" indent="0">
              <a:lnSpc>
                <a:spcPts val="1400"/>
              </a:lnSpc>
              <a:buNone/>
            </a:pPr>
            <a:r>
              <a:rPr lang="en-US" sz="1050" b="1" dirty="0">
                <a:solidFill>
                  <a:srgbClr val="2F75B5"/>
                </a:solidFill>
                <a:latin typeface="Calibri" pitchFamily="34" charset="0"/>
                <a:ea typeface="Calibri" pitchFamily="34" charset="-122"/>
                <a:cs typeface="Calibri" pitchFamily="34" charset="-120"/>
              </a:rPr>
              <a:t>Average ₹16,563.83  ·  Median ₹7,000</a:t>
            </a:r>
            <a:endParaRPr lang="en-US" sz="1050" dirty="0"/>
          </a:p>
        </p:txBody>
      </p:sp>
      <p:sp>
        <p:nvSpPr>
          <p:cNvPr id="31" name="Text 29"/>
          <p:cNvSpPr txBox="1"/>
          <p:nvPr/>
        </p:nvSpPr>
        <p:spPr>
          <a:xfrm>
            <a:off x="8942832" y="3291840"/>
            <a:ext cx="2606040" cy="804672"/>
          </a:xfrm>
          <a:prstGeom prst="rect">
            <a:avLst/>
          </a:prstGeom>
          <a:noFill/>
          <a:ln/>
        </p:spPr>
        <p:txBody>
          <a:bodyPr wrap="square" lIns="0" tIns="0" rIns="0" bIns="0" rtlCol="0" anchor="ctr"/>
          <a:lstStyle/>
          <a:p>
            <a:pPr marL="0" indent="0">
              <a:lnSpc>
                <a:spcPts val="1400"/>
              </a:lnSpc>
              <a:buNone/>
            </a:pPr>
            <a:r>
              <a:rPr lang="en-US" sz="1050" dirty="0">
                <a:solidFill>
                  <a:srgbClr val="2B3440"/>
                </a:solidFill>
                <a:latin typeface="Calibri" pitchFamily="34" charset="0"/>
                <a:ea typeface="Calibri" pitchFamily="34" charset="-122"/>
                <a:cs typeface="Calibri" pitchFamily="34" charset="-120"/>
              </a:rPr>
              <a:t>Helps understand financial exposure across severity levels.</a:t>
            </a:r>
            <a:endParaRPr lang="en-US" sz="1050" dirty="0"/>
          </a:p>
        </p:txBody>
      </p:sp>
      <p:sp>
        <p:nvSpPr>
          <p:cNvPr id="32" name="Shape 30"/>
          <p:cNvSpPr/>
          <p:nvPr/>
        </p:nvSpPr>
        <p:spPr>
          <a:xfrm>
            <a:off x="502920" y="4187952"/>
            <a:ext cx="11228832" cy="804672"/>
          </a:xfrm>
          <a:prstGeom prst="roundRect">
            <a:avLst>
              <a:gd name="adj" fmla="val 909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3" name="Shape 31"/>
          <p:cNvSpPr/>
          <p:nvPr/>
        </p:nvSpPr>
        <p:spPr>
          <a:xfrm>
            <a:off x="713232" y="4425696"/>
            <a:ext cx="329184" cy="329184"/>
          </a:xfrm>
          <a:prstGeom prst="ellipse">
            <a:avLst/>
          </a:prstGeom>
          <a:solidFill>
            <a:srgbClr val="008C95"/>
          </a:solidFill>
          <a:ln w="12700">
            <a:solidFill>
              <a:srgbClr val="008C95"/>
            </a:solidFill>
            <a:prstDash val="solid"/>
          </a:ln>
        </p:spPr>
      </p:sp>
      <p:sp>
        <p:nvSpPr>
          <p:cNvPr id="34" name="Text 32"/>
          <p:cNvSpPr txBox="1"/>
          <p:nvPr/>
        </p:nvSpPr>
        <p:spPr>
          <a:xfrm>
            <a:off x="713232" y="442569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35" name="Text 33"/>
          <p:cNvSpPr txBox="1"/>
          <p:nvPr/>
        </p:nvSpPr>
        <p:spPr>
          <a:xfrm>
            <a:off x="1161288" y="4187952"/>
            <a:ext cx="3246120" cy="804672"/>
          </a:xfrm>
          <a:prstGeom prst="rect">
            <a:avLst/>
          </a:prstGeom>
          <a:noFill/>
          <a:ln/>
        </p:spPr>
        <p:txBody>
          <a:bodyPr wrap="square" lIns="0" tIns="0" rIns="0" bIns="0" rtlCol="0" anchor="ctr"/>
          <a:lstStyle/>
          <a:p>
            <a:pPr marL="0" indent="0">
              <a:lnSpc>
                <a:spcPts val="1500"/>
              </a:lnSpc>
              <a:buNone/>
            </a:pPr>
            <a:r>
              <a:rPr lang="en-US" sz="1200" b="1" dirty="0">
                <a:solidFill>
                  <a:srgbClr val="17365D"/>
                </a:solidFill>
                <a:latin typeface="Calibri" pitchFamily="34" charset="0"/>
                <a:ea typeface="Calibri" pitchFamily="34" charset="-122"/>
                <a:cs typeface="Calibri" pitchFamily="34" charset="-120"/>
              </a:rPr>
              <a:t>Does reporting delay relate to claim amount?</a:t>
            </a:r>
            <a:endParaRPr lang="en-US" sz="1200" dirty="0"/>
          </a:p>
        </p:txBody>
      </p:sp>
      <p:sp>
        <p:nvSpPr>
          <p:cNvPr id="36" name="Shape 34"/>
          <p:cNvSpPr/>
          <p:nvPr/>
        </p:nvSpPr>
        <p:spPr>
          <a:xfrm>
            <a:off x="4590288" y="4407408"/>
            <a:ext cx="1737360" cy="365760"/>
          </a:xfrm>
          <a:prstGeom prst="roundRect">
            <a:avLst>
              <a:gd name="adj" fmla="val 12500"/>
            </a:avLst>
          </a:prstGeom>
          <a:solidFill>
            <a:srgbClr val="E2F1F2"/>
          </a:solidFill>
          <a:ln w="12700">
            <a:solidFill>
              <a:srgbClr val="BFE0E2"/>
            </a:solidFill>
            <a:prstDash val="solid"/>
          </a:ln>
        </p:spPr>
      </p:sp>
      <p:sp>
        <p:nvSpPr>
          <p:cNvPr id="37" name="Text 35"/>
          <p:cNvSpPr txBox="1"/>
          <p:nvPr/>
        </p:nvSpPr>
        <p:spPr>
          <a:xfrm>
            <a:off x="4590288" y="4407408"/>
            <a:ext cx="1737360" cy="365760"/>
          </a:xfrm>
          <a:prstGeom prst="rect">
            <a:avLst/>
          </a:prstGeom>
          <a:noFill/>
          <a:ln/>
        </p:spPr>
        <p:txBody>
          <a:bodyPr wrap="square" lIns="0" tIns="0" rIns="0" bIns="0" rtlCol="0" anchor="ctr"/>
          <a:lstStyle/>
          <a:p>
            <a:pPr marL="0" indent="0" algn="ctr">
              <a:buNone/>
            </a:pPr>
            <a:r>
              <a:rPr lang="en-US" sz="850" b="1" kern="0" spc="40" dirty="0">
                <a:solidFill>
                  <a:srgbClr val="00666D"/>
                </a:solidFill>
                <a:latin typeface="Calibri" pitchFamily="34" charset="0"/>
                <a:ea typeface="Calibri" pitchFamily="34" charset="-122"/>
                <a:cs typeface="Calibri" pitchFamily="34" charset="-120"/>
              </a:rPr>
              <a:t>PATTERN OBSERVED</a:t>
            </a:r>
            <a:endParaRPr lang="en-US" sz="850" dirty="0"/>
          </a:p>
        </p:txBody>
      </p:sp>
      <p:sp>
        <p:nvSpPr>
          <p:cNvPr id="38" name="Text 36"/>
          <p:cNvSpPr txBox="1"/>
          <p:nvPr/>
        </p:nvSpPr>
        <p:spPr>
          <a:xfrm>
            <a:off x="6510528" y="4187952"/>
            <a:ext cx="2240280" cy="804672"/>
          </a:xfrm>
          <a:prstGeom prst="rect">
            <a:avLst/>
          </a:prstGeom>
          <a:noFill/>
          <a:ln/>
        </p:spPr>
        <p:txBody>
          <a:bodyPr wrap="square" lIns="0" tIns="0" rIns="0" bIns="0" rtlCol="0" anchor="ctr"/>
          <a:lstStyle/>
          <a:p>
            <a:pPr marL="0" indent="0">
              <a:lnSpc>
                <a:spcPts val="1400"/>
              </a:lnSpc>
              <a:buNone/>
            </a:pPr>
            <a:r>
              <a:rPr lang="en-US" sz="1050" b="1" dirty="0">
                <a:solidFill>
                  <a:srgbClr val="2F75B5"/>
                </a:solidFill>
                <a:latin typeface="Calibri" pitchFamily="34" charset="0"/>
                <a:ea typeface="Calibri" pitchFamily="34" charset="-122"/>
                <a:cs typeface="Calibri" pitchFamily="34" charset="-120"/>
              </a:rPr>
              <a:t>Delay 0–5 days  ·  Average 3.21 days</a:t>
            </a:r>
            <a:endParaRPr lang="en-US" sz="1050" dirty="0"/>
          </a:p>
        </p:txBody>
      </p:sp>
      <p:sp>
        <p:nvSpPr>
          <p:cNvPr id="39" name="Text 37"/>
          <p:cNvSpPr txBox="1"/>
          <p:nvPr/>
        </p:nvSpPr>
        <p:spPr>
          <a:xfrm>
            <a:off x="8942832" y="4187952"/>
            <a:ext cx="2606040" cy="804672"/>
          </a:xfrm>
          <a:prstGeom prst="rect">
            <a:avLst/>
          </a:prstGeom>
          <a:noFill/>
          <a:ln/>
        </p:spPr>
        <p:txBody>
          <a:bodyPr wrap="square" lIns="0" tIns="0" rIns="0" bIns="0" rtlCol="0" anchor="ctr"/>
          <a:lstStyle/>
          <a:p>
            <a:pPr marL="0" indent="0">
              <a:lnSpc>
                <a:spcPts val="1400"/>
              </a:lnSpc>
              <a:buNone/>
            </a:pPr>
            <a:r>
              <a:rPr lang="en-US" sz="1050" dirty="0">
                <a:solidFill>
                  <a:srgbClr val="2B3440"/>
                </a:solidFill>
                <a:latin typeface="Calibri" pitchFamily="34" charset="0"/>
                <a:ea typeface="Calibri" pitchFamily="34" charset="-122"/>
                <a:cs typeface="Calibri" pitchFamily="34" charset="-120"/>
              </a:rPr>
              <a:t>Helps compare claim exposure across reporting timelines.</a:t>
            </a:r>
            <a:endParaRPr lang="en-US" sz="1050" dirty="0"/>
          </a:p>
        </p:txBody>
      </p:sp>
      <p:sp>
        <p:nvSpPr>
          <p:cNvPr id="40" name="Shape 38"/>
          <p:cNvSpPr/>
          <p:nvPr/>
        </p:nvSpPr>
        <p:spPr>
          <a:xfrm>
            <a:off x="502920" y="5084064"/>
            <a:ext cx="11228832" cy="804672"/>
          </a:xfrm>
          <a:prstGeom prst="roundRect">
            <a:avLst>
              <a:gd name="adj" fmla="val 909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41" name="Shape 39"/>
          <p:cNvSpPr/>
          <p:nvPr/>
        </p:nvSpPr>
        <p:spPr>
          <a:xfrm>
            <a:off x="713232" y="5321808"/>
            <a:ext cx="329184" cy="329184"/>
          </a:xfrm>
          <a:prstGeom prst="ellipse">
            <a:avLst/>
          </a:prstGeom>
          <a:solidFill>
            <a:srgbClr val="2F75B5"/>
          </a:solidFill>
          <a:ln w="12700">
            <a:solidFill>
              <a:srgbClr val="2F75B5"/>
            </a:solidFill>
            <a:prstDash val="solid"/>
          </a:ln>
        </p:spPr>
      </p:sp>
      <p:sp>
        <p:nvSpPr>
          <p:cNvPr id="42" name="Text 40"/>
          <p:cNvSpPr txBox="1"/>
          <p:nvPr/>
        </p:nvSpPr>
        <p:spPr>
          <a:xfrm>
            <a:off x="713232" y="53218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43" name="Text 41"/>
          <p:cNvSpPr txBox="1"/>
          <p:nvPr/>
        </p:nvSpPr>
        <p:spPr>
          <a:xfrm>
            <a:off x="1161288" y="5084064"/>
            <a:ext cx="3246120" cy="804672"/>
          </a:xfrm>
          <a:prstGeom prst="rect">
            <a:avLst/>
          </a:prstGeom>
          <a:noFill/>
          <a:ln/>
        </p:spPr>
        <p:txBody>
          <a:bodyPr wrap="square" lIns="0" tIns="0" rIns="0" bIns="0" rtlCol="0" anchor="ctr"/>
          <a:lstStyle/>
          <a:p>
            <a:pPr marL="0" indent="0">
              <a:lnSpc>
                <a:spcPts val="1500"/>
              </a:lnSpc>
              <a:buNone/>
            </a:pPr>
            <a:r>
              <a:rPr lang="en-US" sz="1200" b="1" dirty="0">
                <a:solidFill>
                  <a:srgbClr val="17365D"/>
                </a:solidFill>
                <a:latin typeface="Calibri" pitchFamily="34" charset="0"/>
                <a:ea typeface="Calibri" pitchFamily="34" charset="-122"/>
                <a:cs typeface="Calibri" pitchFamily="34" charset="-120"/>
              </a:rPr>
              <a:t>Do agents and vendors have different claim exposure?</a:t>
            </a:r>
            <a:endParaRPr lang="en-US" sz="1200" dirty="0"/>
          </a:p>
        </p:txBody>
      </p:sp>
      <p:sp>
        <p:nvSpPr>
          <p:cNvPr id="44" name="Shape 42"/>
          <p:cNvSpPr/>
          <p:nvPr/>
        </p:nvSpPr>
        <p:spPr>
          <a:xfrm>
            <a:off x="4590288" y="5303520"/>
            <a:ext cx="1737360" cy="365760"/>
          </a:xfrm>
          <a:prstGeom prst="roundRect">
            <a:avLst>
              <a:gd name="adj" fmla="val 12500"/>
            </a:avLst>
          </a:prstGeom>
          <a:solidFill>
            <a:srgbClr val="E2F1F2"/>
          </a:solidFill>
          <a:ln w="12700">
            <a:solidFill>
              <a:srgbClr val="BFE0E2"/>
            </a:solidFill>
            <a:prstDash val="solid"/>
          </a:ln>
        </p:spPr>
      </p:sp>
      <p:sp>
        <p:nvSpPr>
          <p:cNvPr id="45" name="Text 43"/>
          <p:cNvSpPr txBox="1"/>
          <p:nvPr/>
        </p:nvSpPr>
        <p:spPr>
          <a:xfrm>
            <a:off x="4590288" y="5303520"/>
            <a:ext cx="1737360" cy="365760"/>
          </a:xfrm>
          <a:prstGeom prst="rect">
            <a:avLst/>
          </a:prstGeom>
          <a:noFill/>
          <a:ln/>
        </p:spPr>
        <p:txBody>
          <a:bodyPr wrap="square" lIns="0" tIns="0" rIns="0" bIns="0" rtlCol="0" anchor="ctr"/>
          <a:lstStyle/>
          <a:p>
            <a:pPr marL="0" indent="0" algn="ctr">
              <a:buNone/>
            </a:pPr>
            <a:r>
              <a:rPr lang="en-US" sz="850" b="1" kern="0" spc="40" dirty="0">
                <a:solidFill>
                  <a:srgbClr val="00666D"/>
                </a:solidFill>
                <a:latin typeface="Calibri" pitchFamily="34" charset="0"/>
                <a:ea typeface="Calibri" pitchFamily="34" charset="-122"/>
                <a:cs typeface="Calibri" pitchFamily="34" charset="-120"/>
              </a:rPr>
              <a:t>PATTERN OBSERVED</a:t>
            </a:r>
            <a:endParaRPr lang="en-US" sz="850" dirty="0"/>
          </a:p>
        </p:txBody>
      </p:sp>
      <p:sp>
        <p:nvSpPr>
          <p:cNvPr id="46" name="Text 44"/>
          <p:cNvSpPr txBox="1"/>
          <p:nvPr/>
        </p:nvSpPr>
        <p:spPr>
          <a:xfrm>
            <a:off x="6510528" y="5084064"/>
            <a:ext cx="2240280" cy="804672"/>
          </a:xfrm>
          <a:prstGeom prst="rect">
            <a:avLst/>
          </a:prstGeom>
          <a:noFill/>
          <a:ln/>
        </p:spPr>
        <p:txBody>
          <a:bodyPr wrap="square" lIns="0" tIns="0" rIns="0" bIns="0" rtlCol="0" anchor="ctr"/>
          <a:lstStyle/>
          <a:p>
            <a:pPr marL="0" indent="0">
              <a:lnSpc>
                <a:spcPts val="1400"/>
              </a:lnSpc>
              <a:buNone/>
            </a:pPr>
            <a:r>
              <a:rPr lang="en-US" sz="1050" b="1" dirty="0">
                <a:solidFill>
                  <a:srgbClr val="2F75B5"/>
                </a:solidFill>
                <a:latin typeface="Calibri" pitchFamily="34" charset="0"/>
                <a:ea typeface="Calibri" pitchFamily="34" charset="-122"/>
                <a:cs typeface="Calibri" pitchFamily="34" charset="-120"/>
              </a:rPr>
              <a:t>Agent &amp; vendor claim volume and exposure analyzed</a:t>
            </a:r>
            <a:endParaRPr lang="en-US" sz="1050" dirty="0"/>
          </a:p>
        </p:txBody>
      </p:sp>
      <p:sp>
        <p:nvSpPr>
          <p:cNvPr id="47" name="Text 45"/>
          <p:cNvSpPr txBox="1"/>
          <p:nvPr/>
        </p:nvSpPr>
        <p:spPr>
          <a:xfrm>
            <a:off x="8942832" y="5084064"/>
            <a:ext cx="2606040" cy="804672"/>
          </a:xfrm>
          <a:prstGeom prst="rect">
            <a:avLst/>
          </a:prstGeom>
          <a:noFill/>
          <a:ln/>
        </p:spPr>
        <p:txBody>
          <a:bodyPr wrap="square" lIns="0" tIns="0" rIns="0" bIns="0" rtlCol="0" anchor="ctr"/>
          <a:lstStyle/>
          <a:p>
            <a:pPr marL="0" indent="0">
              <a:lnSpc>
                <a:spcPts val="1400"/>
              </a:lnSpc>
              <a:buNone/>
            </a:pPr>
            <a:r>
              <a:rPr lang="en-US" sz="1050" dirty="0">
                <a:solidFill>
                  <a:srgbClr val="2B3440"/>
                </a:solidFill>
                <a:latin typeface="Calibri" pitchFamily="34" charset="0"/>
                <a:ea typeface="Calibri" pitchFamily="34" charset="-122"/>
                <a:cs typeface="Calibri" pitchFamily="34" charset="-120"/>
              </a:rPr>
              <a:t>Shows how claims are distributed across operational entities.</a:t>
            </a:r>
            <a:endParaRPr lang="en-US" sz="1050" dirty="0"/>
          </a:p>
        </p:txBody>
      </p:sp>
      <p:sp>
        <p:nvSpPr>
          <p:cNvPr id="48" name="Shape 46"/>
          <p:cNvSpPr/>
          <p:nvPr/>
        </p:nvSpPr>
        <p:spPr>
          <a:xfrm>
            <a:off x="502920" y="5998464"/>
            <a:ext cx="10561320" cy="603504"/>
          </a:xfrm>
          <a:prstGeom prst="roundRect">
            <a:avLst>
              <a:gd name="adj" fmla="val 10606"/>
            </a:avLst>
          </a:prstGeom>
          <a:solidFill>
            <a:srgbClr val="17365D"/>
          </a:solidFill>
          <a:ln w="12700">
            <a:solidFill>
              <a:srgbClr val="17365D"/>
            </a:solidFill>
            <a:prstDash val="solid"/>
          </a:ln>
          <a:effectLst>
            <a:outerShdw blurRad="101600" dist="25400" dir="5400000" algn="bl" rotWithShape="0">
              <a:srgbClr val="9AA8B8">
                <a:alpha val="32000"/>
              </a:srgbClr>
            </a:outerShdw>
          </a:effectLst>
        </p:spPr>
      </p:sp>
      <p:sp>
        <p:nvSpPr>
          <p:cNvPr id="49" name="Text 47"/>
          <p:cNvSpPr txBox="1"/>
          <p:nvPr/>
        </p:nvSpPr>
        <p:spPr>
          <a:xfrm>
            <a:off x="822960" y="5998464"/>
            <a:ext cx="10058400" cy="603504"/>
          </a:xfrm>
          <a:prstGeom prst="rect">
            <a:avLst/>
          </a:prstGeom>
          <a:noFill/>
          <a:ln/>
        </p:spPr>
        <p:txBody>
          <a:bodyPr wrap="square" lIns="0" tIns="0" rIns="0" bIns="0" rtlCol="0" anchor="ctr"/>
          <a:lstStyle/>
          <a:p>
            <a:pPr marL="0" indent="0">
              <a:buNone/>
            </a:pPr>
            <a:r>
              <a:rPr lang="en-US" sz="1000" b="1" kern="0" spc="120" dirty="0">
                <a:solidFill>
                  <a:srgbClr val="7FB7D9"/>
                </a:solidFill>
                <a:latin typeface="Calibri" pitchFamily="34" charset="0"/>
                <a:ea typeface="Calibri" pitchFamily="34" charset="-122"/>
                <a:cs typeface="Calibri" pitchFamily="34" charset="-120"/>
              </a:rPr>
              <a:t>KEY TAKEAWAY     </a:t>
            </a:r>
            <a:r>
              <a:rPr lang="en-US" sz="1250" dirty="0">
                <a:solidFill>
                  <a:srgbClr val="FFFFFF"/>
                </a:solidFill>
                <a:latin typeface="Calibri" pitchFamily="34" charset="0"/>
                <a:ea typeface="Calibri" pitchFamily="34" charset="-122"/>
                <a:cs typeface="Calibri" pitchFamily="34" charset="-120"/>
              </a:rPr>
              <a:t>Diagnostic analysis identifies relationships and patterns in claim data. It does not establish causation.</a:t>
            </a:r>
            <a:endParaRPr lang="en-US" sz="1000" dirty="0"/>
          </a:p>
        </p:txBody>
      </p:sp>
      <p:sp>
        <p:nvSpPr>
          <p:cNvPr id="51" name="Text 2">
            <a:extLst>
              <a:ext uri="{FF2B5EF4-FFF2-40B4-BE49-F238E27FC236}">
                <a16:creationId xmlns:a16="http://schemas.microsoft.com/office/drawing/2014/main" id="{C9D8CC3B-ADCE-BC05-D174-4EC557E08413}"/>
              </a:ext>
            </a:extLst>
          </p:cNvPr>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Risk, Severity &amp; Insurance Type</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Does risk vary by incident severity, or by insurance type?</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16</a:t>
            </a:r>
            <a:endParaRPr lang="en-US" sz="1000" dirty="0"/>
          </a:p>
        </p:txBody>
      </p:sp>
      <p:sp>
        <p:nvSpPr>
          <p:cNvPr id="6" name="Shape 3"/>
          <p:cNvSpPr/>
          <p:nvPr/>
        </p:nvSpPr>
        <p:spPr>
          <a:xfrm>
            <a:off x="502920" y="1325880"/>
            <a:ext cx="5212080" cy="3840480"/>
          </a:xfrm>
          <a:prstGeom prst="roundRect">
            <a:avLst>
              <a:gd name="adj" fmla="val 190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731520" y="1481328"/>
            <a:ext cx="475488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Risk Segment × Incident Severity</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2909426239"/>
              </p:ext>
            </p:extLst>
          </p:nvPr>
        </p:nvGraphicFramePr>
        <p:xfrm>
          <a:off x="731520" y="1920240"/>
          <a:ext cx="4754880" cy="2377440"/>
        </p:xfrm>
        <a:graphic>
          <a:graphicData uri="http://schemas.openxmlformats.org/drawingml/2006/table">
            <a:tbl>
              <a:tblPr/>
              <a:tblGrid>
                <a:gridCol w="9144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45720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Minor Loss</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Major Loss</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Total Loss</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640080">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1,453  ·  33.1%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1,439  ·  32.7%</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1,503  ·  34.2%</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1,347  ·  32.5%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1,416  ·  34.1%</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1,387  ·  33.4%</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493  ·  33.9%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462  ·  31.8%</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500  ·  34.4%</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Text 5"/>
          <p:cNvSpPr txBox="1"/>
          <p:nvPr/>
        </p:nvSpPr>
        <p:spPr>
          <a:xfrm>
            <a:off x="731520" y="4434840"/>
            <a:ext cx="4754880" cy="64008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Cells show number of claims · % of that risk segment. Each segment splits roughly one-third across the three severity levels.</a:t>
            </a:r>
            <a:endParaRPr lang="en-US" sz="1150" dirty="0"/>
          </a:p>
        </p:txBody>
      </p:sp>
      <p:sp>
        <p:nvSpPr>
          <p:cNvPr id="10" name="Shape 6"/>
          <p:cNvSpPr/>
          <p:nvPr/>
        </p:nvSpPr>
        <p:spPr>
          <a:xfrm>
            <a:off x="5989320" y="1325880"/>
            <a:ext cx="5696712" cy="3840480"/>
          </a:xfrm>
          <a:prstGeom prst="roundRect">
            <a:avLst>
              <a:gd name="adj" fmla="val 190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Text 7"/>
          <p:cNvSpPr txBox="1"/>
          <p:nvPr/>
        </p:nvSpPr>
        <p:spPr>
          <a:xfrm>
            <a:off x="6217920" y="1481328"/>
            <a:ext cx="521208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Insurance Type × Risk Segment (% of claims)</a:t>
            </a:r>
            <a:endParaRPr lang="en-US" sz="1400" dirty="0"/>
          </a:p>
        </p:txBody>
      </p:sp>
      <p:graphicFrame>
        <p:nvGraphicFramePr>
          <p:cNvPr id="8" name="Table 1"/>
          <p:cNvGraphicFramePr>
            <a:graphicFrameLocks noGrp="1"/>
          </p:cNvGraphicFramePr>
          <p:nvPr>
            <p:extLst>
              <p:ext uri="{D42A27DB-BD31-4B8C-83A1-F6EECF244321}">
                <p14:modId xmlns:p14="http://schemas.microsoft.com/office/powerpoint/2010/main" val="2982312384"/>
              </p:ext>
            </p:extLst>
          </p:nvPr>
        </p:nvGraphicFramePr>
        <p:xfrm>
          <a:off x="6217920" y="1920240"/>
          <a:ext cx="5239512" cy="3008376"/>
        </p:xfrm>
        <a:graphic>
          <a:graphicData uri="http://schemas.openxmlformats.org/drawingml/2006/table">
            <a:tbl>
              <a:tblPr/>
              <a:tblGrid>
                <a:gridCol w="1673352">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429768">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Insurance Type</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429768">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Health</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44.6%</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41.1%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14.3%</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Life</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43.5%</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41.6%</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14.9%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Mobile</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42.6%</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42.6%</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14.9%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Motor</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45.5%</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41.2%</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13.3%</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Property</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42.5%</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41.8%</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15.7%</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lgn="ctr">
                        <a:buNone/>
                      </a:pPr>
                      <a:r>
                        <a:rPr lang="en-US" sz="1150" b="1" dirty="0">
                          <a:solidFill>
                            <a:srgbClr val="17365D"/>
                          </a:solidFill>
                          <a:latin typeface="Calibri" pitchFamily="34" charset="0"/>
                          <a:ea typeface="Calibri" pitchFamily="34" charset="-122"/>
                          <a:cs typeface="Calibri" pitchFamily="34" charset="-120"/>
                        </a:rPr>
                        <a:t>Travel</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45.3%</a:t>
                      </a:r>
                      <a:endParaRPr lang="en-US" sz="1150" b="1"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40.7%</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14.1%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8"/>
          <p:cNvSpPr/>
          <p:nvPr/>
        </p:nvSpPr>
        <p:spPr>
          <a:xfrm>
            <a:off x="502920" y="5440680"/>
            <a:ext cx="11183112" cy="640080"/>
          </a:xfrm>
          <a:prstGeom prst="roundRect">
            <a:avLst>
              <a:gd name="adj" fmla="val 8571"/>
            </a:avLst>
          </a:prstGeom>
          <a:solidFill>
            <a:srgbClr val="17365D"/>
          </a:solidFill>
          <a:ln w="9525">
            <a:solidFill>
              <a:srgbClr val="17365D"/>
            </a:solidFill>
            <a:prstDash val="solid"/>
          </a:ln>
          <a:effectLst>
            <a:outerShdw blurRad="101600" dist="25400" dir="5400000" algn="bl" rotWithShape="0">
              <a:srgbClr val="9AA8B8">
                <a:alpha val="32000"/>
              </a:srgbClr>
            </a:outerShdw>
          </a:effectLst>
        </p:spPr>
      </p:sp>
      <p:sp>
        <p:nvSpPr>
          <p:cNvPr id="14" name="Text 9"/>
          <p:cNvSpPr txBox="1"/>
          <p:nvPr/>
        </p:nvSpPr>
        <p:spPr>
          <a:xfrm>
            <a:off x="777240" y="5440680"/>
            <a:ext cx="10698480" cy="640080"/>
          </a:xfrm>
          <a:prstGeom prst="rect">
            <a:avLst/>
          </a:prstGeom>
          <a:noFill/>
          <a:ln/>
        </p:spPr>
        <p:txBody>
          <a:bodyPr wrap="square" lIns="0" tIns="0" rIns="0" bIns="0" rtlCol="0" anchor="ctr"/>
          <a:lstStyle/>
          <a:p>
            <a:pPr marL="0" indent="0">
              <a:buNone/>
            </a:pPr>
            <a:r>
              <a:rPr lang="en-US" sz="1000" b="1" kern="0" spc="150" dirty="0">
                <a:solidFill>
                  <a:srgbClr val="7FB7D9"/>
                </a:solidFill>
                <a:latin typeface="Calibri" pitchFamily="34" charset="0"/>
                <a:ea typeface="Calibri" pitchFamily="34" charset="-122"/>
                <a:cs typeface="Calibri" pitchFamily="34" charset="-120"/>
              </a:rPr>
              <a:t>KEY TAKEAWAY     </a:t>
            </a:r>
            <a:r>
              <a:rPr lang="en-US" sz="1250" dirty="0">
                <a:solidFill>
                  <a:srgbClr val="FFFFFF"/>
                </a:solidFill>
                <a:latin typeface="Calibri" pitchFamily="34" charset="0"/>
                <a:ea typeface="Calibri" pitchFamily="34" charset="-122"/>
                <a:cs typeface="Calibri" pitchFamily="34" charset="-120"/>
              </a:rPr>
              <a:t>Risk mix is nearly identical across all six insurance types, and severity splits evenly within every risk segment.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What Drives Claim Amount?</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Average claim amount compared across every factor analysed in the notebook</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17</a:t>
            </a:r>
            <a:endParaRPr lang="en-US" sz="1000" dirty="0"/>
          </a:p>
        </p:txBody>
      </p:sp>
      <p:sp>
        <p:nvSpPr>
          <p:cNvPr id="6" name="Shape 3"/>
          <p:cNvSpPr/>
          <p:nvPr/>
        </p:nvSpPr>
        <p:spPr>
          <a:xfrm>
            <a:off x="502920" y="1325880"/>
            <a:ext cx="7406640" cy="4709160"/>
          </a:xfrm>
          <a:prstGeom prst="roundRect">
            <a:avLst>
              <a:gd name="adj" fmla="val 1553"/>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731520" y="1481328"/>
            <a:ext cx="694944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Average Claim Amount: Lowest vs Highest Group</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31520" y="1920240"/>
          <a:ext cx="6949440" cy="3721608"/>
        </p:xfrm>
        <a:graphic>
          <a:graphicData uri="http://schemas.openxmlformats.org/drawingml/2006/table">
            <a:tbl>
              <a:tblPr/>
              <a:tblGrid>
                <a:gridCol w="17373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84048">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Factor</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Lowest group</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Highest group</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45720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Insurance type</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E3F1F3"/>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Mobile  ·  ₹407</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E3F1F3"/>
                    </a:solidFill>
                  </a:tcPr>
                </a:tc>
                <a:tc>
                  <a:txBody>
                    <a:bodyPr/>
                    <a:lstStyle/>
                    <a:p>
                      <a:pPr marL="0" indent="0" algn="ctr">
                        <a:buNone/>
                      </a:pPr>
                      <a:r>
                        <a:rPr lang="en-US" sz="1150" b="1" dirty="0">
                          <a:solidFill>
                            <a:srgbClr val="2B3440"/>
                          </a:solidFill>
                          <a:latin typeface="Calibri" pitchFamily="34" charset="0"/>
                          <a:ea typeface="Calibri" pitchFamily="34" charset="-122"/>
                          <a:cs typeface="Calibri" pitchFamily="34" charset="-120"/>
                        </a:rPr>
                        <a:t>Life  ·  ₹54,386</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E3F1F3"/>
                    </a:solidFill>
                  </a:tcPr>
                </a:tc>
                <a:tc>
                  <a:txBody>
                    <a:bodyPr/>
                    <a:lstStyle/>
                    <a:p>
                      <a:pPr marL="0" indent="0" algn="ctr">
                        <a:buNone/>
                      </a:pPr>
                      <a:r>
                        <a:rPr lang="en-US" sz="1150" b="1" dirty="0">
                          <a:solidFill>
                            <a:srgbClr val="008C95"/>
                          </a:solidFill>
                          <a:latin typeface="Calibri" pitchFamily="34" charset="0"/>
                          <a:ea typeface="Calibri" pitchFamily="34" charset="-122"/>
                          <a:cs typeface="Calibri" pitchFamily="34" charset="-120"/>
                        </a:rPr>
                        <a:t>133.7×</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E3F1F3"/>
                    </a:solidFill>
                  </a:tcPr>
                </a:tc>
                <a:extLst>
                  <a:ext uri="{0D108BD9-81ED-4DB2-BD59-A6C34878D82A}">
                    <a16:rowId xmlns:a16="http://schemas.microsoft.com/office/drawing/2014/main" val="10001"/>
                  </a:ext>
                </a:extLst>
              </a:tr>
              <a:tr h="41148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Age group</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50–59  ·  ₹16,195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60–64  ·  ₹16,919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B7684"/>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Incident severity</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Minor Loss  ·  ₹16,232</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Total Loss  ·  ₹16,796</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B7684"/>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Injury reported</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No  ·  ₹16,171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Yes  ·  ₹16,733</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B7684"/>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Reporting timing</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Delayed  ·  ₹16,488</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Same day  ·  ₹16,971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B7684"/>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Tenure group</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&lt;2 Years  ·  ₹16,370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2–4.9 Years  ·  ₹16,786</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B7684"/>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Risk segment</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Medium  ·  ₹16,519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High  ·  ₹16,825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B7684"/>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1148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Police report</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No  ·  ₹16,389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Yes  ·  ₹16,641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B7684"/>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9" name="Shape 5"/>
          <p:cNvSpPr/>
          <p:nvPr/>
        </p:nvSpPr>
        <p:spPr>
          <a:xfrm>
            <a:off x="8138160" y="1325880"/>
            <a:ext cx="3547872" cy="2514600"/>
          </a:xfrm>
          <a:prstGeom prst="roundRect">
            <a:avLst>
              <a:gd name="adj" fmla="val 2909"/>
            </a:avLst>
          </a:prstGeom>
          <a:solidFill>
            <a:srgbClr val="17365D"/>
          </a:solidFill>
          <a:ln w="12700">
            <a:solidFill>
              <a:srgbClr val="17365D"/>
            </a:solidFill>
            <a:prstDash val="solid"/>
          </a:ln>
          <a:effectLst>
            <a:outerShdw blurRad="101600" dist="25400" dir="5400000" algn="bl" rotWithShape="0">
              <a:srgbClr val="9AA8B8">
                <a:alpha val="32000"/>
              </a:srgbClr>
            </a:outerShdw>
          </a:effectLst>
        </p:spPr>
      </p:sp>
      <p:sp>
        <p:nvSpPr>
          <p:cNvPr id="10" name="Text 6"/>
          <p:cNvSpPr txBox="1"/>
          <p:nvPr/>
        </p:nvSpPr>
        <p:spPr>
          <a:xfrm>
            <a:off x="8412480" y="1508760"/>
            <a:ext cx="3017520" cy="237744"/>
          </a:xfrm>
          <a:prstGeom prst="rect">
            <a:avLst/>
          </a:prstGeom>
          <a:noFill/>
          <a:ln/>
        </p:spPr>
        <p:txBody>
          <a:bodyPr wrap="square" lIns="0" tIns="0" rIns="0" bIns="0" rtlCol="0" anchor="ctr"/>
          <a:lstStyle/>
          <a:p>
            <a:pPr marL="0" indent="0">
              <a:buNone/>
            </a:pPr>
            <a:r>
              <a:rPr lang="en-US" sz="1000" b="1" kern="0" spc="150" dirty="0">
                <a:solidFill>
                  <a:srgbClr val="7FB7D9"/>
                </a:solidFill>
                <a:latin typeface="Calibri" pitchFamily="34" charset="0"/>
                <a:ea typeface="Calibri" pitchFamily="34" charset="-122"/>
                <a:cs typeface="Calibri" pitchFamily="34" charset="-120"/>
              </a:rPr>
              <a:t>KEY FINDING</a:t>
            </a:r>
            <a:endParaRPr lang="en-US" sz="1000" dirty="0"/>
          </a:p>
        </p:txBody>
      </p:sp>
      <p:sp>
        <p:nvSpPr>
          <p:cNvPr id="11" name="Text 7"/>
          <p:cNvSpPr txBox="1"/>
          <p:nvPr/>
        </p:nvSpPr>
        <p:spPr>
          <a:xfrm>
            <a:off x="8412480" y="1810512"/>
            <a:ext cx="3017520" cy="777240"/>
          </a:xfrm>
          <a:prstGeom prst="rect">
            <a:avLst/>
          </a:prstGeom>
          <a:noFill/>
          <a:ln/>
        </p:spPr>
        <p:txBody>
          <a:bodyPr wrap="square" lIns="0" tIns="0" rIns="0" bIns="0" rtlCol="0" anchor="ctr"/>
          <a:lstStyle/>
          <a:p>
            <a:pPr marL="0" indent="0">
              <a:buNone/>
            </a:pPr>
            <a:r>
              <a:rPr lang="en-US" sz="4800" b="1" dirty="0">
                <a:solidFill>
                  <a:srgbClr val="5FD3D9"/>
                </a:solidFill>
                <a:latin typeface="Cambria" pitchFamily="34" charset="0"/>
                <a:ea typeface="Cambria" pitchFamily="34" charset="-122"/>
                <a:cs typeface="Cambria" pitchFamily="34" charset="-120"/>
              </a:rPr>
              <a:t>134×</a:t>
            </a:r>
            <a:endParaRPr lang="en-US" sz="4800" dirty="0"/>
          </a:p>
        </p:txBody>
      </p:sp>
      <p:sp>
        <p:nvSpPr>
          <p:cNvPr id="12" name="Text 8"/>
          <p:cNvSpPr txBox="1"/>
          <p:nvPr/>
        </p:nvSpPr>
        <p:spPr>
          <a:xfrm>
            <a:off x="8412480" y="2697480"/>
            <a:ext cx="3017520" cy="960120"/>
          </a:xfrm>
          <a:prstGeom prst="rect">
            <a:avLst/>
          </a:prstGeom>
          <a:noFill/>
          <a:ln/>
        </p:spPr>
        <p:txBody>
          <a:bodyPr wrap="square" lIns="0" tIns="0" rIns="0" bIns="0" rtlCol="0" anchor="t"/>
          <a:lstStyle/>
          <a:p>
            <a:pPr marL="0" indent="0">
              <a:buNone/>
            </a:pPr>
            <a:r>
              <a:rPr lang="en-US" sz="1200" dirty="0">
                <a:solidFill>
                  <a:srgbClr val="C7DCF0"/>
                </a:solidFill>
                <a:latin typeface="Calibri" pitchFamily="34" charset="0"/>
                <a:ea typeface="Calibri" pitchFamily="34" charset="-122"/>
                <a:cs typeface="Calibri" pitchFamily="34" charset="-120"/>
              </a:rPr>
              <a:t>Life claims average ₹54,386 versus ₹407 for Mobile — the only large gap in the dataset.</a:t>
            </a:r>
            <a:endParaRPr lang="en-US" sz="1200" dirty="0"/>
          </a:p>
        </p:txBody>
      </p:sp>
      <p:sp>
        <p:nvSpPr>
          <p:cNvPr id="13" name="Shape 9"/>
          <p:cNvSpPr/>
          <p:nvPr/>
        </p:nvSpPr>
        <p:spPr>
          <a:xfrm>
            <a:off x="8138160" y="4023360"/>
            <a:ext cx="3547872" cy="2011680"/>
          </a:xfrm>
          <a:prstGeom prst="roundRect">
            <a:avLst>
              <a:gd name="adj" fmla="val 363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4" name="Text 10"/>
          <p:cNvSpPr txBox="1"/>
          <p:nvPr/>
        </p:nvSpPr>
        <p:spPr>
          <a:xfrm>
            <a:off x="8412480" y="4187952"/>
            <a:ext cx="3017520" cy="274320"/>
          </a:xfrm>
          <a:prstGeom prst="rect">
            <a:avLst/>
          </a:prstGeom>
          <a:noFill/>
          <a:ln/>
        </p:spPr>
        <p:txBody>
          <a:bodyPr wrap="square" lIns="0" tIns="0" rIns="0" bIns="0" rtlCol="0" anchor="ctr"/>
          <a:lstStyle/>
          <a:p>
            <a:pPr marL="0" indent="0">
              <a:buNone/>
            </a:pPr>
            <a:r>
              <a:rPr lang="en-US" sz="1400" b="1" dirty="0">
                <a:solidFill>
                  <a:srgbClr val="008C95"/>
                </a:solidFill>
                <a:latin typeface="Cambria" pitchFamily="34" charset="0"/>
                <a:ea typeface="Cambria" pitchFamily="34" charset="-122"/>
                <a:cs typeface="Cambria" pitchFamily="34" charset="-120"/>
              </a:rPr>
              <a:t>Everything else is flat</a:t>
            </a:r>
            <a:endParaRPr lang="en-US" sz="1400" dirty="0"/>
          </a:p>
        </p:txBody>
      </p:sp>
      <p:sp>
        <p:nvSpPr>
          <p:cNvPr id="15" name="Text 11"/>
          <p:cNvSpPr txBox="1"/>
          <p:nvPr/>
        </p:nvSpPr>
        <p:spPr>
          <a:xfrm>
            <a:off x="8412480" y="4553712"/>
            <a:ext cx="3017520" cy="1325880"/>
          </a:xfrm>
          <a:prstGeom prst="rect">
            <a:avLst/>
          </a:prstGeom>
          <a:noFill/>
          <a:ln/>
        </p:spPr>
        <p:txBody>
          <a:bodyPr wrap="square" lIns="0" tIns="0" rIns="0" bIns="0" rtlCol="0" anchor="t"/>
          <a:lstStyle/>
          <a:p>
            <a:pPr marL="0" indent="0">
              <a:buNone/>
            </a:pPr>
            <a:r>
              <a:rPr lang="en-US" sz="1200" dirty="0">
                <a:solidFill>
                  <a:srgbClr val="2B3440"/>
                </a:solidFill>
                <a:latin typeface="Calibri" pitchFamily="34" charset="0"/>
                <a:ea typeface="Calibri" pitchFamily="34" charset="-122"/>
                <a:cs typeface="Calibri" pitchFamily="34" charset="-120"/>
              </a:rPr>
              <a:t>Risk, severity, injury, police report, reporting delay, age and tenure shift the average claim by less than 5%. They describe claims but do not separate claim size.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Reporting, Agents &amp; Vendors</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Operational patterns in reporting behaviour and claim exposure</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18</a:t>
            </a:r>
            <a:endParaRPr lang="en-US" sz="1000" dirty="0"/>
          </a:p>
        </p:txBody>
      </p:sp>
      <p:sp>
        <p:nvSpPr>
          <p:cNvPr id="6" name="Shape 3"/>
          <p:cNvSpPr/>
          <p:nvPr/>
        </p:nvSpPr>
        <p:spPr>
          <a:xfrm>
            <a:off x="502920"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594360"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84.35%</a:t>
            </a:r>
            <a:endParaRPr lang="en-US" sz="2500" dirty="0"/>
          </a:p>
        </p:txBody>
      </p:sp>
      <p:sp>
        <p:nvSpPr>
          <p:cNvPr id="8" name="Text 5"/>
          <p:cNvSpPr txBox="1"/>
          <p:nvPr/>
        </p:nvSpPr>
        <p:spPr>
          <a:xfrm>
            <a:off x="640080"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Claims reported after the loss date</a:t>
            </a:r>
            <a:endParaRPr lang="en-US" sz="1100" dirty="0"/>
          </a:p>
        </p:txBody>
      </p:sp>
      <p:sp>
        <p:nvSpPr>
          <p:cNvPr id="9" name="Shape 6"/>
          <p:cNvSpPr/>
          <p:nvPr/>
        </p:nvSpPr>
        <p:spPr>
          <a:xfrm>
            <a:off x="3362706"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7"/>
          <p:cNvSpPr txBox="1"/>
          <p:nvPr/>
        </p:nvSpPr>
        <p:spPr>
          <a:xfrm>
            <a:off x="3454146"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3.81 days</a:t>
            </a:r>
            <a:endParaRPr lang="en-US" sz="2500" dirty="0"/>
          </a:p>
        </p:txBody>
      </p:sp>
      <p:sp>
        <p:nvSpPr>
          <p:cNvPr id="11" name="Text 8"/>
          <p:cNvSpPr txBox="1"/>
          <p:nvPr/>
        </p:nvSpPr>
        <p:spPr>
          <a:xfrm>
            <a:off x="3499866"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Average delay on delayed claims</a:t>
            </a:r>
            <a:endParaRPr lang="en-US" sz="1100" dirty="0"/>
          </a:p>
        </p:txBody>
      </p:sp>
      <p:sp>
        <p:nvSpPr>
          <p:cNvPr id="12" name="Shape 9"/>
          <p:cNvSpPr/>
          <p:nvPr/>
        </p:nvSpPr>
        <p:spPr>
          <a:xfrm>
            <a:off x="6222492"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3" name="Text 10"/>
          <p:cNvSpPr txBox="1"/>
          <p:nvPr/>
        </p:nvSpPr>
        <p:spPr>
          <a:xfrm>
            <a:off x="6313932"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₹16,971</a:t>
            </a:r>
            <a:endParaRPr lang="en-US" sz="2500" dirty="0"/>
          </a:p>
        </p:txBody>
      </p:sp>
      <p:sp>
        <p:nvSpPr>
          <p:cNvPr id="14" name="Text 11"/>
          <p:cNvSpPr txBox="1"/>
          <p:nvPr/>
        </p:nvSpPr>
        <p:spPr>
          <a:xfrm>
            <a:off x="6359652"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Average same-day claim (delayed: ₹16,488)</a:t>
            </a:r>
            <a:endParaRPr lang="en-US" sz="1100" dirty="0"/>
          </a:p>
        </p:txBody>
      </p:sp>
      <p:sp>
        <p:nvSpPr>
          <p:cNvPr id="15" name="Shape 12"/>
          <p:cNvSpPr/>
          <p:nvPr/>
        </p:nvSpPr>
        <p:spPr>
          <a:xfrm>
            <a:off x="9082278"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6" name="Text 13"/>
          <p:cNvSpPr txBox="1"/>
          <p:nvPr/>
        </p:nvSpPr>
        <p:spPr>
          <a:xfrm>
            <a:off x="9173718"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32.45%</a:t>
            </a:r>
            <a:endParaRPr lang="en-US" sz="2500" dirty="0"/>
          </a:p>
        </p:txBody>
      </p:sp>
      <p:sp>
        <p:nvSpPr>
          <p:cNvPr id="17" name="Text 14"/>
          <p:cNvSpPr txBox="1"/>
          <p:nvPr/>
        </p:nvSpPr>
        <p:spPr>
          <a:xfrm>
            <a:off x="9219438"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Claims with no vendor ID (avg claim ₹16,446)</a:t>
            </a:r>
            <a:endParaRPr lang="en-US" sz="1100" dirty="0"/>
          </a:p>
        </p:txBody>
      </p:sp>
      <p:sp>
        <p:nvSpPr>
          <p:cNvPr id="18" name="Shape 15"/>
          <p:cNvSpPr/>
          <p:nvPr/>
        </p:nvSpPr>
        <p:spPr>
          <a:xfrm>
            <a:off x="502920" y="2697480"/>
            <a:ext cx="5486400" cy="3474720"/>
          </a:xfrm>
          <a:prstGeom prst="roundRect">
            <a:avLst>
              <a:gd name="adj" fmla="val 210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9" name="Text 16"/>
          <p:cNvSpPr txBox="1"/>
          <p:nvPr/>
        </p:nvSpPr>
        <p:spPr>
          <a:xfrm>
            <a:off x="731520" y="2834640"/>
            <a:ext cx="502920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Top 5 Agents by Claim Exposure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31520" y="3200400"/>
          <a:ext cx="5029200" cy="2176272"/>
        </p:xfrm>
        <a:graphic>
          <a:graphicData uri="http://schemas.openxmlformats.org/drawingml/2006/table">
            <a:tbl>
              <a:tblPr/>
              <a:tblGrid>
                <a:gridCol w="14173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Claims</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Total (₹)</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Avg claim (₹)</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AGENT00807</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528,800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37,771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AGENT00679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489,000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37,615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AGENT00771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422,100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28,140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AGENT00125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400,400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40,040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AGENT00789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392,900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43,656</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Text 17"/>
          <p:cNvSpPr txBox="1"/>
          <p:nvPr/>
        </p:nvSpPr>
        <p:spPr>
          <a:xfrm>
            <a:off x="731520" y="5486400"/>
            <a:ext cx="5029200" cy="59436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These agents handle 9–15 claims (average agent: 8.3) at above-average claim sizes. Exposure reflects workload and claim value, not performance.</a:t>
            </a:r>
            <a:endParaRPr lang="en-US" sz="1150" dirty="0"/>
          </a:p>
        </p:txBody>
      </p:sp>
      <p:sp>
        <p:nvSpPr>
          <p:cNvPr id="22" name="Shape 18"/>
          <p:cNvSpPr/>
          <p:nvPr/>
        </p:nvSpPr>
        <p:spPr>
          <a:xfrm>
            <a:off x="6199632" y="2697480"/>
            <a:ext cx="5486400" cy="3474720"/>
          </a:xfrm>
          <a:prstGeom prst="roundRect">
            <a:avLst>
              <a:gd name="adj" fmla="val 210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3" name="Text 19"/>
          <p:cNvSpPr txBox="1"/>
          <p:nvPr/>
        </p:nvSpPr>
        <p:spPr>
          <a:xfrm>
            <a:off x="6428232" y="2834640"/>
            <a:ext cx="502920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Top 5 Vendors by Claim Exposure</a:t>
            </a:r>
            <a:endParaRPr lang="en-US" sz="1400" dirty="0"/>
          </a:p>
        </p:txBody>
      </p:sp>
      <p:graphicFrame>
        <p:nvGraphicFramePr>
          <p:cNvPr id="20" name="Table 1"/>
          <p:cNvGraphicFramePr>
            <a:graphicFrameLocks noGrp="1"/>
          </p:cNvGraphicFramePr>
          <p:nvPr>
            <p:extLst>
              <p:ext uri="{D42A27DB-BD31-4B8C-83A1-F6EECF244321}">
                <p14:modId xmlns:p14="http://schemas.microsoft.com/office/powerpoint/2010/main" val="1579011935"/>
              </p:ext>
            </p:extLst>
          </p:nvPr>
        </p:nvGraphicFramePr>
        <p:xfrm>
          <a:off x="6428232" y="3200400"/>
          <a:ext cx="5029200" cy="2176272"/>
        </p:xfrm>
        <a:graphic>
          <a:graphicData uri="http://schemas.openxmlformats.org/drawingml/2006/table">
            <a:tbl>
              <a:tblPr/>
              <a:tblGrid>
                <a:gridCol w="14173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Vendor</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Claims</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Total (₹)</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Avg claim (₹)</a:t>
                      </a:r>
                      <a:endParaRPr lang="en-US" sz="12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VNDR00445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23</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661,000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28,739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VNDR00453</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635,000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35,278</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VNDR00031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608,700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24,348</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VNDR00591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21</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598,000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28,476</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150" b="1" dirty="0">
                          <a:solidFill>
                            <a:srgbClr val="17365D"/>
                          </a:solidFill>
                          <a:latin typeface="Calibri" pitchFamily="34" charset="0"/>
                          <a:ea typeface="Calibri" pitchFamily="34" charset="-122"/>
                          <a:cs typeface="Calibri" pitchFamily="34" charset="-120"/>
                        </a:rPr>
                        <a:t>VNDR00138</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567,200</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2B3440"/>
                          </a:solidFill>
                          <a:latin typeface="Calibri" pitchFamily="34" charset="0"/>
                          <a:ea typeface="Calibri" pitchFamily="34" charset="-122"/>
                          <a:cs typeface="Calibri" pitchFamily="34" charset="-120"/>
                        </a:rPr>
                        <a:t>29,853</a:t>
                      </a:r>
                      <a:endParaRPr lang="en-US" sz="115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20"/>
          <p:cNvSpPr txBox="1"/>
          <p:nvPr/>
        </p:nvSpPr>
        <p:spPr>
          <a:xfrm>
            <a:off x="6428232" y="5486400"/>
            <a:ext cx="5029200" cy="59436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These vendors handle 18–25 claims (average vendor: 16.6) at above-average claim sizes.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Predictive Analysis — Claim Amount Prediction</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19</a:t>
            </a:r>
            <a:endParaRPr lang="en-US" sz="1000" dirty="0"/>
          </a:p>
        </p:txBody>
      </p:sp>
      <p:sp>
        <p:nvSpPr>
          <p:cNvPr id="4" name="Shape 2"/>
          <p:cNvSpPr/>
          <p:nvPr/>
        </p:nvSpPr>
        <p:spPr>
          <a:xfrm>
            <a:off x="502920" y="1280160"/>
            <a:ext cx="5394960" cy="1234440"/>
          </a:xfrm>
          <a:prstGeom prst="roundRect">
            <a:avLst>
              <a:gd name="adj" fmla="val 592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Text 3"/>
          <p:cNvSpPr txBox="1"/>
          <p:nvPr/>
        </p:nvSpPr>
        <p:spPr>
          <a:xfrm>
            <a:off x="777240" y="1444752"/>
            <a:ext cx="4846320" cy="274320"/>
          </a:xfrm>
          <a:prstGeom prst="rect">
            <a:avLst/>
          </a:prstGeom>
          <a:noFill/>
          <a:ln/>
        </p:spPr>
        <p:txBody>
          <a:bodyPr wrap="square" lIns="0" tIns="0" rIns="0" bIns="0" rtlCol="0" anchor="ctr"/>
          <a:lstStyle/>
          <a:p>
            <a:pPr marL="0" indent="0">
              <a:buNone/>
            </a:pPr>
            <a:r>
              <a:rPr lang="en-US" sz="1400" b="1" dirty="0">
                <a:solidFill>
                  <a:srgbClr val="008C95"/>
                </a:solidFill>
                <a:latin typeface="Cambria" pitchFamily="34" charset="0"/>
                <a:ea typeface="Cambria" pitchFamily="34" charset="-122"/>
                <a:cs typeface="Cambria" pitchFamily="34" charset="-120"/>
              </a:rPr>
              <a:t>Objective</a:t>
            </a:r>
            <a:endParaRPr lang="en-US" sz="1400" dirty="0"/>
          </a:p>
        </p:txBody>
      </p:sp>
      <p:sp>
        <p:nvSpPr>
          <p:cNvPr id="6" name="Text 4"/>
          <p:cNvSpPr txBox="1"/>
          <p:nvPr/>
        </p:nvSpPr>
        <p:spPr>
          <a:xfrm>
            <a:off x="777240" y="1764792"/>
            <a:ext cx="4846320" cy="640080"/>
          </a:xfrm>
          <a:prstGeom prst="rect">
            <a:avLst/>
          </a:prstGeom>
          <a:noFill/>
          <a:ln/>
        </p:spPr>
        <p:txBody>
          <a:bodyPr wrap="square" lIns="0" tIns="0" rIns="0" bIns="0" rtlCol="0" anchor="ctr"/>
          <a:lstStyle/>
          <a:p>
            <a:pPr marL="0" indent="0">
              <a:lnSpc>
                <a:spcPts val="1700"/>
              </a:lnSpc>
              <a:buNone/>
            </a:pPr>
            <a:r>
              <a:rPr lang="en-US" sz="1250" dirty="0">
                <a:solidFill>
                  <a:srgbClr val="2B3440"/>
                </a:solidFill>
                <a:latin typeface="Calibri" pitchFamily="34" charset="0"/>
                <a:ea typeface="Calibri" pitchFamily="34" charset="-122"/>
                <a:cs typeface="Calibri" pitchFamily="34" charset="-120"/>
              </a:rPr>
              <a:t>Predict CLAIM_AMOUNT using historical customer, claim, risk, incident and reporting attributes.</a:t>
            </a:r>
            <a:endParaRPr lang="en-US" sz="1250" dirty="0"/>
          </a:p>
        </p:txBody>
      </p:sp>
      <p:sp>
        <p:nvSpPr>
          <p:cNvPr id="7" name="Shape 5"/>
          <p:cNvSpPr/>
          <p:nvPr/>
        </p:nvSpPr>
        <p:spPr>
          <a:xfrm>
            <a:off x="502920" y="2697480"/>
            <a:ext cx="5394960" cy="960120"/>
          </a:xfrm>
          <a:prstGeom prst="roundRect">
            <a:avLst>
              <a:gd name="adj" fmla="val 7619"/>
            </a:avLst>
          </a:prstGeom>
          <a:solidFill>
            <a:srgbClr val="17365D"/>
          </a:solidFill>
          <a:ln w="12700">
            <a:solidFill>
              <a:srgbClr val="17365D"/>
            </a:solidFill>
            <a:prstDash val="solid"/>
          </a:ln>
          <a:effectLst>
            <a:outerShdw blurRad="101600" dist="25400" dir="5400000" algn="bl" rotWithShape="0">
              <a:srgbClr val="9AA8B8">
                <a:alpha val="32000"/>
              </a:srgbClr>
            </a:outerShdw>
          </a:effectLst>
        </p:spPr>
      </p:sp>
      <p:sp>
        <p:nvSpPr>
          <p:cNvPr id="8" name="Text 6"/>
          <p:cNvSpPr txBox="1"/>
          <p:nvPr/>
        </p:nvSpPr>
        <p:spPr>
          <a:xfrm>
            <a:off x="777240" y="2834640"/>
            <a:ext cx="4846320" cy="237744"/>
          </a:xfrm>
          <a:prstGeom prst="rect">
            <a:avLst/>
          </a:prstGeom>
          <a:noFill/>
          <a:ln/>
        </p:spPr>
        <p:txBody>
          <a:bodyPr wrap="square" lIns="0" tIns="0" rIns="0" bIns="0" rtlCol="0" anchor="ctr"/>
          <a:lstStyle/>
          <a:p>
            <a:pPr marL="0" indent="0">
              <a:buNone/>
            </a:pPr>
            <a:r>
              <a:rPr lang="en-US" sz="1000" b="1" kern="0" spc="120" dirty="0">
                <a:solidFill>
                  <a:srgbClr val="7FB7D9"/>
                </a:solidFill>
                <a:latin typeface="Calibri" pitchFamily="34" charset="0"/>
                <a:ea typeface="Calibri" pitchFamily="34" charset="-122"/>
                <a:cs typeface="Calibri" pitchFamily="34" charset="-120"/>
              </a:rPr>
              <a:t>TARGET VARIABLE</a:t>
            </a:r>
            <a:endParaRPr lang="en-US" sz="1000" dirty="0"/>
          </a:p>
        </p:txBody>
      </p:sp>
      <p:sp>
        <p:nvSpPr>
          <p:cNvPr id="9" name="Text 7"/>
          <p:cNvSpPr txBox="1"/>
          <p:nvPr/>
        </p:nvSpPr>
        <p:spPr>
          <a:xfrm>
            <a:off x="777240" y="3090672"/>
            <a:ext cx="4846320" cy="411480"/>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CLAIM_AMOUNT</a:t>
            </a:r>
            <a:endParaRPr lang="en-US" sz="2100" dirty="0"/>
          </a:p>
        </p:txBody>
      </p:sp>
      <p:sp>
        <p:nvSpPr>
          <p:cNvPr id="10" name="Shape 8"/>
          <p:cNvSpPr/>
          <p:nvPr/>
        </p:nvSpPr>
        <p:spPr>
          <a:xfrm>
            <a:off x="502920" y="3840480"/>
            <a:ext cx="5394960" cy="2286000"/>
          </a:xfrm>
          <a:prstGeom prst="roundRect">
            <a:avLst>
              <a:gd name="adj" fmla="val 32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Text 9"/>
          <p:cNvSpPr txBox="1"/>
          <p:nvPr/>
        </p:nvSpPr>
        <p:spPr>
          <a:xfrm>
            <a:off x="777240" y="4005072"/>
            <a:ext cx="484632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Models &amp; Evaluation</a:t>
            </a:r>
            <a:endParaRPr lang="en-US" sz="1400" dirty="0"/>
          </a:p>
        </p:txBody>
      </p:sp>
      <p:sp>
        <p:nvSpPr>
          <p:cNvPr id="12" name="Shape 10"/>
          <p:cNvSpPr/>
          <p:nvPr/>
        </p:nvSpPr>
        <p:spPr>
          <a:xfrm>
            <a:off x="777240" y="4370832"/>
            <a:ext cx="2331720" cy="457200"/>
          </a:xfrm>
          <a:prstGeom prst="roundRect">
            <a:avLst>
              <a:gd name="adj" fmla="val 12000"/>
            </a:avLst>
          </a:prstGeom>
          <a:solidFill>
            <a:srgbClr val="2F75B5"/>
          </a:solidFill>
          <a:ln w="12700">
            <a:solidFill>
              <a:srgbClr val="2F75B5"/>
            </a:solidFill>
            <a:prstDash val="solid"/>
          </a:ln>
        </p:spPr>
      </p:sp>
      <p:sp>
        <p:nvSpPr>
          <p:cNvPr id="13" name="Text 11"/>
          <p:cNvSpPr txBox="1"/>
          <p:nvPr/>
        </p:nvSpPr>
        <p:spPr>
          <a:xfrm>
            <a:off x="777240" y="4370832"/>
            <a:ext cx="233172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1 · Linear Regression</a:t>
            </a:r>
            <a:endParaRPr lang="en-US" sz="1150" dirty="0"/>
          </a:p>
        </p:txBody>
      </p:sp>
      <p:sp>
        <p:nvSpPr>
          <p:cNvPr id="14" name="Shape 12"/>
          <p:cNvSpPr/>
          <p:nvPr/>
        </p:nvSpPr>
        <p:spPr>
          <a:xfrm>
            <a:off x="3291840" y="4370832"/>
            <a:ext cx="2331720" cy="457200"/>
          </a:xfrm>
          <a:prstGeom prst="roundRect">
            <a:avLst>
              <a:gd name="adj" fmla="val 12000"/>
            </a:avLst>
          </a:prstGeom>
          <a:solidFill>
            <a:srgbClr val="2F75B5"/>
          </a:solidFill>
          <a:ln w="12700">
            <a:solidFill>
              <a:srgbClr val="2F75B5"/>
            </a:solidFill>
            <a:prstDash val="solid"/>
          </a:ln>
        </p:spPr>
      </p:sp>
      <p:sp>
        <p:nvSpPr>
          <p:cNvPr id="15" name="Text 13"/>
          <p:cNvSpPr txBox="1"/>
          <p:nvPr/>
        </p:nvSpPr>
        <p:spPr>
          <a:xfrm>
            <a:off x="3291840" y="4370832"/>
            <a:ext cx="233172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2 · Random Forest</a:t>
            </a:r>
            <a:endParaRPr lang="en-US" sz="1150" dirty="0"/>
          </a:p>
        </p:txBody>
      </p:sp>
      <p:sp>
        <p:nvSpPr>
          <p:cNvPr id="16" name="Shape 14"/>
          <p:cNvSpPr/>
          <p:nvPr/>
        </p:nvSpPr>
        <p:spPr>
          <a:xfrm>
            <a:off x="777240" y="4983480"/>
            <a:ext cx="1554480" cy="914400"/>
          </a:xfrm>
          <a:prstGeom prst="roundRect">
            <a:avLst>
              <a:gd name="adj" fmla="val 6000"/>
            </a:avLst>
          </a:prstGeom>
          <a:solidFill>
            <a:srgbClr val="EDF3FA"/>
          </a:solidFill>
          <a:ln w="12700">
            <a:solidFill>
              <a:srgbClr val="DCE6F2"/>
            </a:solidFill>
            <a:prstDash val="solid"/>
          </a:ln>
        </p:spPr>
      </p:sp>
      <p:sp>
        <p:nvSpPr>
          <p:cNvPr id="17" name="Text 15"/>
          <p:cNvSpPr txBox="1"/>
          <p:nvPr/>
        </p:nvSpPr>
        <p:spPr>
          <a:xfrm>
            <a:off x="777240" y="5084064"/>
            <a:ext cx="1554480" cy="320040"/>
          </a:xfrm>
          <a:prstGeom prst="rect">
            <a:avLst/>
          </a:prstGeom>
          <a:noFill/>
          <a:ln/>
        </p:spPr>
        <p:txBody>
          <a:bodyPr wrap="square" lIns="0" tIns="0" rIns="0" bIns="0" rtlCol="0" anchor="ctr"/>
          <a:lstStyle/>
          <a:p>
            <a:pPr marL="0" indent="0" algn="ctr">
              <a:buNone/>
            </a:pPr>
            <a:r>
              <a:rPr lang="en-US" sz="1600" b="1" dirty="0">
                <a:solidFill>
                  <a:srgbClr val="17365D"/>
                </a:solidFill>
                <a:latin typeface="Cambria" pitchFamily="34" charset="0"/>
                <a:ea typeface="Cambria" pitchFamily="34" charset="-122"/>
                <a:cs typeface="Cambria" pitchFamily="34" charset="-120"/>
              </a:rPr>
              <a:t>MAE</a:t>
            </a:r>
            <a:endParaRPr lang="en-US" sz="1600" dirty="0"/>
          </a:p>
        </p:txBody>
      </p:sp>
      <p:sp>
        <p:nvSpPr>
          <p:cNvPr id="18" name="Text 16"/>
          <p:cNvSpPr txBox="1"/>
          <p:nvPr/>
        </p:nvSpPr>
        <p:spPr>
          <a:xfrm>
            <a:off x="868680" y="5394960"/>
            <a:ext cx="1371600" cy="457200"/>
          </a:xfrm>
          <a:prstGeom prst="rect">
            <a:avLst/>
          </a:prstGeom>
          <a:noFill/>
          <a:ln/>
        </p:spPr>
        <p:txBody>
          <a:bodyPr wrap="square" lIns="0" tIns="0" rIns="0" bIns="0" rtlCol="0" anchor="ctr"/>
          <a:lstStyle/>
          <a:p>
            <a:pPr marL="0" indent="0" algn="ctr">
              <a:lnSpc>
                <a:spcPts val="1200"/>
              </a:lnSpc>
              <a:buNone/>
            </a:pPr>
            <a:r>
              <a:rPr lang="en-US" sz="950" dirty="0">
                <a:solidFill>
                  <a:srgbClr val="6B7684"/>
                </a:solidFill>
                <a:latin typeface="Calibri" pitchFamily="34" charset="0"/>
                <a:ea typeface="Calibri" pitchFamily="34" charset="-122"/>
                <a:cs typeface="Calibri" pitchFamily="34" charset="-120"/>
              </a:rPr>
              <a:t>Mean Absolute Error</a:t>
            </a:r>
            <a:endParaRPr lang="en-US" sz="950" dirty="0"/>
          </a:p>
        </p:txBody>
      </p:sp>
      <p:sp>
        <p:nvSpPr>
          <p:cNvPr id="19" name="Shape 17"/>
          <p:cNvSpPr/>
          <p:nvPr/>
        </p:nvSpPr>
        <p:spPr>
          <a:xfrm>
            <a:off x="2404872" y="4983480"/>
            <a:ext cx="1554480" cy="914400"/>
          </a:xfrm>
          <a:prstGeom prst="roundRect">
            <a:avLst>
              <a:gd name="adj" fmla="val 6000"/>
            </a:avLst>
          </a:prstGeom>
          <a:solidFill>
            <a:srgbClr val="EDF3FA"/>
          </a:solidFill>
          <a:ln w="12700">
            <a:solidFill>
              <a:srgbClr val="DCE6F2"/>
            </a:solidFill>
            <a:prstDash val="solid"/>
          </a:ln>
        </p:spPr>
      </p:sp>
      <p:sp>
        <p:nvSpPr>
          <p:cNvPr id="20" name="Text 18"/>
          <p:cNvSpPr txBox="1"/>
          <p:nvPr/>
        </p:nvSpPr>
        <p:spPr>
          <a:xfrm>
            <a:off x="2404872" y="5084064"/>
            <a:ext cx="1554480" cy="320040"/>
          </a:xfrm>
          <a:prstGeom prst="rect">
            <a:avLst/>
          </a:prstGeom>
          <a:noFill/>
          <a:ln/>
        </p:spPr>
        <p:txBody>
          <a:bodyPr wrap="square" lIns="0" tIns="0" rIns="0" bIns="0" rtlCol="0" anchor="ctr"/>
          <a:lstStyle/>
          <a:p>
            <a:pPr marL="0" indent="0" algn="ctr">
              <a:buNone/>
            </a:pPr>
            <a:r>
              <a:rPr lang="en-US" sz="1600" b="1" dirty="0">
                <a:solidFill>
                  <a:srgbClr val="17365D"/>
                </a:solidFill>
                <a:latin typeface="Cambria" pitchFamily="34" charset="0"/>
                <a:ea typeface="Cambria" pitchFamily="34" charset="-122"/>
                <a:cs typeface="Cambria" pitchFamily="34" charset="-120"/>
              </a:rPr>
              <a:t>RMSE</a:t>
            </a:r>
            <a:endParaRPr lang="en-US" sz="1600" dirty="0"/>
          </a:p>
        </p:txBody>
      </p:sp>
      <p:sp>
        <p:nvSpPr>
          <p:cNvPr id="21" name="Text 19"/>
          <p:cNvSpPr txBox="1"/>
          <p:nvPr/>
        </p:nvSpPr>
        <p:spPr>
          <a:xfrm>
            <a:off x="2496312" y="5394960"/>
            <a:ext cx="1371600" cy="457200"/>
          </a:xfrm>
          <a:prstGeom prst="rect">
            <a:avLst/>
          </a:prstGeom>
          <a:noFill/>
          <a:ln/>
        </p:spPr>
        <p:txBody>
          <a:bodyPr wrap="square" lIns="0" tIns="0" rIns="0" bIns="0" rtlCol="0" anchor="ctr"/>
          <a:lstStyle/>
          <a:p>
            <a:pPr marL="0" indent="0" algn="ctr">
              <a:lnSpc>
                <a:spcPts val="1200"/>
              </a:lnSpc>
              <a:buNone/>
            </a:pPr>
            <a:r>
              <a:rPr lang="en-US" sz="950" dirty="0">
                <a:solidFill>
                  <a:srgbClr val="6B7684"/>
                </a:solidFill>
                <a:latin typeface="Calibri" pitchFamily="34" charset="0"/>
                <a:ea typeface="Calibri" pitchFamily="34" charset="-122"/>
                <a:cs typeface="Calibri" pitchFamily="34" charset="-120"/>
              </a:rPr>
              <a:t>Root Mean Squared Error</a:t>
            </a:r>
            <a:endParaRPr lang="en-US" sz="950" dirty="0"/>
          </a:p>
        </p:txBody>
      </p:sp>
      <p:sp>
        <p:nvSpPr>
          <p:cNvPr id="22" name="Shape 20"/>
          <p:cNvSpPr/>
          <p:nvPr/>
        </p:nvSpPr>
        <p:spPr>
          <a:xfrm>
            <a:off x="4032504" y="4983480"/>
            <a:ext cx="1554480" cy="914400"/>
          </a:xfrm>
          <a:prstGeom prst="roundRect">
            <a:avLst>
              <a:gd name="adj" fmla="val 6000"/>
            </a:avLst>
          </a:prstGeom>
          <a:solidFill>
            <a:srgbClr val="EDF3FA"/>
          </a:solidFill>
          <a:ln w="12700">
            <a:solidFill>
              <a:srgbClr val="DCE6F2"/>
            </a:solidFill>
            <a:prstDash val="solid"/>
          </a:ln>
        </p:spPr>
      </p:sp>
      <p:sp>
        <p:nvSpPr>
          <p:cNvPr id="23" name="Text 21"/>
          <p:cNvSpPr txBox="1"/>
          <p:nvPr/>
        </p:nvSpPr>
        <p:spPr>
          <a:xfrm>
            <a:off x="4032504" y="5084064"/>
            <a:ext cx="1554480" cy="320040"/>
          </a:xfrm>
          <a:prstGeom prst="rect">
            <a:avLst/>
          </a:prstGeom>
          <a:noFill/>
          <a:ln/>
        </p:spPr>
        <p:txBody>
          <a:bodyPr wrap="square" lIns="0" tIns="0" rIns="0" bIns="0" rtlCol="0" anchor="ctr"/>
          <a:lstStyle/>
          <a:p>
            <a:pPr marL="0" indent="0" algn="ctr">
              <a:buNone/>
            </a:pPr>
            <a:r>
              <a:rPr lang="en-US" sz="1600" b="1" dirty="0">
                <a:solidFill>
                  <a:srgbClr val="17365D"/>
                </a:solidFill>
                <a:latin typeface="Cambria" pitchFamily="34" charset="0"/>
                <a:ea typeface="Cambria" pitchFamily="34" charset="-122"/>
                <a:cs typeface="Cambria" pitchFamily="34" charset="-120"/>
              </a:rPr>
              <a:t>R²</a:t>
            </a:r>
            <a:endParaRPr lang="en-US" sz="1600" dirty="0"/>
          </a:p>
        </p:txBody>
      </p:sp>
      <p:sp>
        <p:nvSpPr>
          <p:cNvPr id="24" name="Text 22"/>
          <p:cNvSpPr txBox="1"/>
          <p:nvPr/>
        </p:nvSpPr>
        <p:spPr>
          <a:xfrm>
            <a:off x="4123944" y="5394960"/>
            <a:ext cx="1371600" cy="457200"/>
          </a:xfrm>
          <a:prstGeom prst="rect">
            <a:avLst/>
          </a:prstGeom>
          <a:noFill/>
          <a:ln/>
        </p:spPr>
        <p:txBody>
          <a:bodyPr wrap="square" lIns="0" tIns="0" rIns="0" bIns="0" rtlCol="0" anchor="ctr"/>
          <a:lstStyle/>
          <a:p>
            <a:pPr marL="0" indent="0" algn="ctr">
              <a:lnSpc>
                <a:spcPts val="1200"/>
              </a:lnSpc>
              <a:buNone/>
            </a:pPr>
            <a:r>
              <a:rPr lang="en-US" sz="950" dirty="0">
                <a:solidFill>
                  <a:srgbClr val="6B7684"/>
                </a:solidFill>
                <a:latin typeface="Calibri" pitchFamily="34" charset="0"/>
                <a:ea typeface="Calibri" pitchFamily="34" charset="-122"/>
                <a:cs typeface="Calibri" pitchFamily="34" charset="-120"/>
              </a:rPr>
              <a:t>Coefficient of Determination</a:t>
            </a:r>
            <a:endParaRPr lang="en-US" sz="950" dirty="0"/>
          </a:p>
        </p:txBody>
      </p:sp>
      <p:sp>
        <p:nvSpPr>
          <p:cNvPr id="25" name="Shape 23"/>
          <p:cNvSpPr/>
          <p:nvPr/>
        </p:nvSpPr>
        <p:spPr>
          <a:xfrm>
            <a:off x="6172200" y="1280160"/>
            <a:ext cx="5559552" cy="4846320"/>
          </a:xfrm>
          <a:prstGeom prst="roundRect">
            <a:avLst>
              <a:gd name="adj" fmla="val 1509"/>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6" name="Text 24"/>
          <p:cNvSpPr txBox="1"/>
          <p:nvPr/>
        </p:nvSpPr>
        <p:spPr>
          <a:xfrm>
            <a:off x="6446520" y="1481702"/>
            <a:ext cx="502920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Feature Set</a:t>
            </a:r>
            <a:endParaRPr lang="en-US" sz="1400" dirty="0"/>
          </a:p>
        </p:txBody>
      </p:sp>
      <p:sp>
        <p:nvSpPr>
          <p:cNvPr id="27" name="Shape 25"/>
          <p:cNvSpPr/>
          <p:nvPr/>
        </p:nvSpPr>
        <p:spPr>
          <a:xfrm>
            <a:off x="6446520" y="1847088"/>
            <a:ext cx="2377440" cy="457200"/>
          </a:xfrm>
          <a:prstGeom prst="roundRect">
            <a:avLst>
              <a:gd name="adj" fmla="val 12000"/>
            </a:avLst>
          </a:prstGeom>
          <a:solidFill>
            <a:srgbClr val="EDF3FA"/>
          </a:solidFill>
          <a:ln w="12700">
            <a:solidFill>
              <a:srgbClr val="DCE6F2"/>
            </a:solidFill>
            <a:prstDash val="solid"/>
          </a:ln>
        </p:spPr>
      </p:sp>
      <p:sp>
        <p:nvSpPr>
          <p:cNvPr id="28" name="Text 26"/>
          <p:cNvSpPr txBox="1"/>
          <p:nvPr/>
        </p:nvSpPr>
        <p:spPr>
          <a:xfrm>
            <a:off x="6583680" y="1847088"/>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Insurance Type</a:t>
            </a:r>
            <a:endParaRPr lang="en-US" sz="1150" dirty="0"/>
          </a:p>
        </p:txBody>
      </p:sp>
      <p:sp>
        <p:nvSpPr>
          <p:cNvPr id="29" name="Shape 27"/>
          <p:cNvSpPr/>
          <p:nvPr/>
        </p:nvSpPr>
        <p:spPr>
          <a:xfrm>
            <a:off x="8988552" y="1847088"/>
            <a:ext cx="2377440" cy="457200"/>
          </a:xfrm>
          <a:prstGeom prst="roundRect">
            <a:avLst>
              <a:gd name="adj" fmla="val 12000"/>
            </a:avLst>
          </a:prstGeom>
          <a:solidFill>
            <a:srgbClr val="EDF3FA"/>
          </a:solidFill>
          <a:ln w="12700">
            <a:solidFill>
              <a:srgbClr val="DCE6F2"/>
            </a:solidFill>
            <a:prstDash val="solid"/>
          </a:ln>
        </p:spPr>
      </p:sp>
      <p:sp>
        <p:nvSpPr>
          <p:cNvPr id="30" name="Text 28"/>
          <p:cNvSpPr txBox="1"/>
          <p:nvPr/>
        </p:nvSpPr>
        <p:spPr>
          <a:xfrm>
            <a:off x="9125712" y="1847088"/>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Age</a:t>
            </a:r>
            <a:endParaRPr lang="en-US" sz="1150" dirty="0"/>
          </a:p>
        </p:txBody>
      </p:sp>
      <p:sp>
        <p:nvSpPr>
          <p:cNvPr id="31" name="Shape 29"/>
          <p:cNvSpPr/>
          <p:nvPr/>
        </p:nvSpPr>
        <p:spPr>
          <a:xfrm>
            <a:off x="6446520" y="2414016"/>
            <a:ext cx="2377440" cy="457200"/>
          </a:xfrm>
          <a:prstGeom prst="roundRect">
            <a:avLst>
              <a:gd name="adj" fmla="val 12000"/>
            </a:avLst>
          </a:prstGeom>
          <a:solidFill>
            <a:srgbClr val="EDF3FA"/>
          </a:solidFill>
          <a:ln w="12700">
            <a:solidFill>
              <a:srgbClr val="DCE6F2"/>
            </a:solidFill>
            <a:prstDash val="solid"/>
          </a:ln>
        </p:spPr>
      </p:sp>
      <p:sp>
        <p:nvSpPr>
          <p:cNvPr id="32" name="Text 30"/>
          <p:cNvSpPr txBox="1"/>
          <p:nvPr/>
        </p:nvSpPr>
        <p:spPr>
          <a:xfrm>
            <a:off x="6583680" y="2414016"/>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Tenure</a:t>
            </a:r>
            <a:endParaRPr lang="en-US" sz="1150" dirty="0"/>
          </a:p>
        </p:txBody>
      </p:sp>
      <p:sp>
        <p:nvSpPr>
          <p:cNvPr id="33" name="Shape 31"/>
          <p:cNvSpPr/>
          <p:nvPr/>
        </p:nvSpPr>
        <p:spPr>
          <a:xfrm>
            <a:off x="8988552" y="2414016"/>
            <a:ext cx="2377440" cy="457200"/>
          </a:xfrm>
          <a:prstGeom prst="roundRect">
            <a:avLst>
              <a:gd name="adj" fmla="val 12000"/>
            </a:avLst>
          </a:prstGeom>
          <a:solidFill>
            <a:srgbClr val="EDF3FA"/>
          </a:solidFill>
          <a:ln w="12700">
            <a:solidFill>
              <a:srgbClr val="DCE6F2"/>
            </a:solidFill>
            <a:prstDash val="solid"/>
          </a:ln>
        </p:spPr>
      </p:sp>
      <p:sp>
        <p:nvSpPr>
          <p:cNvPr id="34" name="Text 32"/>
          <p:cNvSpPr txBox="1"/>
          <p:nvPr/>
        </p:nvSpPr>
        <p:spPr>
          <a:xfrm>
            <a:off x="9125712" y="2414016"/>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Risk Segmentation</a:t>
            </a:r>
            <a:endParaRPr lang="en-US" sz="1150" dirty="0"/>
          </a:p>
        </p:txBody>
      </p:sp>
      <p:sp>
        <p:nvSpPr>
          <p:cNvPr id="35" name="Shape 33"/>
          <p:cNvSpPr/>
          <p:nvPr/>
        </p:nvSpPr>
        <p:spPr>
          <a:xfrm>
            <a:off x="6446520" y="2980944"/>
            <a:ext cx="2377440" cy="457200"/>
          </a:xfrm>
          <a:prstGeom prst="roundRect">
            <a:avLst>
              <a:gd name="adj" fmla="val 12000"/>
            </a:avLst>
          </a:prstGeom>
          <a:solidFill>
            <a:srgbClr val="EDF3FA"/>
          </a:solidFill>
          <a:ln w="12700">
            <a:solidFill>
              <a:srgbClr val="DCE6F2"/>
            </a:solidFill>
            <a:prstDash val="solid"/>
          </a:ln>
        </p:spPr>
      </p:sp>
      <p:sp>
        <p:nvSpPr>
          <p:cNvPr id="36" name="Text 34"/>
          <p:cNvSpPr txBox="1"/>
          <p:nvPr/>
        </p:nvSpPr>
        <p:spPr>
          <a:xfrm>
            <a:off x="6583680" y="2980944"/>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Incident Severity</a:t>
            </a:r>
            <a:endParaRPr lang="en-US" sz="1150" dirty="0"/>
          </a:p>
        </p:txBody>
      </p:sp>
      <p:sp>
        <p:nvSpPr>
          <p:cNvPr id="37" name="Shape 35"/>
          <p:cNvSpPr/>
          <p:nvPr/>
        </p:nvSpPr>
        <p:spPr>
          <a:xfrm>
            <a:off x="8988552" y="2980944"/>
            <a:ext cx="2377440" cy="457200"/>
          </a:xfrm>
          <a:prstGeom prst="roundRect">
            <a:avLst>
              <a:gd name="adj" fmla="val 12000"/>
            </a:avLst>
          </a:prstGeom>
          <a:solidFill>
            <a:srgbClr val="EDF3FA"/>
          </a:solidFill>
          <a:ln w="12700">
            <a:solidFill>
              <a:srgbClr val="DCE6F2"/>
            </a:solidFill>
            <a:prstDash val="solid"/>
          </a:ln>
        </p:spPr>
      </p:sp>
      <p:sp>
        <p:nvSpPr>
          <p:cNvPr id="38" name="Text 36"/>
          <p:cNvSpPr txBox="1"/>
          <p:nvPr/>
        </p:nvSpPr>
        <p:spPr>
          <a:xfrm>
            <a:off x="9125712" y="2980944"/>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Marital Status</a:t>
            </a:r>
            <a:endParaRPr lang="en-US" sz="1150" dirty="0"/>
          </a:p>
        </p:txBody>
      </p:sp>
      <p:sp>
        <p:nvSpPr>
          <p:cNvPr id="39" name="Shape 37"/>
          <p:cNvSpPr/>
          <p:nvPr/>
        </p:nvSpPr>
        <p:spPr>
          <a:xfrm>
            <a:off x="6446520" y="3547872"/>
            <a:ext cx="2377440" cy="457200"/>
          </a:xfrm>
          <a:prstGeom prst="roundRect">
            <a:avLst>
              <a:gd name="adj" fmla="val 12000"/>
            </a:avLst>
          </a:prstGeom>
          <a:solidFill>
            <a:srgbClr val="EDF3FA"/>
          </a:solidFill>
          <a:ln w="12700">
            <a:solidFill>
              <a:srgbClr val="DCE6F2"/>
            </a:solidFill>
            <a:prstDash val="solid"/>
          </a:ln>
        </p:spPr>
      </p:sp>
      <p:sp>
        <p:nvSpPr>
          <p:cNvPr id="40" name="Text 38"/>
          <p:cNvSpPr txBox="1"/>
          <p:nvPr/>
        </p:nvSpPr>
        <p:spPr>
          <a:xfrm>
            <a:off x="6583680" y="3547872"/>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Employment Status</a:t>
            </a:r>
            <a:endParaRPr lang="en-US" sz="1150" dirty="0"/>
          </a:p>
        </p:txBody>
      </p:sp>
      <p:sp>
        <p:nvSpPr>
          <p:cNvPr id="41" name="Shape 39"/>
          <p:cNvSpPr/>
          <p:nvPr/>
        </p:nvSpPr>
        <p:spPr>
          <a:xfrm>
            <a:off x="8988552" y="3547872"/>
            <a:ext cx="2377440" cy="457200"/>
          </a:xfrm>
          <a:prstGeom prst="roundRect">
            <a:avLst>
              <a:gd name="adj" fmla="val 12000"/>
            </a:avLst>
          </a:prstGeom>
          <a:solidFill>
            <a:srgbClr val="EDF3FA"/>
          </a:solidFill>
          <a:ln w="12700">
            <a:solidFill>
              <a:srgbClr val="DCE6F2"/>
            </a:solidFill>
            <a:prstDash val="solid"/>
          </a:ln>
        </p:spPr>
      </p:sp>
      <p:sp>
        <p:nvSpPr>
          <p:cNvPr id="42" name="Text 40"/>
          <p:cNvSpPr txBox="1"/>
          <p:nvPr/>
        </p:nvSpPr>
        <p:spPr>
          <a:xfrm>
            <a:off x="9125712" y="3547872"/>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House Type</a:t>
            </a:r>
            <a:endParaRPr lang="en-US" sz="1150" dirty="0"/>
          </a:p>
        </p:txBody>
      </p:sp>
      <p:sp>
        <p:nvSpPr>
          <p:cNvPr id="43" name="Shape 41"/>
          <p:cNvSpPr/>
          <p:nvPr/>
        </p:nvSpPr>
        <p:spPr>
          <a:xfrm>
            <a:off x="6446520" y="4114800"/>
            <a:ext cx="2377440" cy="457200"/>
          </a:xfrm>
          <a:prstGeom prst="roundRect">
            <a:avLst>
              <a:gd name="adj" fmla="val 12000"/>
            </a:avLst>
          </a:prstGeom>
          <a:solidFill>
            <a:srgbClr val="EDF3FA"/>
          </a:solidFill>
          <a:ln w="12700">
            <a:solidFill>
              <a:srgbClr val="DCE6F2"/>
            </a:solidFill>
            <a:prstDash val="solid"/>
          </a:ln>
        </p:spPr>
      </p:sp>
      <p:sp>
        <p:nvSpPr>
          <p:cNvPr id="44" name="Text 42"/>
          <p:cNvSpPr txBox="1"/>
          <p:nvPr/>
        </p:nvSpPr>
        <p:spPr>
          <a:xfrm>
            <a:off x="6583680" y="4114800"/>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Social Class</a:t>
            </a:r>
            <a:endParaRPr lang="en-US" sz="1150" dirty="0"/>
          </a:p>
        </p:txBody>
      </p:sp>
      <p:sp>
        <p:nvSpPr>
          <p:cNvPr id="45" name="Shape 43"/>
          <p:cNvSpPr/>
          <p:nvPr/>
        </p:nvSpPr>
        <p:spPr>
          <a:xfrm>
            <a:off x="8988552" y="4114800"/>
            <a:ext cx="2377440" cy="457200"/>
          </a:xfrm>
          <a:prstGeom prst="roundRect">
            <a:avLst>
              <a:gd name="adj" fmla="val 12000"/>
            </a:avLst>
          </a:prstGeom>
          <a:solidFill>
            <a:srgbClr val="EDF3FA"/>
          </a:solidFill>
          <a:ln w="12700">
            <a:solidFill>
              <a:srgbClr val="DCE6F2"/>
            </a:solidFill>
            <a:prstDash val="solid"/>
          </a:ln>
        </p:spPr>
      </p:sp>
      <p:sp>
        <p:nvSpPr>
          <p:cNvPr id="46" name="Text 44"/>
          <p:cNvSpPr txBox="1"/>
          <p:nvPr/>
        </p:nvSpPr>
        <p:spPr>
          <a:xfrm>
            <a:off x="9125712" y="4114800"/>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Education Level</a:t>
            </a:r>
            <a:endParaRPr lang="en-US" sz="1150" dirty="0"/>
          </a:p>
        </p:txBody>
      </p:sp>
      <p:sp>
        <p:nvSpPr>
          <p:cNvPr id="47" name="Shape 45"/>
          <p:cNvSpPr/>
          <p:nvPr/>
        </p:nvSpPr>
        <p:spPr>
          <a:xfrm>
            <a:off x="6446520" y="4681728"/>
            <a:ext cx="2377440" cy="457200"/>
          </a:xfrm>
          <a:prstGeom prst="roundRect">
            <a:avLst>
              <a:gd name="adj" fmla="val 12000"/>
            </a:avLst>
          </a:prstGeom>
          <a:solidFill>
            <a:srgbClr val="EDF3FA"/>
          </a:solidFill>
          <a:ln w="12700">
            <a:solidFill>
              <a:srgbClr val="DCE6F2"/>
            </a:solidFill>
            <a:prstDash val="solid"/>
          </a:ln>
        </p:spPr>
      </p:sp>
      <p:sp>
        <p:nvSpPr>
          <p:cNvPr id="48" name="Text 46"/>
          <p:cNvSpPr txBox="1"/>
          <p:nvPr/>
        </p:nvSpPr>
        <p:spPr>
          <a:xfrm>
            <a:off x="6583680" y="4681728"/>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Any Injury</a:t>
            </a:r>
            <a:endParaRPr lang="en-US" sz="1150" dirty="0"/>
          </a:p>
        </p:txBody>
      </p:sp>
      <p:sp>
        <p:nvSpPr>
          <p:cNvPr id="49" name="Shape 47"/>
          <p:cNvSpPr/>
          <p:nvPr/>
        </p:nvSpPr>
        <p:spPr>
          <a:xfrm>
            <a:off x="8988552" y="4681728"/>
            <a:ext cx="2377440" cy="457200"/>
          </a:xfrm>
          <a:prstGeom prst="roundRect">
            <a:avLst>
              <a:gd name="adj" fmla="val 12000"/>
            </a:avLst>
          </a:prstGeom>
          <a:solidFill>
            <a:srgbClr val="EDF3FA"/>
          </a:solidFill>
          <a:ln w="12700">
            <a:solidFill>
              <a:srgbClr val="DCE6F2"/>
            </a:solidFill>
            <a:prstDash val="solid"/>
          </a:ln>
        </p:spPr>
      </p:sp>
      <p:sp>
        <p:nvSpPr>
          <p:cNvPr id="50" name="Text 48"/>
          <p:cNvSpPr txBox="1"/>
          <p:nvPr/>
        </p:nvSpPr>
        <p:spPr>
          <a:xfrm>
            <a:off x="9125712" y="4681728"/>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Police Report Available</a:t>
            </a:r>
            <a:endParaRPr lang="en-US" sz="1150" dirty="0"/>
          </a:p>
        </p:txBody>
      </p:sp>
      <p:sp>
        <p:nvSpPr>
          <p:cNvPr id="51" name="Shape 49"/>
          <p:cNvSpPr/>
          <p:nvPr/>
        </p:nvSpPr>
        <p:spPr>
          <a:xfrm>
            <a:off x="6446520" y="5248656"/>
            <a:ext cx="2377440" cy="457200"/>
          </a:xfrm>
          <a:prstGeom prst="roundRect">
            <a:avLst>
              <a:gd name="adj" fmla="val 12000"/>
            </a:avLst>
          </a:prstGeom>
          <a:solidFill>
            <a:srgbClr val="EDF3FA"/>
          </a:solidFill>
          <a:ln w="12700">
            <a:solidFill>
              <a:srgbClr val="DCE6F2"/>
            </a:solidFill>
            <a:prstDash val="solid"/>
          </a:ln>
        </p:spPr>
      </p:sp>
      <p:sp>
        <p:nvSpPr>
          <p:cNvPr id="52" name="Text 50"/>
          <p:cNvSpPr txBox="1"/>
          <p:nvPr/>
        </p:nvSpPr>
        <p:spPr>
          <a:xfrm>
            <a:off x="6583680" y="5248656"/>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Incident Hour</a:t>
            </a:r>
            <a:endParaRPr lang="en-US" sz="1150" dirty="0"/>
          </a:p>
        </p:txBody>
      </p:sp>
      <p:sp>
        <p:nvSpPr>
          <p:cNvPr id="53" name="Shape 51"/>
          <p:cNvSpPr/>
          <p:nvPr/>
        </p:nvSpPr>
        <p:spPr>
          <a:xfrm>
            <a:off x="8988552" y="5248656"/>
            <a:ext cx="2377440" cy="457200"/>
          </a:xfrm>
          <a:prstGeom prst="roundRect">
            <a:avLst>
              <a:gd name="adj" fmla="val 12000"/>
            </a:avLst>
          </a:prstGeom>
          <a:solidFill>
            <a:srgbClr val="EDF3FA"/>
          </a:solidFill>
          <a:ln w="12700">
            <a:solidFill>
              <a:srgbClr val="DCE6F2"/>
            </a:solidFill>
            <a:prstDash val="solid"/>
          </a:ln>
        </p:spPr>
      </p:sp>
      <p:sp>
        <p:nvSpPr>
          <p:cNvPr id="54" name="Text 52"/>
          <p:cNvSpPr txBox="1"/>
          <p:nvPr/>
        </p:nvSpPr>
        <p:spPr>
          <a:xfrm>
            <a:off x="9125712" y="5248656"/>
            <a:ext cx="2103120" cy="45720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Reporting Delay</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Predictive Modeling Approach</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From selected features to evaluated regression models</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20</a:t>
            </a:r>
            <a:endParaRPr lang="en-US" sz="1000" dirty="0"/>
          </a:p>
        </p:txBody>
      </p:sp>
      <p:sp>
        <p:nvSpPr>
          <p:cNvPr id="6" name="Shape 3"/>
          <p:cNvSpPr/>
          <p:nvPr/>
        </p:nvSpPr>
        <p:spPr>
          <a:xfrm>
            <a:off x="502920"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594360"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14</a:t>
            </a:r>
            <a:endParaRPr lang="en-US" sz="2500" dirty="0"/>
          </a:p>
        </p:txBody>
      </p:sp>
      <p:sp>
        <p:nvSpPr>
          <p:cNvPr id="8" name="Text 5"/>
          <p:cNvSpPr txBox="1"/>
          <p:nvPr/>
        </p:nvSpPr>
        <p:spPr>
          <a:xfrm>
            <a:off x="640080"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Features (10 categorical + 4 numeric)</a:t>
            </a:r>
            <a:endParaRPr lang="en-US" sz="1100" dirty="0"/>
          </a:p>
        </p:txBody>
      </p:sp>
      <p:sp>
        <p:nvSpPr>
          <p:cNvPr id="9" name="Shape 6"/>
          <p:cNvSpPr/>
          <p:nvPr/>
        </p:nvSpPr>
        <p:spPr>
          <a:xfrm>
            <a:off x="3362706"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7"/>
          <p:cNvSpPr txBox="1"/>
          <p:nvPr/>
        </p:nvSpPr>
        <p:spPr>
          <a:xfrm>
            <a:off x="3454146"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8,000</a:t>
            </a:r>
            <a:endParaRPr lang="en-US" sz="2500" dirty="0"/>
          </a:p>
        </p:txBody>
      </p:sp>
      <p:sp>
        <p:nvSpPr>
          <p:cNvPr id="11" name="Text 8"/>
          <p:cNvSpPr txBox="1"/>
          <p:nvPr/>
        </p:nvSpPr>
        <p:spPr>
          <a:xfrm>
            <a:off x="3499866"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Training rows (80%)</a:t>
            </a:r>
            <a:endParaRPr lang="en-US" sz="1100" dirty="0"/>
          </a:p>
        </p:txBody>
      </p:sp>
      <p:sp>
        <p:nvSpPr>
          <p:cNvPr id="12" name="Shape 9"/>
          <p:cNvSpPr/>
          <p:nvPr/>
        </p:nvSpPr>
        <p:spPr>
          <a:xfrm>
            <a:off x="6222492"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3" name="Text 10"/>
          <p:cNvSpPr txBox="1"/>
          <p:nvPr/>
        </p:nvSpPr>
        <p:spPr>
          <a:xfrm>
            <a:off x="6313932" y="1453896"/>
            <a:ext cx="2420874" cy="502920"/>
          </a:xfrm>
          <a:prstGeom prst="rect">
            <a:avLst/>
          </a:prstGeom>
          <a:noFill/>
          <a:ln/>
        </p:spPr>
        <p:txBody>
          <a:bodyPr wrap="square" lIns="0" tIns="0" rIns="0" bIns="0" rtlCol="0" anchor="ctr"/>
          <a:lstStyle/>
          <a:p>
            <a:pPr marL="0" indent="0" algn="ctr">
              <a:buNone/>
            </a:pPr>
            <a:r>
              <a:rPr lang="en-US" sz="2500" b="1" dirty="0">
                <a:solidFill>
                  <a:srgbClr val="17365D"/>
                </a:solidFill>
                <a:latin typeface="Cambria" pitchFamily="34" charset="0"/>
                <a:ea typeface="Cambria" pitchFamily="34" charset="-122"/>
                <a:cs typeface="Cambria" pitchFamily="34" charset="-120"/>
              </a:rPr>
              <a:t>2,000</a:t>
            </a:r>
            <a:endParaRPr lang="en-US" sz="2500" dirty="0"/>
          </a:p>
        </p:txBody>
      </p:sp>
      <p:sp>
        <p:nvSpPr>
          <p:cNvPr id="14" name="Text 11"/>
          <p:cNvSpPr txBox="1"/>
          <p:nvPr/>
        </p:nvSpPr>
        <p:spPr>
          <a:xfrm>
            <a:off x="6359652"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Test rows (20%)</a:t>
            </a:r>
            <a:endParaRPr lang="en-US" sz="1100" dirty="0"/>
          </a:p>
        </p:txBody>
      </p:sp>
      <p:sp>
        <p:nvSpPr>
          <p:cNvPr id="15" name="Shape 12"/>
          <p:cNvSpPr/>
          <p:nvPr/>
        </p:nvSpPr>
        <p:spPr>
          <a:xfrm>
            <a:off x="9082278" y="1325880"/>
            <a:ext cx="2603754" cy="1097280"/>
          </a:xfrm>
          <a:prstGeom prst="roundRect">
            <a:avLst>
              <a:gd name="adj" fmla="val 6667"/>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6" name="Text 13"/>
          <p:cNvSpPr txBox="1"/>
          <p:nvPr/>
        </p:nvSpPr>
        <p:spPr>
          <a:xfrm>
            <a:off x="9173718" y="1453896"/>
            <a:ext cx="2420874" cy="502920"/>
          </a:xfrm>
          <a:prstGeom prst="rect">
            <a:avLst/>
          </a:prstGeom>
          <a:noFill/>
          <a:ln/>
        </p:spPr>
        <p:txBody>
          <a:bodyPr wrap="square" lIns="0" tIns="0" rIns="0" bIns="0" rtlCol="0" anchor="ctr"/>
          <a:lstStyle/>
          <a:p>
            <a:pPr marL="0" indent="0" algn="ctr">
              <a:buNone/>
            </a:pPr>
            <a:r>
              <a:rPr lang="en-US" sz="2500" b="1" dirty="0">
                <a:solidFill>
                  <a:srgbClr val="008C95"/>
                </a:solidFill>
                <a:latin typeface="Cambria" pitchFamily="34" charset="0"/>
                <a:ea typeface="Cambria" pitchFamily="34" charset="-122"/>
                <a:cs typeface="Cambria" pitchFamily="34" charset="-120"/>
              </a:rPr>
              <a:t>200</a:t>
            </a:r>
            <a:endParaRPr lang="en-US" sz="2500" dirty="0"/>
          </a:p>
        </p:txBody>
      </p:sp>
      <p:sp>
        <p:nvSpPr>
          <p:cNvPr id="17" name="Text 14"/>
          <p:cNvSpPr txBox="1"/>
          <p:nvPr/>
        </p:nvSpPr>
        <p:spPr>
          <a:xfrm>
            <a:off x="9219438" y="1984248"/>
            <a:ext cx="2329434" cy="365760"/>
          </a:xfrm>
          <a:prstGeom prst="rect">
            <a:avLst/>
          </a:prstGeom>
          <a:noFill/>
          <a:ln/>
        </p:spPr>
        <p:txBody>
          <a:bodyPr wrap="square" lIns="0" tIns="0" rIns="0" bIns="0" rtlCol="0" anchor="t"/>
          <a:lstStyle/>
          <a:p>
            <a:pPr marL="0" indent="0" algn="ctr">
              <a:buNone/>
            </a:pPr>
            <a:r>
              <a:rPr lang="en-US" sz="1100" dirty="0">
                <a:solidFill>
                  <a:srgbClr val="6B7684"/>
                </a:solidFill>
                <a:latin typeface="Calibri" pitchFamily="34" charset="0"/>
                <a:ea typeface="Calibri" pitchFamily="34" charset="-122"/>
                <a:cs typeface="Calibri" pitchFamily="34" charset="-120"/>
              </a:rPr>
              <a:t>Trees in the Random Forest</a:t>
            </a:r>
            <a:endParaRPr lang="en-US" sz="1100" dirty="0"/>
          </a:p>
        </p:txBody>
      </p:sp>
      <p:sp>
        <p:nvSpPr>
          <p:cNvPr id="18" name="Shape 15"/>
          <p:cNvSpPr/>
          <p:nvPr/>
        </p:nvSpPr>
        <p:spPr>
          <a:xfrm>
            <a:off x="502920" y="2743200"/>
            <a:ext cx="2017166" cy="2377440"/>
          </a:xfrm>
          <a:prstGeom prst="roundRect">
            <a:avLst>
              <a:gd name="adj" fmla="val 362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9" name="Shape 16"/>
          <p:cNvSpPr/>
          <p:nvPr/>
        </p:nvSpPr>
        <p:spPr>
          <a:xfrm>
            <a:off x="704088" y="2944368"/>
            <a:ext cx="384048" cy="384048"/>
          </a:xfrm>
          <a:prstGeom prst="ellipse">
            <a:avLst/>
          </a:prstGeom>
          <a:solidFill>
            <a:srgbClr val="2F75B5"/>
          </a:solidFill>
          <a:ln w="6350">
            <a:solidFill>
              <a:srgbClr val="2F75B5"/>
            </a:solidFill>
            <a:prstDash val="solid"/>
          </a:ln>
        </p:spPr>
      </p:sp>
      <p:sp>
        <p:nvSpPr>
          <p:cNvPr id="20" name="Text 17"/>
          <p:cNvSpPr txBox="1"/>
          <p:nvPr/>
        </p:nvSpPr>
        <p:spPr>
          <a:xfrm>
            <a:off x="704088" y="294436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704088" y="3474720"/>
            <a:ext cx="1651406" cy="32004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Select Features</a:t>
            </a:r>
            <a:endParaRPr lang="en-US" sz="1400" dirty="0"/>
          </a:p>
        </p:txBody>
      </p:sp>
      <p:sp>
        <p:nvSpPr>
          <p:cNvPr id="22" name="Text 19"/>
          <p:cNvSpPr txBox="1"/>
          <p:nvPr/>
        </p:nvSpPr>
        <p:spPr>
          <a:xfrm>
            <a:off x="704088" y="3858768"/>
            <a:ext cx="1651406" cy="137160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14 customer, claim, risk, incident and reporting attributes. Target: CLAIM_AMOUNT.</a:t>
            </a:r>
            <a:endParaRPr lang="en-US" sz="1150" dirty="0"/>
          </a:p>
        </p:txBody>
      </p:sp>
      <p:sp>
        <p:nvSpPr>
          <p:cNvPr id="23" name="Shape 20"/>
          <p:cNvSpPr/>
          <p:nvPr/>
        </p:nvSpPr>
        <p:spPr>
          <a:xfrm>
            <a:off x="2602382" y="3803904"/>
            <a:ext cx="118872" cy="256032"/>
          </a:xfrm>
          <a:prstGeom prst="chevron">
            <a:avLst/>
          </a:prstGeom>
          <a:solidFill>
            <a:srgbClr val="9AA8B8"/>
          </a:solidFill>
          <a:ln w="6350">
            <a:solidFill>
              <a:srgbClr val="9AA8B8"/>
            </a:solidFill>
            <a:prstDash val="solid"/>
          </a:ln>
        </p:spPr>
      </p:sp>
      <p:sp>
        <p:nvSpPr>
          <p:cNvPr id="24" name="Shape 21"/>
          <p:cNvSpPr/>
          <p:nvPr/>
        </p:nvSpPr>
        <p:spPr>
          <a:xfrm>
            <a:off x="2794406" y="2743200"/>
            <a:ext cx="2017166" cy="2377440"/>
          </a:xfrm>
          <a:prstGeom prst="roundRect">
            <a:avLst>
              <a:gd name="adj" fmla="val 362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5" name="Shape 22"/>
          <p:cNvSpPr/>
          <p:nvPr/>
        </p:nvSpPr>
        <p:spPr>
          <a:xfrm>
            <a:off x="2995574" y="2944368"/>
            <a:ext cx="384048" cy="384048"/>
          </a:xfrm>
          <a:prstGeom prst="ellipse">
            <a:avLst/>
          </a:prstGeom>
          <a:solidFill>
            <a:srgbClr val="008C95"/>
          </a:solidFill>
          <a:ln w="6350">
            <a:solidFill>
              <a:srgbClr val="008C95"/>
            </a:solidFill>
            <a:prstDash val="solid"/>
          </a:ln>
        </p:spPr>
      </p:sp>
      <p:sp>
        <p:nvSpPr>
          <p:cNvPr id="26" name="Text 23"/>
          <p:cNvSpPr txBox="1"/>
          <p:nvPr/>
        </p:nvSpPr>
        <p:spPr>
          <a:xfrm>
            <a:off x="2995574" y="294436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7" name="Text 24"/>
          <p:cNvSpPr txBox="1"/>
          <p:nvPr/>
        </p:nvSpPr>
        <p:spPr>
          <a:xfrm>
            <a:off x="2995574" y="3474720"/>
            <a:ext cx="1651406" cy="32004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Split Data</a:t>
            </a:r>
            <a:endParaRPr lang="en-US" sz="1400" dirty="0"/>
          </a:p>
        </p:txBody>
      </p:sp>
      <p:sp>
        <p:nvSpPr>
          <p:cNvPr id="28" name="Text 25"/>
          <p:cNvSpPr txBox="1"/>
          <p:nvPr/>
        </p:nvSpPr>
        <p:spPr>
          <a:xfrm>
            <a:off x="2995574" y="3858768"/>
            <a:ext cx="1651406" cy="137160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80 / 20 train–test split with random_state = 42, giving 8,000 and 2,000 rows.</a:t>
            </a:r>
            <a:endParaRPr lang="en-US" sz="1150" dirty="0"/>
          </a:p>
        </p:txBody>
      </p:sp>
      <p:sp>
        <p:nvSpPr>
          <p:cNvPr id="29" name="Shape 26"/>
          <p:cNvSpPr/>
          <p:nvPr/>
        </p:nvSpPr>
        <p:spPr>
          <a:xfrm>
            <a:off x="4893869" y="3803904"/>
            <a:ext cx="118872" cy="256032"/>
          </a:xfrm>
          <a:prstGeom prst="chevron">
            <a:avLst/>
          </a:prstGeom>
          <a:solidFill>
            <a:srgbClr val="9AA8B8"/>
          </a:solidFill>
          <a:ln w="6350">
            <a:solidFill>
              <a:srgbClr val="9AA8B8"/>
            </a:solidFill>
            <a:prstDash val="solid"/>
          </a:ln>
        </p:spPr>
      </p:sp>
      <p:sp>
        <p:nvSpPr>
          <p:cNvPr id="30" name="Shape 27"/>
          <p:cNvSpPr/>
          <p:nvPr/>
        </p:nvSpPr>
        <p:spPr>
          <a:xfrm>
            <a:off x="5085893" y="2743200"/>
            <a:ext cx="2017166" cy="2377440"/>
          </a:xfrm>
          <a:prstGeom prst="roundRect">
            <a:avLst>
              <a:gd name="adj" fmla="val 362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1" name="Shape 28"/>
          <p:cNvSpPr/>
          <p:nvPr/>
        </p:nvSpPr>
        <p:spPr>
          <a:xfrm>
            <a:off x="5287061" y="2944368"/>
            <a:ext cx="384048" cy="384048"/>
          </a:xfrm>
          <a:prstGeom prst="ellipse">
            <a:avLst/>
          </a:prstGeom>
          <a:solidFill>
            <a:srgbClr val="2F75B5"/>
          </a:solidFill>
          <a:ln w="6350">
            <a:solidFill>
              <a:srgbClr val="2F75B5"/>
            </a:solidFill>
            <a:prstDash val="solid"/>
          </a:ln>
        </p:spPr>
      </p:sp>
      <p:sp>
        <p:nvSpPr>
          <p:cNvPr id="32" name="Text 29"/>
          <p:cNvSpPr txBox="1"/>
          <p:nvPr/>
        </p:nvSpPr>
        <p:spPr>
          <a:xfrm>
            <a:off x="5287061" y="294436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3" name="Text 30"/>
          <p:cNvSpPr txBox="1"/>
          <p:nvPr/>
        </p:nvSpPr>
        <p:spPr>
          <a:xfrm>
            <a:off x="5287061" y="3474720"/>
            <a:ext cx="1651406" cy="32004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Preprocess</a:t>
            </a:r>
            <a:endParaRPr lang="en-US" sz="1400" dirty="0"/>
          </a:p>
        </p:txBody>
      </p:sp>
      <p:sp>
        <p:nvSpPr>
          <p:cNvPr id="34" name="Text 31"/>
          <p:cNvSpPr txBox="1"/>
          <p:nvPr/>
        </p:nvSpPr>
        <p:spPr>
          <a:xfrm>
            <a:off x="5287061" y="3858768"/>
            <a:ext cx="1651406" cy="137160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Numeric: median imputation. Categorical: most-frequent imputation and one-hot encoding.</a:t>
            </a:r>
            <a:endParaRPr lang="en-US" sz="1150" dirty="0"/>
          </a:p>
        </p:txBody>
      </p:sp>
      <p:sp>
        <p:nvSpPr>
          <p:cNvPr id="35" name="Shape 32"/>
          <p:cNvSpPr/>
          <p:nvPr/>
        </p:nvSpPr>
        <p:spPr>
          <a:xfrm>
            <a:off x="7185355" y="3803904"/>
            <a:ext cx="118872" cy="256032"/>
          </a:xfrm>
          <a:prstGeom prst="chevron">
            <a:avLst/>
          </a:prstGeom>
          <a:solidFill>
            <a:srgbClr val="9AA8B8"/>
          </a:solidFill>
          <a:ln w="6350">
            <a:solidFill>
              <a:srgbClr val="9AA8B8"/>
            </a:solidFill>
            <a:prstDash val="solid"/>
          </a:ln>
        </p:spPr>
      </p:sp>
      <p:sp>
        <p:nvSpPr>
          <p:cNvPr id="36" name="Shape 33"/>
          <p:cNvSpPr/>
          <p:nvPr/>
        </p:nvSpPr>
        <p:spPr>
          <a:xfrm>
            <a:off x="7377379" y="2743200"/>
            <a:ext cx="2017166" cy="2377440"/>
          </a:xfrm>
          <a:prstGeom prst="roundRect">
            <a:avLst>
              <a:gd name="adj" fmla="val 362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7" name="Shape 34"/>
          <p:cNvSpPr/>
          <p:nvPr/>
        </p:nvSpPr>
        <p:spPr>
          <a:xfrm>
            <a:off x="7578547" y="2944368"/>
            <a:ext cx="384048" cy="384048"/>
          </a:xfrm>
          <a:prstGeom prst="ellipse">
            <a:avLst/>
          </a:prstGeom>
          <a:solidFill>
            <a:srgbClr val="008C95"/>
          </a:solidFill>
          <a:ln w="6350">
            <a:solidFill>
              <a:srgbClr val="008C95"/>
            </a:solidFill>
            <a:prstDash val="solid"/>
          </a:ln>
        </p:spPr>
      </p:sp>
      <p:sp>
        <p:nvSpPr>
          <p:cNvPr id="38" name="Text 35"/>
          <p:cNvSpPr txBox="1"/>
          <p:nvPr/>
        </p:nvSpPr>
        <p:spPr>
          <a:xfrm>
            <a:off x="7578547" y="294436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9" name="Text 36"/>
          <p:cNvSpPr txBox="1"/>
          <p:nvPr/>
        </p:nvSpPr>
        <p:spPr>
          <a:xfrm>
            <a:off x="7578547" y="3474720"/>
            <a:ext cx="1651406" cy="32004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Train Models</a:t>
            </a:r>
            <a:endParaRPr lang="en-US" sz="1400" dirty="0"/>
          </a:p>
        </p:txBody>
      </p:sp>
      <p:sp>
        <p:nvSpPr>
          <p:cNvPr id="40" name="Text 37"/>
          <p:cNvSpPr txBox="1"/>
          <p:nvPr/>
        </p:nvSpPr>
        <p:spPr>
          <a:xfrm>
            <a:off x="7578547" y="3858768"/>
            <a:ext cx="1651406" cy="137160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Linear Regression and Random Forest (200 trees), each inside one Pipeline.</a:t>
            </a:r>
            <a:endParaRPr lang="en-US" sz="1150" dirty="0"/>
          </a:p>
        </p:txBody>
      </p:sp>
      <p:sp>
        <p:nvSpPr>
          <p:cNvPr id="41" name="Shape 38"/>
          <p:cNvSpPr/>
          <p:nvPr/>
        </p:nvSpPr>
        <p:spPr>
          <a:xfrm>
            <a:off x="9476842" y="3803904"/>
            <a:ext cx="118872" cy="256032"/>
          </a:xfrm>
          <a:prstGeom prst="chevron">
            <a:avLst/>
          </a:prstGeom>
          <a:solidFill>
            <a:srgbClr val="9AA8B8"/>
          </a:solidFill>
          <a:ln w="6350">
            <a:solidFill>
              <a:srgbClr val="9AA8B8"/>
            </a:solidFill>
            <a:prstDash val="solid"/>
          </a:ln>
        </p:spPr>
      </p:sp>
      <p:sp>
        <p:nvSpPr>
          <p:cNvPr id="42" name="Shape 39"/>
          <p:cNvSpPr/>
          <p:nvPr/>
        </p:nvSpPr>
        <p:spPr>
          <a:xfrm>
            <a:off x="9668866" y="2743200"/>
            <a:ext cx="2017166" cy="2377440"/>
          </a:xfrm>
          <a:prstGeom prst="roundRect">
            <a:avLst>
              <a:gd name="adj" fmla="val 362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43" name="Shape 40"/>
          <p:cNvSpPr/>
          <p:nvPr/>
        </p:nvSpPr>
        <p:spPr>
          <a:xfrm>
            <a:off x="9870034" y="2944368"/>
            <a:ext cx="384048" cy="384048"/>
          </a:xfrm>
          <a:prstGeom prst="ellipse">
            <a:avLst/>
          </a:prstGeom>
          <a:solidFill>
            <a:srgbClr val="2F75B5"/>
          </a:solidFill>
          <a:ln w="6350">
            <a:solidFill>
              <a:srgbClr val="2F75B5"/>
            </a:solidFill>
            <a:prstDash val="solid"/>
          </a:ln>
        </p:spPr>
      </p:sp>
      <p:sp>
        <p:nvSpPr>
          <p:cNvPr id="44" name="Text 41"/>
          <p:cNvSpPr txBox="1"/>
          <p:nvPr/>
        </p:nvSpPr>
        <p:spPr>
          <a:xfrm>
            <a:off x="9870034" y="294436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5" name="Text 42"/>
          <p:cNvSpPr txBox="1"/>
          <p:nvPr/>
        </p:nvSpPr>
        <p:spPr>
          <a:xfrm>
            <a:off x="9870034" y="3474720"/>
            <a:ext cx="1651406" cy="32004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Evaluate</a:t>
            </a:r>
            <a:endParaRPr lang="en-US" sz="1400" dirty="0"/>
          </a:p>
        </p:txBody>
      </p:sp>
      <p:sp>
        <p:nvSpPr>
          <p:cNvPr id="46" name="Text 43"/>
          <p:cNvSpPr txBox="1"/>
          <p:nvPr/>
        </p:nvSpPr>
        <p:spPr>
          <a:xfrm>
            <a:off x="9870034" y="3858768"/>
            <a:ext cx="1651406" cy="137160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MAE, RMSE and R² on the 2,000 test rows; the best model is selected.</a:t>
            </a:r>
            <a:endParaRPr lang="en-US" sz="1150" dirty="0"/>
          </a:p>
        </p:txBody>
      </p:sp>
      <p:sp>
        <p:nvSpPr>
          <p:cNvPr id="47" name="Shape 44"/>
          <p:cNvSpPr/>
          <p:nvPr/>
        </p:nvSpPr>
        <p:spPr>
          <a:xfrm>
            <a:off x="502920" y="5440680"/>
            <a:ext cx="11183112" cy="594360"/>
          </a:xfrm>
          <a:prstGeom prst="roundRect">
            <a:avLst>
              <a:gd name="adj" fmla="val 9231"/>
            </a:avLst>
          </a:prstGeom>
          <a:solidFill>
            <a:srgbClr val="17365D"/>
          </a:solidFill>
          <a:ln w="9525">
            <a:solidFill>
              <a:srgbClr val="17365D"/>
            </a:solidFill>
            <a:prstDash val="solid"/>
          </a:ln>
          <a:effectLst>
            <a:outerShdw blurRad="101600" dist="25400" dir="5400000" algn="bl" rotWithShape="0">
              <a:srgbClr val="9AA8B8">
                <a:alpha val="32000"/>
              </a:srgbClr>
            </a:outerShdw>
          </a:effectLst>
        </p:spPr>
      </p:sp>
      <p:sp>
        <p:nvSpPr>
          <p:cNvPr id="48" name="Text 45"/>
          <p:cNvSpPr txBox="1"/>
          <p:nvPr/>
        </p:nvSpPr>
        <p:spPr>
          <a:xfrm>
            <a:off x="777240" y="5440680"/>
            <a:ext cx="10698480" cy="594360"/>
          </a:xfrm>
          <a:prstGeom prst="rect">
            <a:avLst/>
          </a:prstGeom>
          <a:noFill/>
          <a:ln/>
        </p:spPr>
        <p:txBody>
          <a:bodyPr wrap="square" lIns="0" tIns="0" rIns="0" bIns="0" rtlCol="0" anchor="ctr"/>
          <a:lstStyle/>
          <a:p>
            <a:pPr marL="0" indent="0">
              <a:buNone/>
            </a:pPr>
            <a:r>
              <a:rPr lang="en-US" sz="1000" b="1" kern="0" spc="150" dirty="0">
                <a:solidFill>
                  <a:srgbClr val="7FB7D9"/>
                </a:solidFill>
                <a:latin typeface="Calibri" pitchFamily="34" charset="0"/>
                <a:ea typeface="Calibri" pitchFamily="34" charset="-122"/>
                <a:cs typeface="Calibri" pitchFamily="34" charset="-120"/>
              </a:rPr>
              <a:t>KEY TAKEAWAY     </a:t>
            </a:r>
            <a:r>
              <a:rPr lang="en-US" sz="1250" dirty="0">
                <a:solidFill>
                  <a:srgbClr val="FFFFFF"/>
                </a:solidFill>
                <a:latin typeface="Calibri" pitchFamily="34" charset="0"/>
                <a:ea typeface="Calibri" pitchFamily="34" charset="-122"/>
                <a:cs typeface="Calibri" pitchFamily="34" charset="-120"/>
              </a:rPr>
              <a:t>Preprocessing and model live in a single Pipeline, so identical steps are applied to training and test data.</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Predictive Model Performance</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21</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6766560" cy="1371600"/>
        </p:xfrm>
        <a:graphic>
          <a:graphicData uri="http://schemas.openxmlformats.org/drawingml/2006/table">
            <a:tbl>
              <a:tblPr/>
              <a:tblGrid>
                <a:gridCol w="26517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57200">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MAE</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RMSE</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R²</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457200">
                <a:tc>
                  <a:txBody>
                    <a:bodyPr/>
                    <a:lstStyle/>
                    <a:p>
                      <a:pPr marL="0" indent="0" algn="ctr">
                        <a:buNone/>
                      </a:pPr>
                      <a:r>
                        <a:rPr lang="en-US" sz="1300" b="1" dirty="0">
                          <a:solidFill>
                            <a:srgbClr val="17365D"/>
                          </a:solidFill>
                          <a:latin typeface="Calibri" pitchFamily="34" charset="0"/>
                          <a:ea typeface="Calibri" pitchFamily="34" charset="-122"/>
                          <a:cs typeface="Calibri" pitchFamily="34" charset="-120"/>
                        </a:rPr>
                        <a:t>Linear Regression</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3440"/>
                          </a:solidFill>
                          <a:latin typeface="Calibri" pitchFamily="34" charset="0"/>
                          <a:ea typeface="Calibri" pitchFamily="34" charset="-122"/>
                          <a:cs typeface="Calibri" pitchFamily="34" charset="-120"/>
                        </a:rPr>
                        <a:t>6,935.15</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3440"/>
                          </a:solidFill>
                          <a:latin typeface="Calibri" pitchFamily="34" charset="0"/>
                          <a:ea typeface="Calibri" pitchFamily="34" charset="-122"/>
                          <a:cs typeface="Calibri" pitchFamily="34" charset="-120"/>
                        </a:rPr>
                        <a:t>11,976.84</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08C95"/>
                          </a:solidFill>
                          <a:latin typeface="Calibri" pitchFamily="34" charset="0"/>
                          <a:ea typeface="Calibri" pitchFamily="34" charset="-122"/>
                          <a:cs typeface="Calibri" pitchFamily="34" charset="-120"/>
                        </a:rPr>
                        <a:t>0.7066</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300" b="1" dirty="0">
                          <a:solidFill>
                            <a:srgbClr val="17365D"/>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3440"/>
                          </a:solidFill>
                          <a:latin typeface="Calibri" pitchFamily="34" charset="0"/>
                          <a:ea typeface="Calibri" pitchFamily="34" charset="-122"/>
                          <a:cs typeface="Calibri" pitchFamily="34" charset="-120"/>
                        </a:rPr>
                        <a:t>6,903.99</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3440"/>
                          </a:solidFill>
                          <a:latin typeface="Calibri" pitchFamily="34" charset="0"/>
                          <a:ea typeface="Calibri" pitchFamily="34" charset="-122"/>
                          <a:cs typeface="Calibri" pitchFamily="34" charset="-120"/>
                        </a:rPr>
                        <a:t>12,250.86</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3440"/>
                          </a:solidFill>
                          <a:latin typeface="Calibri" pitchFamily="34" charset="0"/>
                          <a:ea typeface="Calibri" pitchFamily="34" charset="-122"/>
                          <a:cs typeface="Calibri" pitchFamily="34" charset="-120"/>
                        </a:rPr>
                        <a:t>0.6930</a:t>
                      </a:r>
                      <a:endParaRPr lang="en-US" sz="1300" dirty="0">
                        <a:latin typeface="Calibri" charset="0"/>
                        <a:ea typeface="Calibri" charset="0"/>
                        <a:cs typeface="Calibri" charset="0"/>
                      </a:endParaRPr>
                    </a:p>
                  </a:txBody>
                  <a:tcPr anchor="ctr">
                    <a:lnL w="9525" cap="flat" cmpd="sng" algn="ctr">
                      <a:solidFill>
                        <a:srgbClr val="D6DEE8"/>
                      </a:solidFill>
                      <a:prstDash val="solid"/>
                      <a:round/>
                      <a:headEnd type="none" w="med" len="med"/>
                      <a:tailEnd type="none" w="med" len="med"/>
                    </a:lnL>
                    <a:lnR w="9525" cap="flat" cmpd="sng" algn="ctr">
                      <a:solidFill>
                        <a:srgbClr val="D6DEE8"/>
                      </a:solidFill>
                      <a:prstDash val="solid"/>
                      <a:round/>
                      <a:headEnd type="none" w="med" len="med"/>
                      <a:tailEnd type="none" w="med" len="med"/>
                    </a:lnR>
                    <a:lnT w="9525" cap="flat" cmpd="sng" algn="ctr">
                      <a:solidFill>
                        <a:srgbClr val="D6DEE8"/>
                      </a:solidFill>
                      <a:prstDash val="solid"/>
                      <a:round/>
                      <a:headEnd type="none" w="med" len="med"/>
                      <a:tailEnd type="none" w="med" len="med"/>
                    </a:lnT>
                    <a:lnB w="9525"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5" name="Shape 2"/>
          <p:cNvSpPr/>
          <p:nvPr/>
        </p:nvSpPr>
        <p:spPr>
          <a:xfrm>
            <a:off x="502920" y="3063240"/>
            <a:ext cx="676656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6" name="Text 3"/>
          <p:cNvSpPr txBox="1"/>
          <p:nvPr/>
        </p:nvSpPr>
        <p:spPr>
          <a:xfrm>
            <a:off x="777240" y="3246120"/>
            <a:ext cx="6217920" cy="27432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Model Selection</a:t>
            </a:r>
            <a:endParaRPr lang="en-US" sz="1500" dirty="0"/>
          </a:p>
        </p:txBody>
      </p:sp>
      <p:sp>
        <p:nvSpPr>
          <p:cNvPr id="7" name="Text 4"/>
          <p:cNvSpPr txBox="1"/>
          <p:nvPr/>
        </p:nvSpPr>
        <p:spPr>
          <a:xfrm>
            <a:off x="777240" y="3611880"/>
            <a:ext cx="6217920" cy="1417320"/>
          </a:xfrm>
          <a:prstGeom prst="rect">
            <a:avLst/>
          </a:prstGeom>
          <a:noFill/>
          <a:ln/>
        </p:spPr>
        <p:txBody>
          <a:bodyPr wrap="square" lIns="0" tIns="0" rIns="0" bIns="0" rtlCol="0" anchor="ctr"/>
          <a:lstStyle/>
          <a:p>
            <a:pPr marL="0" indent="0">
              <a:lnSpc>
                <a:spcPts val="1800"/>
              </a:lnSpc>
              <a:spcAft>
                <a:spcPts val="800"/>
              </a:spcAft>
              <a:buNone/>
            </a:pPr>
            <a:r>
              <a:rPr lang="en-US" sz="1250" b="1" dirty="0">
                <a:solidFill>
                  <a:srgbClr val="2B3440"/>
                </a:solidFill>
                <a:latin typeface="Calibri" pitchFamily="34" charset="0"/>
                <a:ea typeface="Calibri" pitchFamily="34" charset="-122"/>
                <a:cs typeface="Calibri" pitchFamily="34" charset="-120"/>
              </a:rPr>
              <a:t>Linear Regression was selected as the final model based on combined test performance.</a:t>
            </a:r>
            <a:endParaRPr lang="en-US" sz="1250" dirty="0"/>
          </a:p>
          <a:p>
            <a:pPr marL="0" indent="0">
              <a:lnSpc>
                <a:spcPts val="1800"/>
              </a:lnSpc>
              <a:spcAft>
                <a:spcPts val="800"/>
              </a:spcAft>
              <a:buNone/>
            </a:pPr>
            <a:r>
              <a:rPr lang="en-US" sz="1250" dirty="0">
                <a:solidFill>
                  <a:srgbClr val="2B3440"/>
                </a:solidFill>
                <a:latin typeface="Calibri" pitchFamily="34" charset="0"/>
                <a:ea typeface="Calibri" pitchFamily="34" charset="-122"/>
                <a:cs typeface="Calibri" pitchFamily="34" charset="-120"/>
              </a:rPr>
              <a:t>Random Forest achieved a slightly lower MAE, but Linear Regression achieved a lower RMSE and a higher R². Linear Regression therefore provided the stronger overall performance for this dataset based on the selected evaluation metrics.</a:t>
            </a:r>
            <a:endParaRPr lang="en-US" sz="1250" dirty="0"/>
          </a:p>
        </p:txBody>
      </p:sp>
      <p:sp>
        <p:nvSpPr>
          <p:cNvPr id="8" name="Shape 5"/>
          <p:cNvSpPr/>
          <p:nvPr/>
        </p:nvSpPr>
        <p:spPr>
          <a:xfrm>
            <a:off x="7543800" y="1325880"/>
            <a:ext cx="4187952" cy="2194560"/>
          </a:xfrm>
          <a:prstGeom prst="roundRect">
            <a:avLst>
              <a:gd name="adj" fmla="val 3333"/>
            </a:avLst>
          </a:prstGeom>
          <a:solidFill>
            <a:srgbClr val="17365D"/>
          </a:solidFill>
          <a:ln w="12700">
            <a:solidFill>
              <a:srgbClr val="17365D"/>
            </a:solidFill>
            <a:prstDash val="solid"/>
          </a:ln>
          <a:effectLst>
            <a:outerShdw blurRad="101600" dist="25400" dir="5400000" algn="bl" rotWithShape="0">
              <a:srgbClr val="9AA8B8">
                <a:alpha val="32000"/>
              </a:srgbClr>
            </a:outerShdw>
          </a:effectLst>
        </p:spPr>
      </p:sp>
      <p:sp>
        <p:nvSpPr>
          <p:cNvPr id="9" name="Text 6"/>
          <p:cNvSpPr txBox="1"/>
          <p:nvPr/>
        </p:nvSpPr>
        <p:spPr>
          <a:xfrm>
            <a:off x="7818120" y="1508760"/>
            <a:ext cx="3657600" cy="237744"/>
          </a:xfrm>
          <a:prstGeom prst="rect">
            <a:avLst/>
          </a:prstGeom>
          <a:noFill/>
          <a:ln/>
        </p:spPr>
        <p:txBody>
          <a:bodyPr wrap="square" lIns="0" tIns="0" rIns="0" bIns="0" rtlCol="0" anchor="ctr"/>
          <a:lstStyle/>
          <a:p>
            <a:pPr marL="0" indent="0">
              <a:buNone/>
            </a:pPr>
            <a:r>
              <a:rPr lang="en-US" sz="1000" b="1" kern="0" spc="130" dirty="0">
                <a:solidFill>
                  <a:srgbClr val="7FB7D9"/>
                </a:solidFill>
                <a:latin typeface="Calibri" pitchFamily="34" charset="0"/>
                <a:ea typeface="Calibri" pitchFamily="34" charset="-122"/>
                <a:cs typeface="Calibri" pitchFamily="34" charset="-120"/>
              </a:rPr>
              <a:t>FINAL MODEL</a:t>
            </a:r>
            <a:endParaRPr lang="en-US" sz="1000" dirty="0"/>
          </a:p>
        </p:txBody>
      </p:sp>
      <p:sp>
        <p:nvSpPr>
          <p:cNvPr id="10" name="Text 7"/>
          <p:cNvSpPr txBox="1"/>
          <p:nvPr/>
        </p:nvSpPr>
        <p:spPr>
          <a:xfrm>
            <a:off x="7818120" y="1783080"/>
            <a:ext cx="3657600" cy="411480"/>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Linear Regression</a:t>
            </a:r>
            <a:endParaRPr lang="en-US" sz="2100" dirty="0"/>
          </a:p>
        </p:txBody>
      </p:sp>
      <p:sp>
        <p:nvSpPr>
          <p:cNvPr id="11" name="Text 8"/>
          <p:cNvSpPr txBox="1"/>
          <p:nvPr/>
        </p:nvSpPr>
        <p:spPr>
          <a:xfrm>
            <a:off x="7818120" y="2267712"/>
            <a:ext cx="3657600" cy="384048"/>
          </a:xfrm>
          <a:prstGeom prst="rect">
            <a:avLst/>
          </a:prstGeom>
          <a:noFill/>
          <a:ln/>
        </p:spPr>
        <p:txBody>
          <a:bodyPr wrap="square" lIns="0" tIns="0" rIns="0" bIns="0" rtlCol="0" anchor="ctr"/>
          <a:lstStyle/>
          <a:p>
            <a:pPr marL="0" indent="0">
              <a:buNone/>
            </a:pPr>
            <a:r>
              <a:rPr lang="en-US" sz="2600" b="1" dirty="0">
                <a:solidFill>
                  <a:srgbClr val="5FD3D9"/>
                </a:solidFill>
                <a:latin typeface="Cambria" pitchFamily="34" charset="0"/>
                <a:ea typeface="Cambria" pitchFamily="34" charset="-122"/>
                <a:cs typeface="Cambria" pitchFamily="34" charset="-120"/>
              </a:rPr>
              <a:t>R² = 0.7066</a:t>
            </a:r>
            <a:endParaRPr lang="en-US" sz="2600" dirty="0"/>
          </a:p>
        </p:txBody>
      </p:sp>
      <p:sp>
        <p:nvSpPr>
          <p:cNvPr id="12" name="Text 9"/>
          <p:cNvSpPr txBox="1"/>
          <p:nvPr/>
        </p:nvSpPr>
        <p:spPr>
          <a:xfrm>
            <a:off x="7818120" y="2724912"/>
            <a:ext cx="3657600" cy="594360"/>
          </a:xfrm>
          <a:prstGeom prst="rect">
            <a:avLst/>
          </a:prstGeom>
          <a:noFill/>
          <a:ln/>
        </p:spPr>
        <p:txBody>
          <a:bodyPr wrap="square" lIns="0" tIns="0" rIns="0" bIns="0" rtlCol="0" anchor="ctr"/>
          <a:lstStyle/>
          <a:p>
            <a:pPr marL="0" indent="0">
              <a:lnSpc>
                <a:spcPts val="1600"/>
              </a:lnSpc>
              <a:buNone/>
            </a:pPr>
            <a:r>
              <a:rPr lang="en-US" sz="1150" dirty="0">
                <a:solidFill>
                  <a:srgbClr val="C7DCF0"/>
                </a:solidFill>
                <a:latin typeface="Calibri" pitchFamily="34" charset="0"/>
                <a:ea typeface="Calibri" pitchFamily="34" charset="-122"/>
                <a:cs typeface="Calibri" pitchFamily="34" charset="-120"/>
              </a:rPr>
              <a:t>≈ 71% of the variation in claim amount is explained by the selected features.</a:t>
            </a:r>
            <a:endParaRPr lang="en-US" sz="1150" dirty="0"/>
          </a:p>
        </p:txBody>
      </p:sp>
      <p:sp>
        <p:nvSpPr>
          <p:cNvPr id="13" name="Shape 10"/>
          <p:cNvSpPr/>
          <p:nvPr/>
        </p:nvSpPr>
        <p:spPr>
          <a:xfrm>
            <a:off x="7543800" y="3657600"/>
            <a:ext cx="4187952" cy="1554480"/>
          </a:xfrm>
          <a:prstGeom prst="roundRect">
            <a:avLst>
              <a:gd name="adj" fmla="val 470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4" name="Text 11"/>
          <p:cNvSpPr txBox="1"/>
          <p:nvPr/>
        </p:nvSpPr>
        <p:spPr>
          <a:xfrm>
            <a:off x="7818120" y="3822192"/>
            <a:ext cx="3657600" cy="274320"/>
          </a:xfrm>
          <a:prstGeom prst="rect">
            <a:avLst/>
          </a:prstGeom>
          <a:noFill/>
          <a:ln/>
        </p:spPr>
        <p:txBody>
          <a:bodyPr wrap="square" lIns="0" tIns="0" rIns="0" bIns="0" rtlCol="0" anchor="ctr"/>
          <a:lstStyle/>
          <a:p>
            <a:pPr marL="0" indent="0">
              <a:buNone/>
            </a:pPr>
            <a:r>
              <a:rPr lang="en-US" sz="1350" b="1" dirty="0">
                <a:solidFill>
                  <a:srgbClr val="008C95"/>
                </a:solidFill>
                <a:latin typeface="Cambria" pitchFamily="34" charset="0"/>
                <a:ea typeface="Cambria" pitchFamily="34" charset="-122"/>
                <a:cs typeface="Cambria" pitchFamily="34" charset="-120"/>
              </a:rPr>
              <a:t>Interpretation Note</a:t>
            </a:r>
            <a:endParaRPr lang="en-US" sz="1350" dirty="0"/>
          </a:p>
        </p:txBody>
      </p:sp>
      <p:sp>
        <p:nvSpPr>
          <p:cNvPr id="15" name="Text 12"/>
          <p:cNvSpPr txBox="1"/>
          <p:nvPr/>
        </p:nvSpPr>
        <p:spPr>
          <a:xfrm>
            <a:off x="7818120" y="4160520"/>
            <a:ext cx="3657600" cy="914400"/>
          </a:xfrm>
          <a:prstGeom prst="rect">
            <a:avLst/>
          </a:prstGeom>
          <a:noFill/>
          <a:ln/>
        </p:spPr>
        <p:txBody>
          <a:bodyPr wrap="square" lIns="0" tIns="0" rIns="0" bIns="0" rtlCol="0" anchor="ctr"/>
          <a:lstStyle/>
          <a:p>
            <a:pPr marL="0" indent="0">
              <a:lnSpc>
                <a:spcPts val="1700"/>
              </a:lnSpc>
              <a:buNone/>
            </a:pPr>
            <a:r>
              <a:rPr lang="en-US" sz="1200" dirty="0">
                <a:solidFill>
                  <a:srgbClr val="2B3440"/>
                </a:solidFill>
                <a:latin typeface="Calibri" pitchFamily="34" charset="0"/>
                <a:ea typeface="Calibri" pitchFamily="34" charset="-122"/>
                <a:cs typeface="Calibri" pitchFamily="34" charset="-120"/>
              </a:rPr>
              <a:t>Predictions represent estimates of claim amount and should not be interpreted as guaranteed claim settlements.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What Drives the Predictions?</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Random Forest feature importance and Linear Regression insurance-type coefficients</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22</a:t>
            </a:r>
            <a:endParaRPr lang="en-US" sz="1000" dirty="0"/>
          </a:p>
        </p:txBody>
      </p:sp>
      <p:sp>
        <p:nvSpPr>
          <p:cNvPr id="6" name="Shape 3"/>
          <p:cNvSpPr/>
          <p:nvPr/>
        </p:nvSpPr>
        <p:spPr>
          <a:xfrm>
            <a:off x="502920" y="1325880"/>
            <a:ext cx="5577840" cy="4023360"/>
          </a:xfrm>
          <a:prstGeom prst="roundRect">
            <a:avLst>
              <a:gd name="adj" fmla="val 1818"/>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731520" y="1481328"/>
            <a:ext cx="512064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Random Forest — Top Feature Importance</a:t>
            </a:r>
            <a:endParaRPr lang="en-US" sz="1400" dirty="0"/>
          </a:p>
        </p:txBody>
      </p:sp>
      <p:graphicFrame>
        <p:nvGraphicFramePr>
          <p:cNvPr id="8" name="Chart 0"/>
          <p:cNvGraphicFramePr/>
          <p:nvPr/>
        </p:nvGraphicFramePr>
        <p:xfrm>
          <a:off x="594360" y="1828800"/>
          <a:ext cx="539496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5"/>
          <p:cNvSpPr txBox="1"/>
          <p:nvPr/>
        </p:nvSpPr>
        <p:spPr>
          <a:xfrm>
            <a:off x="731520" y="4892040"/>
            <a:ext cx="5120640" cy="36576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Dark bars = insurance-type features. Every feature not shown is below 0.6%.</a:t>
            </a:r>
            <a:endParaRPr lang="en-US" sz="1150" dirty="0"/>
          </a:p>
        </p:txBody>
      </p:sp>
      <p:sp>
        <p:nvSpPr>
          <p:cNvPr id="10" name="Shape 6"/>
          <p:cNvSpPr/>
          <p:nvPr/>
        </p:nvSpPr>
        <p:spPr>
          <a:xfrm>
            <a:off x="6309360" y="1325880"/>
            <a:ext cx="5376672" cy="4023360"/>
          </a:xfrm>
          <a:prstGeom prst="roundRect">
            <a:avLst>
              <a:gd name="adj" fmla="val 1818"/>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Text 7"/>
          <p:cNvSpPr txBox="1"/>
          <p:nvPr/>
        </p:nvSpPr>
        <p:spPr>
          <a:xfrm>
            <a:off x="6537960" y="1481328"/>
            <a:ext cx="493776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Linear Regression — Insurance Type Coefficients (₹)</a:t>
            </a:r>
            <a:endParaRPr lang="en-US" sz="1400" dirty="0"/>
          </a:p>
        </p:txBody>
      </p:sp>
      <p:graphicFrame>
        <p:nvGraphicFramePr>
          <p:cNvPr id="12" name="Chart 1"/>
          <p:cNvGraphicFramePr/>
          <p:nvPr/>
        </p:nvGraphicFramePr>
        <p:xfrm>
          <a:off x="6400800" y="1828800"/>
          <a:ext cx="5193792"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3" name="Text 8"/>
          <p:cNvSpPr txBox="1"/>
          <p:nvPr/>
        </p:nvSpPr>
        <p:spPr>
          <a:xfrm>
            <a:off x="6537960" y="4892040"/>
            <a:ext cx="4937760" cy="365760"/>
          </a:xfrm>
          <a:prstGeom prst="rect">
            <a:avLst/>
          </a:prstGeom>
          <a:noFill/>
          <a:ln/>
        </p:spPr>
        <p:txBody>
          <a:bodyPr wrap="square" lIns="0" tIns="0" rIns="0" bIns="0" rtlCol="0" anchor="t"/>
          <a:lstStyle/>
          <a:p>
            <a:pPr marL="0" indent="0">
              <a:buNone/>
            </a:pPr>
            <a:r>
              <a:rPr lang="en-US" sz="1150" dirty="0">
                <a:solidFill>
                  <a:srgbClr val="2B3440"/>
                </a:solidFill>
                <a:latin typeface="Calibri" pitchFamily="34" charset="0"/>
                <a:ea typeface="Calibri" pitchFamily="34" charset="-122"/>
                <a:cs typeface="Calibri" pitchFamily="34" charset="-120"/>
              </a:rPr>
              <a:t>One-hot coefficients are relative to each other: Life lifts the prediction most, Mobile least.</a:t>
            </a:r>
            <a:endParaRPr lang="en-US" sz="1150" dirty="0"/>
          </a:p>
        </p:txBody>
      </p:sp>
      <p:sp>
        <p:nvSpPr>
          <p:cNvPr id="14" name="Shape 9"/>
          <p:cNvSpPr/>
          <p:nvPr/>
        </p:nvSpPr>
        <p:spPr>
          <a:xfrm>
            <a:off x="502920" y="5577840"/>
            <a:ext cx="11183112" cy="621792"/>
          </a:xfrm>
          <a:prstGeom prst="roundRect">
            <a:avLst>
              <a:gd name="adj" fmla="val 8824"/>
            </a:avLst>
          </a:prstGeom>
          <a:solidFill>
            <a:srgbClr val="17365D"/>
          </a:solidFill>
          <a:ln w="9525">
            <a:solidFill>
              <a:srgbClr val="17365D"/>
            </a:solidFill>
            <a:prstDash val="solid"/>
          </a:ln>
          <a:effectLst>
            <a:outerShdw blurRad="101600" dist="25400" dir="5400000" algn="bl" rotWithShape="0">
              <a:srgbClr val="9AA8B8">
                <a:alpha val="32000"/>
              </a:srgbClr>
            </a:outerShdw>
          </a:effectLst>
        </p:spPr>
      </p:sp>
      <p:sp>
        <p:nvSpPr>
          <p:cNvPr id="15" name="Text 10"/>
          <p:cNvSpPr txBox="1"/>
          <p:nvPr/>
        </p:nvSpPr>
        <p:spPr>
          <a:xfrm>
            <a:off x="777240" y="5577840"/>
            <a:ext cx="10698480" cy="621792"/>
          </a:xfrm>
          <a:prstGeom prst="rect">
            <a:avLst/>
          </a:prstGeom>
          <a:noFill/>
          <a:ln/>
        </p:spPr>
        <p:txBody>
          <a:bodyPr wrap="square" lIns="0" tIns="0" rIns="0" bIns="0" rtlCol="0" anchor="ctr"/>
          <a:lstStyle/>
          <a:p>
            <a:pPr marL="0" indent="0">
              <a:buNone/>
            </a:pPr>
            <a:r>
              <a:rPr lang="en-US" sz="1000" b="1" kern="0" spc="150" dirty="0">
                <a:solidFill>
                  <a:srgbClr val="7FB7D9"/>
                </a:solidFill>
                <a:latin typeface="Calibri" pitchFamily="34" charset="0"/>
                <a:ea typeface="Calibri" pitchFamily="34" charset="-122"/>
                <a:cs typeface="Calibri" pitchFamily="34" charset="-120"/>
              </a:rPr>
              <a:t>KEY TAKEAWAY     </a:t>
            </a:r>
            <a:r>
              <a:rPr lang="en-US" sz="1250" dirty="0">
                <a:solidFill>
                  <a:srgbClr val="FFFFFF"/>
                </a:solidFill>
                <a:latin typeface="Calibri" pitchFamily="34" charset="0"/>
                <a:ea typeface="Calibri" pitchFamily="34" charset="-122"/>
                <a:cs typeface="Calibri" pitchFamily="34" charset="-120"/>
              </a:rPr>
              <a:t>Insurance type is the dominant predictor in both models, consistent with the diagnostic findings.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Actual vs Predicted Claim Amount</a:t>
            </a:r>
            <a:endParaRPr lang="en-US" sz="3100" dirty="0"/>
          </a:p>
        </p:txBody>
      </p:sp>
      <p:sp>
        <p:nvSpPr>
          <p:cNvPr id="3" name="Text 1"/>
          <p:cNvSpPr txBox="1"/>
          <p:nvPr/>
        </p:nvSpPr>
        <p:spPr>
          <a:xfrm>
            <a:off x="530352" y="896112"/>
            <a:ext cx="1097280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Linear Regression on the 2,000-row test set</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23</a:t>
            </a:r>
            <a:endParaRPr lang="en-US" sz="1000" dirty="0"/>
          </a:p>
        </p:txBody>
      </p:sp>
      <p:sp>
        <p:nvSpPr>
          <p:cNvPr id="6" name="Shape 3"/>
          <p:cNvSpPr/>
          <p:nvPr/>
        </p:nvSpPr>
        <p:spPr>
          <a:xfrm>
            <a:off x="502920" y="1325880"/>
            <a:ext cx="6035040" cy="4846320"/>
          </a:xfrm>
          <a:prstGeom prst="roundRect">
            <a:avLst>
              <a:gd name="adj" fmla="val 1509"/>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731520" y="1481328"/>
            <a:ext cx="5577840" cy="274320"/>
          </a:xfrm>
          <a:prstGeom prst="rect">
            <a:avLst/>
          </a:prstGeom>
          <a:noFill/>
          <a:ln/>
        </p:spPr>
        <p:txBody>
          <a:bodyPr wrap="square" lIns="0" tIns="0" rIns="0" bIns="0" rtlCol="0" anchor="ctr"/>
          <a:lstStyle/>
          <a:p>
            <a:pPr marL="0" indent="0">
              <a:buNone/>
            </a:pPr>
            <a:r>
              <a:rPr lang="en-US" sz="1400" b="1" dirty="0">
                <a:solidFill>
                  <a:srgbClr val="17365D"/>
                </a:solidFill>
                <a:latin typeface="Cambria" pitchFamily="34" charset="0"/>
                <a:ea typeface="Cambria" pitchFamily="34" charset="-122"/>
                <a:cs typeface="Cambria" pitchFamily="34" charset="-120"/>
              </a:rPr>
              <a:t>Test-Set Predictions (2,000 claims)</a:t>
            </a:r>
            <a:endParaRPr lang="en-US" sz="1400" dirty="0"/>
          </a:p>
        </p:txBody>
      </p:sp>
      <p:pic>
        <p:nvPicPr>
          <p:cNvPr id="8" name="Image 0" descr="/home/claude/nbimg/c117.png"/>
          <p:cNvPicPr>
            <a:picLocks noChangeAspect="1"/>
          </p:cNvPicPr>
          <p:nvPr/>
        </p:nvPicPr>
        <p:blipFill>
          <a:blip r:embed="rId3"/>
          <a:stretch>
            <a:fillRect/>
          </a:stretch>
        </p:blipFill>
        <p:spPr>
          <a:xfrm>
            <a:off x="777240" y="1874520"/>
            <a:ext cx="5486400" cy="4114800"/>
          </a:xfrm>
          <a:prstGeom prst="rect">
            <a:avLst/>
          </a:prstGeom>
        </p:spPr>
      </p:pic>
      <p:sp>
        <p:nvSpPr>
          <p:cNvPr id="9" name="Shape 5"/>
          <p:cNvSpPr/>
          <p:nvPr/>
        </p:nvSpPr>
        <p:spPr>
          <a:xfrm>
            <a:off x="6812280" y="1325880"/>
            <a:ext cx="4873752" cy="1463040"/>
          </a:xfrm>
          <a:prstGeom prst="roundRect">
            <a:avLst>
              <a:gd name="adj" fmla="val 50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6"/>
          <p:cNvSpPr txBox="1"/>
          <p:nvPr/>
        </p:nvSpPr>
        <p:spPr>
          <a:xfrm>
            <a:off x="7068312" y="1472184"/>
            <a:ext cx="4361688" cy="274320"/>
          </a:xfrm>
          <a:prstGeom prst="rect">
            <a:avLst/>
          </a:prstGeom>
          <a:noFill/>
          <a:ln/>
        </p:spPr>
        <p:txBody>
          <a:bodyPr wrap="square" lIns="0" tIns="0" rIns="0" bIns="0" rtlCol="0" anchor="ctr"/>
          <a:lstStyle/>
          <a:p>
            <a:pPr marL="0" indent="0">
              <a:buNone/>
            </a:pPr>
            <a:r>
              <a:rPr lang="en-US" sz="1400" b="1" dirty="0">
                <a:solidFill>
                  <a:srgbClr val="008C95"/>
                </a:solidFill>
                <a:latin typeface="Cambria" pitchFamily="34" charset="0"/>
                <a:ea typeface="Cambria" pitchFamily="34" charset="-122"/>
                <a:cs typeface="Cambria" pitchFamily="34" charset="-120"/>
              </a:rPr>
              <a:t>Predictions form bands</a:t>
            </a:r>
            <a:endParaRPr lang="en-US" sz="1400" dirty="0"/>
          </a:p>
        </p:txBody>
      </p:sp>
      <p:sp>
        <p:nvSpPr>
          <p:cNvPr id="11" name="Text 7"/>
          <p:cNvSpPr txBox="1"/>
          <p:nvPr/>
        </p:nvSpPr>
        <p:spPr>
          <a:xfrm>
            <a:off x="7068312" y="1828800"/>
            <a:ext cx="4361688" cy="868680"/>
          </a:xfrm>
          <a:prstGeom prst="rect">
            <a:avLst/>
          </a:prstGeom>
          <a:noFill/>
          <a:ln/>
        </p:spPr>
        <p:txBody>
          <a:bodyPr wrap="square" lIns="0" tIns="0" rIns="0" bIns="0" rtlCol="0" anchor="t"/>
          <a:lstStyle/>
          <a:p>
            <a:pPr marL="0" indent="0">
              <a:buNone/>
            </a:pPr>
            <a:r>
              <a:rPr lang="en-US" sz="1300" dirty="0">
                <a:solidFill>
                  <a:srgbClr val="2B3440"/>
                </a:solidFill>
                <a:latin typeface="Calibri" pitchFamily="34" charset="0"/>
                <a:ea typeface="Calibri" pitchFamily="34" charset="-122"/>
                <a:cs typeface="Calibri" pitchFamily="34" charset="-120"/>
              </a:rPr>
              <a:t>Predicted values sit in flat bands that line up with each insurance type's average claim: Life ₹54K, Property ₹25K, Health ₹11K.</a:t>
            </a:r>
            <a:endParaRPr lang="en-US" sz="1300" dirty="0"/>
          </a:p>
        </p:txBody>
      </p:sp>
      <p:sp>
        <p:nvSpPr>
          <p:cNvPr id="12" name="Shape 8"/>
          <p:cNvSpPr/>
          <p:nvPr/>
        </p:nvSpPr>
        <p:spPr>
          <a:xfrm>
            <a:off x="6812280" y="3017520"/>
            <a:ext cx="4873752" cy="1463040"/>
          </a:xfrm>
          <a:prstGeom prst="roundRect">
            <a:avLst>
              <a:gd name="adj" fmla="val 50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3" name="Text 9"/>
          <p:cNvSpPr txBox="1"/>
          <p:nvPr/>
        </p:nvSpPr>
        <p:spPr>
          <a:xfrm>
            <a:off x="7068312" y="3163824"/>
            <a:ext cx="4361688" cy="274320"/>
          </a:xfrm>
          <a:prstGeom prst="rect">
            <a:avLst/>
          </a:prstGeom>
          <a:noFill/>
          <a:ln/>
        </p:spPr>
        <p:txBody>
          <a:bodyPr wrap="square" lIns="0" tIns="0" rIns="0" bIns="0" rtlCol="0" anchor="ctr"/>
          <a:lstStyle/>
          <a:p>
            <a:pPr marL="0" indent="0">
              <a:buNone/>
            </a:pPr>
            <a:r>
              <a:rPr lang="en-US" sz="1400" b="1" dirty="0">
                <a:solidFill>
                  <a:srgbClr val="008C95"/>
                </a:solidFill>
                <a:latin typeface="Cambria" pitchFamily="34" charset="0"/>
                <a:ea typeface="Cambria" pitchFamily="34" charset="-122"/>
                <a:cs typeface="Cambria" pitchFamily="34" charset="-120"/>
              </a:rPr>
              <a:t>Typical error is large</a:t>
            </a:r>
            <a:endParaRPr lang="en-US" sz="1400" dirty="0"/>
          </a:p>
        </p:txBody>
      </p:sp>
      <p:sp>
        <p:nvSpPr>
          <p:cNvPr id="14" name="Text 10"/>
          <p:cNvSpPr txBox="1"/>
          <p:nvPr/>
        </p:nvSpPr>
        <p:spPr>
          <a:xfrm>
            <a:off x="7068312" y="3520440"/>
            <a:ext cx="4361688" cy="868680"/>
          </a:xfrm>
          <a:prstGeom prst="rect">
            <a:avLst/>
          </a:prstGeom>
          <a:noFill/>
          <a:ln/>
        </p:spPr>
        <p:txBody>
          <a:bodyPr wrap="square" lIns="0" tIns="0" rIns="0" bIns="0" rtlCol="0" anchor="t"/>
          <a:lstStyle/>
          <a:p>
            <a:pPr marL="0" indent="0">
              <a:buNone/>
            </a:pPr>
            <a:r>
              <a:rPr lang="en-US" sz="1300" dirty="0">
                <a:solidFill>
                  <a:srgbClr val="2B3440"/>
                </a:solidFill>
                <a:latin typeface="Calibri" pitchFamily="34" charset="0"/>
                <a:ea typeface="Calibri" pitchFamily="34" charset="-122"/>
                <a:cs typeface="Calibri" pitchFamily="34" charset="-120"/>
              </a:rPr>
              <a:t>MAE is ₹6,935 — about the size of the median claim (₹7,000). A ₹75,000 claim, for example, was predicted at ₹55,131.</a:t>
            </a:r>
            <a:endParaRPr lang="en-US" sz="1300" dirty="0"/>
          </a:p>
        </p:txBody>
      </p:sp>
      <p:sp>
        <p:nvSpPr>
          <p:cNvPr id="15" name="Shape 11"/>
          <p:cNvSpPr/>
          <p:nvPr/>
        </p:nvSpPr>
        <p:spPr>
          <a:xfrm>
            <a:off x="6812280" y="4709160"/>
            <a:ext cx="4873752" cy="1463040"/>
          </a:xfrm>
          <a:prstGeom prst="roundRect">
            <a:avLst>
              <a:gd name="adj" fmla="val 50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6" name="Text 12"/>
          <p:cNvSpPr txBox="1"/>
          <p:nvPr/>
        </p:nvSpPr>
        <p:spPr>
          <a:xfrm>
            <a:off x="7068312" y="4855464"/>
            <a:ext cx="4361688" cy="274320"/>
          </a:xfrm>
          <a:prstGeom prst="rect">
            <a:avLst/>
          </a:prstGeom>
          <a:noFill/>
          <a:ln/>
        </p:spPr>
        <p:txBody>
          <a:bodyPr wrap="square" lIns="0" tIns="0" rIns="0" bIns="0" rtlCol="0" anchor="ctr"/>
          <a:lstStyle/>
          <a:p>
            <a:pPr marL="0" indent="0">
              <a:buNone/>
            </a:pPr>
            <a:r>
              <a:rPr lang="en-US" sz="1400" b="1" dirty="0">
                <a:solidFill>
                  <a:srgbClr val="008C95"/>
                </a:solidFill>
                <a:latin typeface="Cambria" pitchFamily="34" charset="0"/>
                <a:ea typeface="Cambria" pitchFamily="34" charset="-122"/>
                <a:cs typeface="Cambria" pitchFamily="34" charset="-120"/>
              </a:rPr>
              <a:t>Best use</a:t>
            </a:r>
            <a:endParaRPr lang="en-US" sz="1400" dirty="0"/>
          </a:p>
        </p:txBody>
      </p:sp>
      <p:sp>
        <p:nvSpPr>
          <p:cNvPr id="17" name="Text 13"/>
          <p:cNvSpPr txBox="1"/>
          <p:nvPr/>
        </p:nvSpPr>
        <p:spPr>
          <a:xfrm>
            <a:off x="7068312" y="5212080"/>
            <a:ext cx="4361688" cy="868680"/>
          </a:xfrm>
          <a:prstGeom prst="rect">
            <a:avLst/>
          </a:prstGeom>
          <a:noFill/>
          <a:ln/>
        </p:spPr>
        <p:txBody>
          <a:bodyPr wrap="square" lIns="0" tIns="0" rIns="0" bIns="0" rtlCol="0" anchor="t"/>
          <a:lstStyle/>
          <a:p>
            <a:pPr marL="0" indent="0">
              <a:buNone/>
            </a:pPr>
            <a:r>
              <a:rPr lang="en-US" sz="1300" dirty="0">
                <a:solidFill>
                  <a:srgbClr val="2B3440"/>
                </a:solidFill>
                <a:latin typeface="Calibri" pitchFamily="34" charset="0"/>
                <a:ea typeface="Calibri" pitchFamily="34" charset="-122"/>
                <a:cs typeface="Calibri" pitchFamily="34" charset="-120"/>
              </a:rPr>
              <a:t>Estimating exposure by product and segment for planning — not settling individual claims.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2600" b="1" dirty="0">
                <a:solidFill>
                  <a:srgbClr val="17365D"/>
                </a:solidFill>
                <a:latin typeface="Cambria" pitchFamily="34" charset="0"/>
                <a:ea typeface="Cambria" pitchFamily="34" charset="-122"/>
                <a:cs typeface="Cambria" pitchFamily="34" charset="-120"/>
              </a:rPr>
              <a:t>Power BI Dashboard 01 — Insurance Claims Overview</a:t>
            </a:r>
            <a:endParaRPr lang="en-US" sz="26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24</a:t>
            </a:r>
            <a:endParaRPr lang="en-US" sz="1000" dirty="0"/>
          </a:p>
        </p:txBody>
      </p:sp>
      <p:pic>
        <p:nvPicPr>
          <p:cNvPr id="4" name="Image 0" descr="img/dash1.png"/>
          <p:cNvPicPr>
            <a:picLocks noChangeAspect="1"/>
          </p:cNvPicPr>
          <p:nvPr/>
        </p:nvPicPr>
        <p:blipFill>
          <a:blip r:embed="rId3"/>
          <a:stretch>
            <a:fillRect/>
          </a:stretch>
        </p:blipFill>
        <p:spPr>
          <a:xfrm>
            <a:off x="502920" y="1115568"/>
            <a:ext cx="7863840" cy="4425696"/>
          </a:xfrm>
          <a:prstGeom prst="rect">
            <a:avLst/>
          </a:prstGeom>
        </p:spPr>
      </p:pic>
      <p:sp>
        <p:nvSpPr>
          <p:cNvPr id="5" name="Shape 2"/>
          <p:cNvSpPr/>
          <p:nvPr/>
        </p:nvSpPr>
        <p:spPr>
          <a:xfrm>
            <a:off x="502920" y="1115568"/>
            <a:ext cx="7863840" cy="4425696"/>
          </a:xfrm>
          <a:prstGeom prst="rect">
            <a:avLst/>
          </a:prstGeom>
          <a:ln w="12700">
            <a:solidFill>
              <a:srgbClr val="D6DEE8"/>
            </a:solidFill>
            <a:prstDash val="solid"/>
          </a:ln>
        </p:spPr>
      </p:sp>
      <p:sp>
        <p:nvSpPr>
          <p:cNvPr id="6" name="Shape 3"/>
          <p:cNvSpPr/>
          <p:nvPr/>
        </p:nvSpPr>
        <p:spPr>
          <a:xfrm>
            <a:off x="8595360" y="1115568"/>
            <a:ext cx="3136392" cy="1572768"/>
          </a:xfrm>
          <a:prstGeom prst="roundRect">
            <a:avLst>
              <a:gd name="adj" fmla="val 465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8814816" y="1261872"/>
            <a:ext cx="2743200" cy="256032"/>
          </a:xfrm>
          <a:prstGeom prst="rect">
            <a:avLst/>
          </a:prstGeom>
          <a:noFill/>
          <a:ln/>
        </p:spPr>
        <p:txBody>
          <a:bodyPr wrap="square" lIns="0" tIns="0" rIns="0" bIns="0" rtlCol="0" anchor="ctr"/>
          <a:lstStyle/>
          <a:p>
            <a:pPr marL="0" indent="0">
              <a:buNone/>
            </a:pPr>
            <a:r>
              <a:rPr lang="en-US" sz="1300" b="1" dirty="0">
                <a:solidFill>
                  <a:srgbClr val="008C95"/>
                </a:solidFill>
                <a:latin typeface="Cambria" pitchFamily="34" charset="0"/>
                <a:ea typeface="Cambria" pitchFamily="34" charset="-122"/>
                <a:cs typeface="Cambria" pitchFamily="34" charset="-120"/>
              </a:rPr>
              <a:t>Purpose</a:t>
            </a:r>
            <a:endParaRPr lang="en-US" sz="1300" dirty="0"/>
          </a:p>
        </p:txBody>
      </p:sp>
      <p:sp>
        <p:nvSpPr>
          <p:cNvPr id="8" name="Text 5"/>
          <p:cNvSpPr txBox="1"/>
          <p:nvPr/>
        </p:nvSpPr>
        <p:spPr>
          <a:xfrm>
            <a:off x="8814816" y="1536192"/>
            <a:ext cx="2743200" cy="1051560"/>
          </a:xfrm>
          <a:prstGeom prst="rect">
            <a:avLst/>
          </a:prstGeom>
          <a:noFill/>
          <a:ln/>
        </p:spPr>
        <p:txBody>
          <a:bodyPr wrap="square" lIns="0" tIns="0" rIns="0" bIns="0" rtlCol="0" anchor="ctr"/>
          <a:lstStyle/>
          <a:p>
            <a:pPr marL="0" indent="0">
              <a:lnSpc>
                <a:spcPts val="1400"/>
              </a:lnSpc>
              <a:buNone/>
            </a:pPr>
            <a:r>
              <a:rPr lang="en-US" sz="1050" dirty="0">
                <a:solidFill>
                  <a:srgbClr val="2B3440"/>
                </a:solidFill>
                <a:latin typeface="Calibri" pitchFamily="34" charset="0"/>
                <a:ea typeface="Calibri" pitchFamily="34" charset="-122"/>
                <a:cs typeface="Calibri" pitchFamily="34" charset="-120"/>
              </a:rPr>
              <a:t>Provide a high-level view of claim volume, financial exposure, insurance type distribution and monthly claim trends.</a:t>
            </a:r>
            <a:endParaRPr lang="en-US" sz="1050" dirty="0"/>
          </a:p>
        </p:txBody>
      </p:sp>
      <p:sp>
        <p:nvSpPr>
          <p:cNvPr id="9" name="Shape 6"/>
          <p:cNvSpPr/>
          <p:nvPr/>
        </p:nvSpPr>
        <p:spPr>
          <a:xfrm>
            <a:off x="8595360" y="2816352"/>
            <a:ext cx="3136392" cy="2724912"/>
          </a:xfrm>
          <a:prstGeom prst="roundRect">
            <a:avLst>
              <a:gd name="adj" fmla="val 268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7"/>
          <p:cNvSpPr txBox="1"/>
          <p:nvPr/>
        </p:nvSpPr>
        <p:spPr>
          <a:xfrm>
            <a:off x="8814816" y="2962656"/>
            <a:ext cx="2743200" cy="256032"/>
          </a:xfrm>
          <a:prstGeom prst="rect">
            <a:avLst/>
          </a:prstGeom>
          <a:noFill/>
          <a:ln/>
        </p:spPr>
        <p:txBody>
          <a:bodyPr wrap="square" lIns="0" tIns="0" rIns="0" bIns="0" rtlCol="0" anchor="ctr"/>
          <a:lstStyle/>
          <a:p>
            <a:pPr marL="0" indent="0">
              <a:buNone/>
            </a:pPr>
            <a:r>
              <a:rPr lang="en-US" sz="1300" b="1" dirty="0">
                <a:solidFill>
                  <a:srgbClr val="17365D"/>
                </a:solidFill>
                <a:latin typeface="Cambria" pitchFamily="34" charset="0"/>
                <a:ea typeface="Cambria" pitchFamily="34" charset="-122"/>
                <a:cs typeface="Cambria" pitchFamily="34" charset="-120"/>
              </a:rPr>
              <a:t>Key Components</a:t>
            </a:r>
            <a:endParaRPr lang="en-US" sz="1300" dirty="0"/>
          </a:p>
        </p:txBody>
      </p:sp>
      <p:sp>
        <p:nvSpPr>
          <p:cNvPr id="11" name="Text 8"/>
          <p:cNvSpPr txBox="1"/>
          <p:nvPr/>
        </p:nvSpPr>
        <p:spPr>
          <a:xfrm>
            <a:off x="8833104" y="3246120"/>
            <a:ext cx="2697480" cy="2194560"/>
          </a:xfrm>
          <a:prstGeom prst="rect">
            <a:avLst/>
          </a:prstGeom>
          <a:noFill/>
          <a:ln/>
        </p:spPr>
        <p:txBody>
          <a:bodyPr wrap="square" lIns="0" tIns="0" rIns="0" bIns="0" rtlCol="0" anchor="ctr"/>
          <a:lstStyle/>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Total Claims</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Total Claim Amount</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Average Claim-to-Premium</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High-Value Claims</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Same-Day Claims</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Monthly Claim Amount Trend</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Claim Exposure by Insurance Type</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Claim Volume by Insurance Type</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Risk &amp; Insurance Type slicers</a:t>
            </a:r>
            <a:endParaRPr lang="en-US" sz="1000" dirty="0"/>
          </a:p>
        </p:txBody>
      </p:sp>
      <p:sp>
        <p:nvSpPr>
          <p:cNvPr id="12" name="Shape 9"/>
          <p:cNvSpPr/>
          <p:nvPr/>
        </p:nvSpPr>
        <p:spPr>
          <a:xfrm>
            <a:off x="502920" y="5669280"/>
            <a:ext cx="11228832" cy="658368"/>
          </a:xfrm>
          <a:prstGeom prst="roundRect">
            <a:avLst>
              <a:gd name="adj" fmla="val 9722"/>
            </a:avLst>
          </a:prstGeom>
          <a:solidFill>
            <a:srgbClr val="17365D"/>
          </a:solidFill>
          <a:ln w="12700">
            <a:solidFill>
              <a:srgbClr val="17365D"/>
            </a:solidFill>
            <a:prstDash val="solid"/>
          </a:ln>
        </p:spPr>
      </p:sp>
      <p:sp>
        <p:nvSpPr>
          <p:cNvPr id="13" name="Text 10"/>
          <p:cNvSpPr txBox="1"/>
          <p:nvPr/>
        </p:nvSpPr>
        <p:spPr>
          <a:xfrm>
            <a:off x="777240" y="5669280"/>
            <a:ext cx="10698480" cy="658368"/>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This page provides the overall business-level view of insurance claim activity and financial exposure.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2600" b="1" dirty="0">
                <a:solidFill>
                  <a:srgbClr val="17365D"/>
                </a:solidFill>
                <a:latin typeface="Cambria" pitchFamily="34" charset="0"/>
                <a:ea typeface="Cambria" pitchFamily="34" charset="-122"/>
                <a:cs typeface="Cambria" pitchFamily="34" charset="-120"/>
              </a:rPr>
              <a:t>Power BI Dashboard 02 — Risk &amp; Severity</a:t>
            </a:r>
            <a:endParaRPr lang="en-US" sz="26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25</a:t>
            </a:r>
            <a:endParaRPr lang="en-US" sz="1000" dirty="0"/>
          </a:p>
        </p:txBody>
      </p:sp>
      <p:pic>
        <p:nvPicPr>
          <p:cNvPr id="4" name="Image 0" descr="img/dash2.png"/>
          <p:cNvPicPr>
            <a:picLocks noChangeAspect="1"/>
          </p:cNvPicPr>
          <p:nvPr/>
        </p:nvPicPr>
        <p:blipFill>
          <a:blip r:embed="rId3"/>
          <a:stretch>
            <a:fillRect/>
          </a:stretch>
        </p:blipFill>
        <p:spPr>
          <a:xfrm>
            <a:off x="502920" y="1115568"/>
            <a:ext cx="7863840" cy="4425696"/>
          </a:xfrm>
          <a:prstGeom prst="rect">
            <a:avLst/>
          </a:prstGeom>
        </p:spPr>
      </p:pic>
      <p:sp>
        <p:nvSpPr>
          <p:cNvPr id="5" name="Shape 2"/>
          <p:cNvSpPr/>
          <p:nvPr/>
        </p:nvSpPr>
        <p:spPr>
          <a:xfrm>
            <a:off x="502920" y="1115568"/>
            <a:ext cx="7863840" cy="4425696"/>
          </a:xfrm>
          <a:prstGeom prst="rect">
            <a:avLst/>
          </a:prstGeom>
          <a:ln w="12700">
            <a:solidFill>
              <a:srgbClr val="D6DEE8"/>
            </a:solidFill>
            <a:prstDash val="solid"/>
          </a:ln>
        </p:spPr>
      </p:sp>
      <p:sp>
        <p:nvSpPr>
          <p:cNvPr id="6" name="Shape 3"/>
          <p:cNvSpPr/>
          <p:nvPr/>
        </p:nvSpPr>
        <p:spPr>
          <a:xfrm>
            <a:off x="8595360" y="1115568"/>
            <a:ext cx="3136392" cy="1572768"/>
          </a:xfrm>
          <a:prstGeom prst="roundRect">
            <a:avLst>
              <a:gd name="adj" fmla="val 465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8814816" y="1261872"/>
            <a:ext cx="2743200" cy="256032"/>
          </a:xfrm>
          <a:prstGeom prst="rect">
            <a:avLst/>
          </a:prstGeom>
          <a:noFill/>
          <a:ln/>
        </p:spPr>
        <p:txBody>
          <a:bodyPr wrap="square" lIns="0" tIns="0" rIns="0" bIns="0" rtlCol="0" anchor="ctr"/>
          <a:lstStyle/>
          <a:p>
            <a:pPr marL="0" indent="0">
              <a:buNone/>
            </a:pPr>
            <a:r>
              <a:rPr lang="en-US" sz="1300" b="1" dirty="0">
                <a:solidFill>
                  <a:srgbClr val="008C95"/>
                </a:solidFill>
                <a:latin typeface="Cambria" pitchFamily="34" charset="0"/>
                <a:ea typeface="Cambria" pitchFamily="34" charset="-122"/>
                <a:cs typeface="Cambria" pitchFamily="34" charset="-120"/>
              </a:rPr>
              <a:t>Purpose</a:t>
            </a:r>
            <a:endParaRPr lang="en-US" sz="1300" dirty="0"/>
          </a:p>
        </p:txBody>
      </p:sp>
      <p:sp>
        <p:nvSpPr>
          <p:cNvPr id="8" name="Text 5"/>
          <p:cNvSpPr txBox="1"/>
          <p:nvPr/>
        </p:nvSpPr>
        <p:spPr>
          <a:xfrm>
            <a:off x="8814816" y="1536192"/>
            <a:ext cx="2743200" cy="1051560"/>
          </a:xfrm>
          <a:prstGeom prst="rect">
            <a:avLst/>
          </a:prstGeom>
          <a:noFill/>
          <a:ln/>
        </p:spPr>
        <p:txBody>
          <a:bodyPr wrap="square" lIns="0" tIns="0" rIns="0" bIns="0" rtlCol="0" anchor="ctr"/>
          <a:lstStyle/>
          <a:p>
            <a:pPr marL="0" indent="0">
              <a:lnSpc>
                <a:spcPts val="1400"/>
              </a:lnSpc>
              <a:buNone/>
            </a:pPr>
            <a:r>
              <a:rPr lang="en-US" sz="1050" dirty="0">
                <a:solidFill>
                  <a:srgbClr val="2B3440"/>
                </a:solidFill>
                <a:latin typeface="Calibri" pitchFamily="34" charset="0"/>
                <a:ea typeface="Calibri" pitchFamily="34" charset="-122"/>
                <a:cs typeface="Calibri" pitchFamily="34" charset="-120"/>
              </a:rPr>
              <a:t>Understand the distribution of risk segments, incident severity, claim exposure and customer age groups.</a:t>
            </a:r>
            <a:endParaRPr lang="en-US" sz="1050" dirty="0"/>
          </a:p>
        </p:txBody>
      </p:sp>
      <p:sp>
        <p:nvSpPr>
          <p:cNvPr id="9" name="Shape 6"/>
          <p:cNvSpPr/>
          <p:nvPr/>
        </p:nvSpPr>
        <p:spPr>
          <a:xfrm>
            <a:off x="8595360" y="2816352"/>
            <a:ext cx="3136392" cy="2724912"/>
          </a:xfrm>
          <a:prstGeom prst="roundRect">
            <a:avLst>
              <a:gd name="adj" fmla="val 268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7"/>
          <p:cNvSpPr txBox="1"/>
          <p:nvPr/>
        </p:nvSpPr>
        <p:spPr>
          <a:xfrm>
            <a:off x="8814816" y="2962656"/>
            <a:ext cx="2743200" cy="256032"/>
          </a:xfrm>
          <a:prstGeom prst="rect">
            <a:avLst/>
          </a:prstGeom>
          <a:noFill/>
          <a:ln/>
        </p:spPr>
        <p:txBody>
          <a:bodyPr wrap="square" lIns="0" tIns="0" rIns="0" bIns="0" rtlCol="0" anchor="ctr"/>
          <a:lstStyle/>
          <a:p>
            <a:pPr marL="0" indent="0">
              <a:buNone/>
            </a:pPr>
            <a:r>
              <a:rPr lang="en-US" sz="1300" b="1" dirty="0">
                <a:solidFill>
                  <a:srgbClr val="17365D"/>
                </a:solidFill>
                <a:latin typeface="Cambria" pitchFamily="34" charset="0"/>
                <a:ea typeface="Cambria" pitchFamily="34" charset="-122"/>
                <a:cs typeface="Cambria" pitchFamily="34" charset="-120"/>
              </a:rPr>
              <a:t>Key Components</a:t>
            </a:r>
            <a:endParaRPr lang="en-US" sz="1300" dirty="0"/>
          </a:p>
        </p:txBody>
      </p:sp>
      <p:sp>
        <p:nvSpPr>
          <p:cNvPr id="11" name="Text 8"/>
          <p:cNvSpPr txBox="1"/>
          <p:nvPr/>
        </p:nvSpPr>
        <p:spPr>
          <a:xfrm>
            <a:off x="8833104" y="3246120"/>
            <a:ext cx="2697480" cy="2194560"/>
          </a:xfrm>
          <a:prstGeom prst="rect">
            <a:avLst/>
          </a:prstGeom>
          <a:noFill/>
          <a:ln/>
        </p:spPr>
        <p:txBody>
          <a:bodyPr wrap="square" lIns="0" tIns="0" rIns="0" bIns="0" rtlCol="0" anchor="ctr"/>
          <a:lstStyle/>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Claims by Risk Segment</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Claims by Incident Severity</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Claim Exposure by Risk Segment</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Claims by Age Group</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Risk × Incident Severity matrix</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Insurance Type slicer</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Risk Segment slicer</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Incident Severity slicer</a:t>
            </a:r>
            <a:endParaRPr lang="en-US" sz="1000" dirty="0"/>
          </a:p>
        </p:txBody>
      </p:sp>
      <p:sp>
        <p:nvSpPr>
          <p:cNvPr id="12" name="Shape 9"/>
          <p:cNvSpPr/>
          <p:nvPr/>
        </p:nvSpPr>
        <p:spPr>
          <a:xfrm>
            <a:off x="502920" y="5669280"/>
            <a:ext cx="11228832" cy="658368"/>
          </a:xfrm>
          <a:prstGeom prst="roundRect">
            <a:avLst>
              <a:gd name="adj" fmla="val 9722"/>
            </a:avLst>
          </a:prstGeom>
          <a:solidFill>
            <a:srgbClr val="17365D"/>
          </a:solidFill>
          <a:ln w="12700">
            <a:solidFill>
              <a:srgbClr val="17365D"/>
            </a:solidFill>
            <a:prstDash val="solid"/>
          </a:ln>
        </p:spPr>
      </p:sp>
      <p:sp>
        <p:nvSpPr>
          <p:cNvPr id="13" name="Text 10"/>
          <p:cNvSpPr txBox="1"/>
          <p:nvPr/>
        </p:nvSpPr>
        <p:spPr>
          <a:xfrm>
            <a:off x="777240" y="5669280"/>
            <a:ext cx="10698480" cy="658368"/>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Low and Medium risk segments account for most claims, while High risk represents 14.55% of total claims.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2600" b="1" dirty="0">
                <a:solidFill>
                  <a:srgbClr val="17365D"/>
                </a:solidFill>
                <a:latin typeface="Cambria" pitchFamily="34" charset="0"/>
                <a:ea typeface="Cambria" pitchFamily="34" charset="-122"/>
                <a:cs typeface="Cambria" pitchFamily="34" charset="-120"/>
              </a:rPr>
              <a:t>Power BI Dashboard 03 — Claims Operations &amp; Review</a:t>
            </a:r>
            <a:endParaRPr lang="en-US" sz="26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26</a:t>
            </a:r>
            <a:endParaRPr lang="en-US" sz="1000" dirty="0"/>
          </a:p>
        </p:txBody>
      </p:sp>
      <p:pic>
        <p:nvPicPr>
          <p:cNvPr id="4" name="Image 0" descr="img/dash3.png"/>
          <p:cNvPicPr>
            <a:picLocks noChangeAspect="1"/>
          </p:cNvPicPr>
          <p:nvPr/>
        </p:nvPicPr>
        <p:blipFill>
          <a:blip r:embed="rId3"/>
          <a:stretch>
            <a:fillRect/>
          </a:stretch>
        </p:blipFill>
        <p:spPr>
          <a:xfrm>
            <a:off x="502920" y="1115568"/>
            <a:ext cx="7863840" cy="4425696"/>
          </a:xfrm>
          <a:prstGeom prst="rect">
            <a:avLst/>
          </a:prstGeom>
        </p:spPr>
      </p:pic>
      <p:sp>
        <p:nvSpPr>
          <p:cNvPr id="5" name="Shape 2"/>
          <p:cNvSpPr/>
          <p:nvPr/>
        </p:nvSpPr>
        <p:spPr>
          <a:xfrm>
            <a:off x="502920" y="1115568"/>
            <a:ext cx="7863840" cy="4425696"/>
          </a:xfrm>
          <a:prstGeom prst="rect">
            <a:avLst/>
          </a:prstGeom>
          <a:ln w="12700">
            <a:solidFill>
              <a:srgbClr val="D6DEE8"/>
            </a:solidFill>
            <a:prstDash val="solid"/>
          </a:ln>
        </p:spPr>
      </p:sp>
      <p:sp>
        <p:nvSpPr>
          <p:cNvPr id="6" name="Shape 3"/>
          <p:cNvSpPr/>
          <p:nvPr/>
        </p:nvSpPr>
        <p:spPr>
          <a:xfrm>
            <a:off x="8595360" y="1115568"/>
            <a:ext cx="3136392" cy="1572768"/>
          </a:xfrm>
          <a:prstGeom prst="roundRect">
            <a:avLst>
              <a:gd name="adj" fmla="val 465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7" name="Text 4"/>
          <p:cNvSpPr txBox="1"/>
          <p:nvPr/>
        </p:nvSpPr>
        <p:spPr>
          <a:xfrm>
            <a:off x="8814816" y="1261872"/>
            <a:ext cx="2743200" cy="256032"/>
          </a:xfrm>
          <a:prstGeom prst="rect">
            <a:avLst/>
          </a:prstGeom>
          <a:noFill/>
          <a:ln/>
        </p:spPr>
        <p:txBody>
          <a:bodyPr wrap="square" lIns="0" tIns="0" rIns="0" bIns="0" rtlCol="0" anchor="ctr"/>
          <a:lstStyle/>
          <a:p>
            <a:pPr marL="0" indent="0">
              <a:buNone/>
            </a:pPr>
            <a:r>
              <a:rPr lang="en-US" sz="1300" b="1" dirty="0">
                <a:solidFill>
                  <a:srgbClr val="008C95"/>
                </a:solidFill>
                <a:latin typeface="Cambria" pitchFamily="34" charset="0"/>
                <a:ea typeface="Cambria" pitchFamily="34" charset="-122"/>
                <a:cs typeface="Cambria" pitchFamily="34" charset="-120"/>
              </a:rPr>
              <a:t>Purpose</a:t>
            </a:r>
            <a:endParaRPr lang="en-US" sz="1300" dirty="0"/>
          </a:p>
        </p:txBody>
      </p:sp>
      <p:sp>
        <p:nvSpPr>
          <p:cNvPr id="8" name="Text 5"/>
          <p:cNvSpPr txBox="1"/>
          <p:nvPr/>
        </p:nvSpPr>
        <p:spPr>
          <a:xfrm>
            <a:off x="8814816" y="1536192"/>
            <a:ext cx="2743200" cy="1051560"/>
          </a:xfrm>
          <a:prstGeom prst="rect">
            <a:avLst/>
          </a:prstGeom>
          <a:noFill/>
          <a:ln/>
        </p:spPr>
        <p:txBody>
          <a:bodyPr wrap="square" lIns="0" tIns="0" rIns="0" bIns="0" rtlCol="0" anchor="ctr"/>
          <a:lstStyle/>
          <a:p>
            <a:pPr marL="0" indent="0">
              <a:lnSpc>
                <a:spcPts val="1400"/>
              </a:lnSpc>
              <a:buNone/>
            </a:pPr>
            <a:r>
              <a:rPr lang="en-US" sz="1050" dirty="0">
                <a:solidFill>
                  <a:srgbClr val="2B3440"/>
                </a:solidFill>
                <a:latin typeface="Calibri" pitchFamily="34" charset="0"/>
                <a:ea typeface="Calibri" pitchFamily="34" charset="-122"/>
                <a:cs typeface="Calibri" pitchFamily="34" charset="-120"/>
              </a:rPr>
              <a:t>Analyze reporting behavior and operational claim exposure across agents and vendors.</a:t>
            </a:r>
            <a:endParaRPr lang="en-US" sz="1050" dirty="0"/>
          </a:p>
        </p:txBody>
      </p:sp>
      <p:sp>
        <p:nvSpPr>
          <p:cNvPr id="9" name="Shape 6"/>
          <p:cNvSpPr/>
          <p:nvPr/>
        </p:nvSpPr>
        <p:spPr>
          <a:xfrm>
            <a:off x="8595360" y="2816352"/>
            <a:ext cx="3136392" cy="2724912"/>
          </a:xfrm>
          <a:prstGeom prst="roundRect">
            <a:avLst>
              <a:gd name="adj" fmla="val 268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Text 7"/>
          <p:cNvSpPr txBox="1"/>
          <p:nvPr/>
        </p:nvSpPr>
        <p:spPr>
          <a:xfrm>
            <a:off x="8814816" y="2962656"/>
            <a:ext cx="2743200" cy="256032"/>
          </a:xfrm>
          <a:prstGeom prst="rect">
            <a:avLst/>
          </a:prstGeom>
          <a:noFill/>
          <a:ln/>
        </p:spPr>
        <p:txBody>
          <a:bodyPr wrap="square" lIns="0" tIns="0" rIns="0" bIns="0" rtlCol="0" anchor="ctr"/>
          <a:lstStyle/>
          <a:p>
            <a:pPr marL="0" indent="0">
              <a:buNone/>
            </a:pPr>
            <a:r>
              <a:rPr lang="en-US" sz="1300" b="1" dirty="0">
                <a:solidFill>
                  <a:srgbClr val="17365D"/>
                </a:solidFill>
                <a:latin typeface="Cambria" pitchFamily="34" charset="0"/>
                <a:ea typeface="Cambria" pitchFamily="34" charset="-122"/>
                <a:cs typeface="Cambria" pitchFamily="34" charset="-120"/>
              </a:rPr>
              <a:t>Key Components</a:t>
            </a:r>
            <a:endParaRPr lang="en-US" sz="1300" dirty="0"/>
          </a:p>
        </p:txBody>
      </p:sp>
      <p:sp>
        <p:nvSpPr>
          <p:cNvPr id="11" name="Text 8"/>
          <p:cNvSpPr txBox="1"/>
          <p:nvPr/>
        </p:nvSpPr>
        <p:spPr>
          <a:xfrm>
            <a:off x="8833104" y="3246120"/>
            <a:ext cx="2697480" cy="2194560"/>
          </a:xfrm>
          <a:prstGeom prst="rect">
            <a:avLst/>
          </a:prstGeom>
          <a:noFill/>
          <a:ln/>
        </p:spPr>
        <p:txBody>
          <a:bodyPr wrap="square" lIns="0" tIns="0" rIns="0" bIns="0" rtlCol="0" anchor="ctr"/>
          <a:lstStyle/>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Total Claims</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High-Value Claims</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Average Reporting Delay</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Same-Day Claims</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Same-Day vs Delayed Reporting</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Top Agents by Claim Exposure</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Claims by Risk Segmentation</a:t>
            </a:r>
            <a:endParaRPr lang="en-US" sz="1000" dirty="0"/>
          </a:p>
          <a:p>
            <a:pPr marL="342900" indent="-342900">
              <a:lnSpc>
                <a:spcPts val="1300"/>
              </a:lnSpc>
              <a:spcAft>
                <a:spcPts val="200"/>
              </a:spcAft>
              <a:buSzPct val="100000"/>
              <a:buChar char="•"/>
            </a:pPr>
            <a:r>
              <a:rPr lang="en-US" sz="1000" dirty="0">
                <a:solidFill>
                  <a:srgbClr val="2B3440"/>
                </a:solidFill>
                <a:latin typeface="Calibri" pitchFamily="34" charset="0"/>
                <a:ea typeface="Calibri" pitchFamily="34" charset="-122"/>
                <a:cs typeface="Calibri" pitchFamily="34" charset="-120"/>
              </a:rPr>
              <a:t>Top Vendors by Claim Exposure</a:t>
            </a:r>
            <a:endParaRPr lang="en-US" sz="1000" dirty="0"/>
          </a:p>
        </p:txBody>
      </p:sp>
      <p:sp>
        <p:nvSpPr>
          <p:cNvPr id="12" name="Shape 9"/>
          <p:cNvSpPr/>
          <p:nvPr/>
        </p:nvSpPr>
        <p:spPr>
          <a:xfrm>
            <a:off x="502920" y="5669280"/>
            <a:ext cx="11228832" cy="658368"/>
          </a:xfrm>
          <a:prstGeom prst="roundRect">
            <a:avLst>
              <a:gd name="adj" fmla="val 9722"/>
            </a:avLst>
          </a:prstGeom>
          <a:solidFill>
            <a:srgbClr val="17365D"/>
          </a:solidFill>
          <a:ln w="12700">
            <a:solidFill>
              <a:srgbClr val="17365D"/>
            </a:solidFill>
            <a:prstDash val="solid"/>
          </a:ln>
        </p:spPr>
      </p:sp>
      <p:sp>
        <p:nvSpPr>
          <p:cNvPr id="13" name="Text 10"/>
          <p:cNvSpPr txBox="1"/>
          <p:nvPr/>
        </p:nvSpPr>
        <p:spPr>
          <a:xfrm>
            <a:off x="777240" y="5669280"/>
            <a:ext cx="10698480" cy="658368"/>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84.35% of claims are reported after the loss date, with an average reporting delay of 3.21 days.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Streamlit Analytics Application</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27</a:t>
            </a:r>
            <a:endParaRPr lang="en-US" sz="1000" dirty="0"/>
          </a:p>
        </p:txBody>
      </p:sp>
      <p:sp>
        <p:nvSpPr>
          <p:cNvPr id="4" name="Shape 2"/>
          <p:cNvSpPr/>
          <p:nvPr/>
        </p:nvSpPr>
        <p:spPr>
          <a:xfrm>
            <a:off x="502920" y="1234440"/>
            <a:ext cx="6812280" cy="1143000"/>
          </a:xfrm>
          <a:prstGeom prst="roundRect">
            <a:avLst>
              <a:gd name="adj" fmla="val 64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Text 3"/>
          <p:cNvSpPr txBox="1"/>
          <p:nvPr/>
        </p:nvSpPr>
        <p:spPr>
          <a:xfrm>
            <a:off x="777240" y="1417320"/>
            <a:ext cx="6309360" cy="822960"/>
          </a:xfrm>
          <a:prstGeom prst="rect">
            <a:avLst/>
          </a:prstGeom>
          <a:noFill/>
          <a:ln/>
        </p:spPr>
        <p:txBody>
          <a:bodyPr wrap="square" lIns="0" tIns="0" rIns="0" bIns="0" rtlCol="0" anchor="ctr"/>
          <a:lstStyle/>
          <a:p>
            <a:pPr marL="0" indent="0">
              <a:lnSpc>
                <a:spcPts val="1800"/>
              </a:lnSpc>
              <a:buNone/>
            </a:pPr>
            <a:r>
              <a:rPr lang="en-US" sz="1300" dirty="0">
                <a:solidFill>
                  <a:srgbClr val="2B3440"/>
                </a:solidFill>
                <a:latin typeface="Calibri" pitchFamily="34" charset="0"/>
                <a:ea typeface="Calibri" pitchFamily="34" charset="-122"/>
                <a:cs typeface="Calibri" pitchFamily="34" charset="-120"/>
              </a:rPr>
              <a:t>The Streamlit application provides an interactive Python-based analytics interface connected directly to the Snowflake analytical view.</a:t>
            </a:r>
            <a:endParaRPr lang="en-US" sz="1300" dirty="0"/>
          </a:p>
        </p:txBody>
      </p:sp>
      <p:sp>
        <p:nvSpPr>
          <p:cNvPr id="6" name="Text 4"/>
          <p:cNvSpPr txBox="1"/>
          <p:nvPr/>
        </p:nvSpPr>
        <p:spPr>
          <a:xfrm>
            <a:off x="530352" y="2542032"/>
            <a:ext cx="6766560" cy="27432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Application Features</a:t>
            </a:r>
            <a:endParaRPr lang="en-US" sz="1500" dirty="0"/>
          </a:p>
        </p:txBody>
      </p:sp>
      <p:sp>
        <p:nvSpPr>
          <p:cNvPr id="7" name="Shape 5"/>
          <p:cNvSpPr/>
          <p:nvPr/>
        </p:nvSpPr>
        <p:spPr>
          <a:xfrm>
            <a:off x="502920" y="2926080"/>
            <a:ext cx="3246120" cy="502920"/>
          </a:xfrm>
          <a:prstGeom prst="roundRect">
            <a:avLst>
              <a:gd name="adj" fmla="val 10909"/>
            </a:avLst>
          </a:prstGeom>
          <a:solidFill>
            <a:srgbClr val="FFFFFF"/>
          </a:solidFill>
          <a:ln w="9525">
            <a:solidFill>
              <a:srgbClr val="D6DEE8"/>
            </a:solidFill>
            <a:prstDash val="solid"/>
          </a:ln>
        </p:spPr>
      </p:sp>
      <p:sp>
        <p:nvSpPr>
          <p:cNvPr id="8" name="Shape 6"/>
          <p:cNvSpPr/>
          <p:nvPr/>
        </p:nvSpPr>
        <p:spPr>
          <a:xfrm>
            <a:off x="704088" y="3108960"/>
            <a:ext cx="137160" cy="137160"/>
          </a:xfrm>
          <a:prstGeom prst="ellipse">
            <a:avLst/>
          </a:prstGeom>
          <a:solidFill>
            <a:srgbClr val="008C95"/>
          </a:solidFill>
          <a:ln w="12700">
            <a:solidFill>
              <a:srgbClr val="008C95"/>
            </a:solidFill>
            <a:prstDash val="solid"/>
          </a:ln>
        </p:spPr>
      </p:sp>
      <p:sp>
        <p:nvSpPr>
          <p:cNvPr id="9" name="Text 7"/>
          <p:cNvSpPr txBox="1"/>
          <p:nvPr/>
        </p:nvSpPr>
        <p:spPr>
          <a:xfrm>
            <a:off x="960120" y="2926080"/>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Snowflake data connection</a:t>
            </a:r>
            <a:endParaRPr lang="en-US" sz="1150" dirty="0"/>
          </a:p>
        </p:txBody>
      </p:sp>
      <p:sp>
        <p:nvSpPr>
          <p:cNvPr id="10" name="Shape 8"/>
          <p:cNvSpPr/>
          <p:nvPr/>
        </p:nvSpPr>
        <p:spPr>
          <a:xfrm>
            <a:off x="3959352" y="2926080"/>
            <a:ext cx="3246120" cy="502920"/>
          </a:xfrm>
          <a:prstGeom prst="roundRect">
            <a:avLst>
              <a:gd name="adj" fmla="val 10909"/>
            </a:avLst>
          </a:prstGeom>
          <a:solidFill>
            <a:srgbClr val="FFFFFF"/>
          </a:solidFill>
          <a:ln w="9525">
            <a:solidFill>
              <a:srgbClr val="D6DEE8"/>
            </a:solidFill>
            <a:prstDash val="solid"/>
          </a:ln>
        </p:spPr>
      </p:sp>
      <p:sp>
        <p:nvSpPr>
          <p:cNvPr id="11" name="Shape 9"/>
          <p:cNvSpPr/>
          <p:nvPr/>
        </p:nvSpPr>
        <p:spPr>
          <a:xfrm>
            <a:off x="4160520" y="3108960"/>
            <a:ext cx="137160" cy="137160"/>
          </a:xfrm>
          <a:prstGeom prst="ellipse">
            <a:avLst/>
          </a:prstGeom>
          <a:solidFill>
            <a:srgbClr val="008C95"/>
          </a:solidFill>
          <a:ln w="12700">
            <a:solidFill>
              <a:srgbClr val="008C95"/>
            </a:solidFill>
            <a:prstDash val="solid"/>
          </a:ln>
        </p:spPr>
      </p:sp>
      <p:sp>
        <p:nvSpPr>
          <p:cNvPr id="12" name="Text 10"/>
          <p:cNvSpPr txBox="1"/>
          <p:nvPr/>
        </p:nvSpPr>
        <p:spPr>
          <a:xfrm>
            <a:off x="4416552" y="2926080"/>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Secure credentials via Streamlit secrets</a:t>
            </a:r>
            <a:endParaRPr lang="en-US" sz="1150" dirty="0"/>
          </a:p>
        </p:txBody>
      </p:sp>
      <p:sp>
        <p:nvSpPr>
          <p:cNvPr id="13" name="Shape 11"/>
          <p:cNvSpPr/>
          <p:nvPr/>
        </p:nvSpPr>
        <p:spPr>
          <a:xfrm>
            <a:off x="502920" y="3547872"/>
            <a:ext cx="3246120" cy="502920"/>
          </a:xfrm>
          <a:prstGeom prst="roundRect">
            <a:avLst>
              <a:gd name="adj" fmla="val 10909"/>
            </a:avLst>
          </a:prstGeom>
          <a:solidFill>
            <a:srgbClr val="FFFFFF"/>
          </a:solidFill>
          <a:ln w="9525">
            <a:solidFill>
              <a:srgbClr val="D6DEE8"/>
            </a:solidFill>
            <a:prstDash val="solid"/>
          </a:ln>
        </p:spPr>
      </p:sp>
      <p:sp>
        <p:nvSpPr>
          <p:cNvPr id="14" name="Shape 12"/>
          <p:cNvSpPr/>
          <p:nvPr/>
        </p:nvSpPr>
        <p:spPr>
          <a:xfrm>
            <a:off x="704088" y="3730752"/>
            <a:ext cx="137160" cy="137160"/>
          </a:xfrm>
          <a:prstGeom prst="ellipse">
            <a:avLst/>
          </a:prstGeom>
          <a:solidFill>
            <a:srgbClr val="008C95"/>
          </a:solidFill>
          <a:ln w="12700">
            <a:solidFill>
              <a:srgbClr val="008C95"/>
            </a:solidFill>
            <a:prstDash val="solid"/>
          </a:ln>
        </p:spPr>
      </p:sp>
      <p:sp>
        <p:nvSpPr>
          <p:cNvPr id="15" name="Text 13"/>
          <p:cNvSpPr txBox="1"/>
          <p:nvPr/>
        </p:nvSpPr>
        <p:spPr>
          <a:xfrm>
            <a:off x="960120" y="3547872"/>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Cached data loading</a:t>
            </a:r>
            <a:endParaRPr lang="en-US" sz="1150" dirty="0"/>
          </a:p>
        </p:txBody>
      </p:sp>
      <p:sp>
        <p:nvSpPr>
          <p:cNvPr id="16" name="Shape 14"/>
          <p:cNvSpPr/>
          <p:nvPr/>
        </p:nvSpPr>
        <p:spPr>
          <a:xfrm>
            <a:off x="3959352" y="3547872"/>
            <a:ext cx="3246120" cy="502920"/>
          </a:xfrm>
          <a:prstGeom prst="roundRect">
            <a:avLst>
              <a:gd name="adj" fmla="val 10909"/>
            </a:avLst>
          </a:prstGeom>
          <a:solidFill>
            <a:srgbClr val="FFFFFF"/>
          </a:solidFill>
          <a:ln w="9525">
            <a:solidFill>
              <a:srgbClr val="D6DEE8"/>
            </a:solidFill>
            <a:prstDash val="solid"/>
          </a:ln>
        </p:spPr>
      </p:sp>
      <p:sp>
        <p:nvSpPr>
          <p:cNvPr id="17" name="Shape 15"/>
          <p:cNvSpPr/>
          <p:nvPr/>
        </p:nvSpPr>
        <p:spPr>
          <a:xfrm>
            <a:off x="4160520" y="3730752"/>
            <a:ext cx="137160" cy="137160"/>
          </a:xfrm>
          <a:prstGeom prst="ellipse">
            <a:avLst/>
          </a:prstGeom>
          <a:solidFill>
            <a:srgbClr val="008C95"/>
          </a:solidFill>
          <a:ln w="12700">
            <a:solidFill>
              <a:srgbClr val="008C95"/>
            </a:solidFill>
            <a:prstDash val="solid"/>
          </a:ln>
        </p:spPr>
      </p:sp>
      <p:sp>
        <p:nvSpPr>
          <p:cNvPr id="18" name="Text 16"/>
          <p:cNvSpPr txBox="1"/>
          <p:nvPr/>
        </p:nvSpPr>
        <p:spPr>
          <a:xfrm>
            <a:off x="4416552" y="3547872"/>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Interactive filters</a:t>
            </a:r>
            <a:endParaRPr lang="en-US" sz="1150" dirty="0"/>
          </a:p>
        </p:txBody>
      </p:sp>
      <p:sp>
        <p:nvSpPr>
          <p:cNvPr id="19" name="Shape 17"/>
          <p:cNvSpPr/>
          <p:nvPr/>
        </p:nvSpPr>
        <p:spPr>
          <a:xfrm>
            <a:off x="502920" y="4169664"/>
            <a:ext cx="3246120" cy="502920"/>
          </a:xfrm>
          <a:prstGeom prst="roundRect">
            <a:avLst>
              <a:gd name="adj" fmla="val 10909"/>
            </a:avLst>
          </a:prstGeom>
          <a:solidFill>
            <a:srgbClr val="FFFFFF"/>
          </a:solidFill>
          <a:ln w="9525">
            <a:solidFill>
              <a:srgbClr val="D6DEE8"/>
            </a:solidFill>
            <a:prstDash val="solid"/>
          </a:ln>
        </p:spPr>
      </p:sp>
      <p:sp>
        <p:nvSpPr>
          <p:cNvPr id="20" name="Shape 18"/>
          <p:cNvSpPr/>
          <p:nvPr/>
        </p:nvSpPr>
        <p:spPr>
          <a:xfrm>
            <a:off x="704088" y="4352544"/>
            <a:ext cx="137160" cy="137160"/>
          </a:xfrm>
          <a:prstGeom prst="ellipse">
            <a:avLst/>
          </a:prstGeom>
          <a:solidFill>
            <a:srgbClr val="008C95"/>
          </a:solidFill>
          <a:ln w="12700">
            <a:solidFill>
              <a:srgbClr val="008C95"/>
            </a:solidFill>
            <a:prstDash val="solid"/>
          </a:ln>
        </p:spPr>
      </p:sp>
      <p:sp>
        <p:nvSpPr>
          <p:cNvPr id="21" name="Text 19"/>
          <p:cNvSpPr txBox="1"/>
          <p:nvPr/>
        </p:nvSpPr>
        <p:spPr>
          <a:xfrm>
            <a:off x="960120" y="4169664"/>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Dynamic KPIs</a:t>
            </a:r>
            <a:endParaRPr lang="en-US" sz="1150" dirty="0"/>
          </a:p>
        </p:txBody>
      </p:sp>
      <p:sp>
        <p:nvSpPr>
          <p:cNvPr id="22" name="Shape 20"/>
          <p:cNvSpPr/>
          <p:nvPr/>
        </p:nvSpPr>
        <p:spPr>
          <a:xfrm>
            <a:off x="3959352" y="4169664"/>
            <a:ext cx="3246120" cy="502920"/>
          </a:xfrm>
          <a:prstGeom prst="roundRect">
            <a:avLst>
              <a:gd name="adj" fmla="val 10909"/>
            </a:avLst>
          </a:prstGeom>
          <a:solidFill>
            <a:srgbClr val="FFFFFF"/>
          </a:solidFill>
          <a:ln w="9525">
            <a:solidFill>
              <a:srgbClr val="D6DEE8"/>
            </a:solidFill>
            <a:prstDash val="solid"/>
          </a:ln>
        </p:spPr>
      </p:sp>
      <p:sp>
        <p:nvSpPr>
          <p:cNvPr id="23" name="Shape 21"/>
          <p:cNvSpPr/>
          <p:nvPr/>
        </p:nvSpPr>
        <p:spPr>
          <a:xfrm>
            <a:off x="4160520" y="4352544"/>
            <a:ext cx="137160" cy="137160"/>
          </a:xfrm>
          <a:prstGeom prst="ellipse">
            <a:avLst/>
          </a:prstGeom>
          <a:solidFill>
            <a:srgbClr val="008C95"/>
          </a:solidFill>
          <a:ln w="12700">
            <a:solidFill>
              <a:srgbClr val="008C95"/>
            </a:solidFill>
            <a:prstDash val="solid"/>
          </a:ln>
        </p:spPr>
      </p:sp>
      <p:sp>
        <p:nvSpPr>
          <p:cNvPr id="24" name="Text 22"/>
          <p:cNvSpPr txBox="1"/>
          <p:nvPr/>
        </p:nvSpPr>
        <p:spPr>
          <a:xfrm>
            <a:off x="4416552" y="4169664"/>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Descriptive analysis</a:t>
            </a:r>
            <a:endParaRPr lang="en-US" sz="1150" dirty="0"/>
          </a:p>
        </p:txBody>
      </p:sp>
      <p:sp>
        <p:nvSpPr>
          <p:cNvPr id="25" name="Shape 23"/>
          <p:cNvSpPr/>
          <p:nvPr/>
        </p:nvSpPr>
        <p:spPr>
          <a:xfrm>
            <a:off x="502920" y="4791456"/>
            <a:ext cx="3246120" cy="502920"/>
          </a:xfrm>
          <a:prstGeom prst="roundRect">
            <a:avLst>
              <a:gd name="adj" fmla="val 10909"/>
            </a:avLst>
          </a:prstGeom>
          <a:solidFill>
            <a:srgbClr val="FFFFFF"/>
          </a:solidFill>
          <a:ln w="9525">
            <a:solidFill>
              <a:srgbClr val="D6DEE8"/>
            </a:solidFill>
            <a:prstDash val="solid"/>
          </a:ln>
        </p:spPr>
      </p:sp>
      <p:sp>
        <p:nvSpPr>
          <p:cNvPr id="26" name="Shape 24"/>
          <p:cNvSpPr/>
          <p:nvPr/>
        </p:nvSpPr>
        <p:spPr>
          <a:xfrm>
            <a:off x="704088" y="4974336"/>
            <a:ext cx="137160" cy="137160"/>
          </a:xfrm>
          <a:prstGeom prst="ellipse">
            <a:avLst/>
          </a:prstGeom>
          <a:solidFill>
            <a:srgbClr val="008C95"/>
          </a:solidFill>
          <a:ln w="12700">
            <a:solidFill>
              <a:srgbClr val="008C95"/>
            </a:solidFill>
            <a:prstDash val="solid"/>
          </a:ln>
        </p:spPr>
      </p:sp>
      <p:sp>
        <p:nvSpPr>
          <p:cNvPr id="27" name="Text 25"/>
          <p:cNvSpPr txBox="1"/>
          <p:nvPr/>
        </p:nvSpPr>
        <p:spPr>
          <a:xfrm>
            <a:off x="960120" y="4791456"/>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Diagnostic analysis</a:t>
            </a:r>
            <a:endParaRPr lang="en-US" sz="1150" dirty="0"/>
          </a:p>
        </p:txBody>
      </p:sp>
      <p:sp>
        <p:nvSpPr>
          <p:cNvPr id="28" name="Shape 26"/>
          <p:cNvSpPr/>
          <p:nvPr/>
        </p:nvSpPr>
        <p:spPr>
          <a:xfrm>
            <a:off x="3959352" y="4791456"/>
            <a:ext cx="3246120" cy="502920"/>
          </a:xfrm>
          <a:prstGeom prst="roundRect">
            <a:avLst>
              <a:gd name="adj" fmla="val 10909"/>
            </a:avLst>
          </a:prstGeom>
          <a:solidFill>
            <a:srgbClr val="FFFFFF"/>
          </a:solidFill>
          <a:ln w="9525">
            <a:solidFill>
              <a:srgbClr val="D6DEE8"/>
            </a:solidFill>
            <a:prstDash val="solid"/>
          </a:ln>
        </p:spPr>
      </p:sp>
      <p:sp>
        <p:nvSpPr>
          <p:cNvPr id="29" name="Shape 27"/>
          <p:cNvSpPr/>
          <p:nvPr/>
        </p:nvSpPr>
        <p:spPr>
          <a:xfrm>
            <a:off x="4160520" y="4974336"/>
            <a:ext cx="137160" cy="137160"/>
          </a:xfrm>
          <a:prstGeom prst="ellipse">
            <a:avLst/>
          </a:prstGeom>
          <a:solidFill>
            <a:srgbClr val="008C95"/>
          </a:solidFill>
          <a:ln w="12700">
            <a:solidFill>
              <a:srgbClr val="008C95"/>
            </a:solidFill>
            <a:prstDash val="solid"/>
          </a:ln>
        </p:spPr>
      </p:sp>
      <p:sp>
        <p:nvSpPr>
          <p:cNvPr id="30" name="Text 28"/>
          <p:cNvSpPr txBox="1"/>
          <p:nvPr/>
        </p:nvSpPr>
        <p:spPr>
          <a:xfrm>
            <a:off x="4416552" y="4791456"/>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Predictive analysis</a:t>
            </a:r>
            <a:endParaRPr lang="en-US" sz="1150" dirty="0"/>
          </a:p>
        </p:txBody>
      </p:sp>
      <p:sp>
        <p:nvSpPr>
          <p:cNvPr id="31" name="Shape 29"/>
          <p:cNvSpPr/>
          <p:nvPr/>
        </p:nvSpPr>
        <p:spPr>
          <a:xfrm>
            <a:off x="502920" y="5413248"/>
            <a:ext cx="3246120" cy="502920"/>
          </a:xfrm>
          <a:prstGeom prst="roundRect">
            <a:avLst>
              <a:gd name="adj" fmla="val 10909"/>
            </a:avLst>
          </a:prstGeom>
          <a:solidFill>
            <a:srgbClr val="FFFFFF"/>
          </a:solidFill>
          <a:ln w="9525">
            <a:solidFill>
              <a:srgbClr val="D6DEE8"/>
            </a:solidFill>
            <a:prstDash val="solid"/>
          </a:ln>
        </p:spPr>
      </p:sp>
      <p:sp>
        <p:nvSpPr>
          <p:cNvPr id="32" name="Shape 30"/>
          <p:cNvSpPr/>
          <p:nvPr/>
        </p:nvSpPr>
        <p:spPr>
          <a:xfrm>
            <a:off x="704088" y="5596128"/>
            <a:ext cx="137160" cy="137160"/>
          </a:xfrm>
          <a:prstGeom prst="ellipse">
            <a:avLst/>
          </a:prstGeom>
          <a:solidFill>
            <a:srgbClr val="008C95"/>
          </a:solidFill>
          <a:ln w="12700">
            <a:solidFill>
              <a:srgbClr val="008C95"/>
            </a:solidFill>
            <a:prstDash val="solid"/>
          </a:ln>
        </p:spPr>
      </p:sp>
      <p:sp>
        <p:nvSpPr>
          <p:cNvPr id="33" name="Text 31"/>
          <p:cNvSpPr txBox="1"/>
          <p:nvPr/>
        </p:nvSpPr>
        <p:spPr>
          <a:xfrm>
            <a:off x="960120" y="5413248"/>
            <a:ext cx="2697480" cy="502920"/>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ML prediction interface</a:t>
            </a:r>
            <a:endParaRPr lang="en-US" sz="1150" dirty="0"/>
          </a:p>
        </p:txBody>
      </p:sp>
      <p:sp>
        <p:nvSpPr>
          <p:cNvPr id="34" name="Shape 32"/>
          <p:cNvSpPr/>
          <p:nvPr/>
        </p:nvSpPr>
        <p:spPr>
          <a:xfrm>
            <a:off x="7680960" y="1234440"/>
            <a:ext cx="4050792" cy="4892040"/>
          </a:xfrm>
          <a:prstGeom prst="roundRect">
            <a:avLst>
              <a:gd name="adj" fmla="val 1806"/>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5" name="Text 33"/>
          <p:cNvSpPr txBox="1"/>
          <p:nvPr/>
        </p:nvSpPr>
        <p:spPr>
          <a:xfrm>
            <a:off x="7936992" y="1417320"/>
            <a:ext cx="3566160" cy="27432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Application Navigation</a:t>
            </a:r>
            <a:endParaRPr lang="en-US" sz="1500" dirty="0"/>
          </a:p>
        </p:txBody>
      </p:sp>
      <p:sp>
        <p:nvSpPr>
          <p:cNvPr id="36" name="Shape 34"/>
          <p:cNvSpPr/>
          <p:nvPr/>
        </p:nvSpPr>
        <p:spPr>
          <a:xfrm>
            <a:off x="7936992" y="1810512"/>
            <a:ext cx="3566160" cy="512064"/>
          </a:xfrm>
          <a:prstGeom prst="roundRect">
            <a:avLst>
              <a:gd name="adj" fmla="val 10714"/>
            </a:avLst>
          </a:prstGeom>
          <a:solidFill>
            <a:srgbClr val="2F75B5"/>
          </a:solidFill>
          <a:ln w="12700">
            <a:solidFill>
              <a:srgbClr val="2F75B5"/>
            </a:solidFill>
            <a:prstDash val="solid"/>
          </a:ln>
        </p:spPr>
      </p:sp>
      <p:sp>
        <p:nvSpPr>
          <p:cNvPr id="37" name="Text 35"/>
          <p:cNvSpPr txBox="1"/>
          <p:nvPr/>
        </p:nvSpPr>
        <p:spPr>
          <a:xfrm>
            <a:off x="7936992" y="1810512"/>
            <a:ext cx="3566160" cy="512064"/>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Overview</a:t>
            </a:r>
            <a:endParaRPr lang="en-US" sz="1250" dirty="0"/>
          </a:p>
        </p:txBody>
      </p:sp>
      <p:sp>
        <p:nvSpPr>
          <p:cNvPr id="38" name="Shape 36"/>
          <p:cNvSpPr/>
          <p:nvPr/>
        </p:nvSpPr>
        <p:spPr>
          <a:xfrm>
            <a:off x="9720072" y="2340864"/>
            <a:ext cx="0" cy="201168"/>
          </a:xfrm>
          <a:prstGeom prst="line">
            <a:avLst/>
          </a:prstGeom>
          <a:noFill/>
          <a:ln w="22225">
            <a:solidFill>
              <a:srgbClr val="2F75B5"/>
            </a:solidFill>
            <a:prstDash val="solid"/>
            <a:tailEnd type="triangle"/>
          </a:ln>
        </p:spPr>
      </p:sp>
      <p:sp>
        <p:nvSpPr>
          <p:cNvPr id="39" name="Shape 37"/>
          <p:cNvSpPr/>
          <p:nvPr/>
        </p:nvSpPr>
        <p:spPr>
          <a:xfrm>
            <a:off x="7936992" y="2615184"/>
            <a:ext cx="3566160" cy="512064"/>
          </a:xfrm>
          <a:prstGeom prst="roundRect">
            <a:avLst>
              <a:gd name="adj" fmla="val 10714"/>
            </a:avLst>
          </a:prstGeom>
          <a:solidFill>
            <a:srgbClr val="2F75B5"/>
          </a:solidFill>
          <a:ln w="12700">
            <a:solidFill>
              <a:srgbClr val="2F75B5"/>
            </a:solidFill>
            <a:prstDash val="solid"/>
          </a:ln>
        </p:spPr>
      </p:sp>
      <p:sp>
        <p:nvSpPr>
          <p:cNvPr id="40" name="Text 38"/>
          <p:cNvSpPr txBox="1"/>
          <p:nvPr/>
        </p:nvSpPr>
        <p:spPr>
          <a:xfrm>
            <a:off x="7936992" y="2615184"/>
            <a:ext cx="3566160" cy="512064"/>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Descriptive Analysis</a:t>
            </a:r>
            <a:endParaRPr lang="en-US" sz="1250" dirty="0"/>
          </a:p>
        </p:txBody>
      </p:sp>
      <p:sp>
        <p:nvSpPr>
          <p:cNvPr id="41" name="Shape 39"/>
          <p:cNvSpPr/>
          <p:nvPr/>
        </p:nvSpPr>
        <p:spPr>
          <a:xfrm>
            <a:off x="9720072" y="3145536"/>
            <a:ext cx="0" cy="201168"/>
          </a:xfrm>
          <a:prstGeom prst="line">
            <a:avLst/>
          </a:prstGeom>
          <a:noFill/>
          <a:ln w="22225">
            <a:solidFill>
              <a:srgbClr val="2F75B5"/>
            </a:solidFill>
            <a:prstDash val="solid"/>
            <a:tailEnd type="triangle"/>
          </a:ln>
        </p:spPr>
      </p:sp>
      <p:sp>
        <p:nvSpPr>
          <p:cNvPr id="42" name="Shape 40"/>
          <p:cNvSpPr/>
          <p:nvPr/>
        </p:nvSpPr>
        <p:spPr>
          <a:xfrm>
            <a:off x="7936992" y="3419856"/>
            <a:ext cx="3566160" cy="512064"/>
          </a:xfrm>
          <a:prstGeom prst="roundRect">
            <a:avLst>
              <a:gd name="adj" fmla="val 10714"/>
            </a:avLst>
          </a:prstGeom>
          <a:solidFill>
            <a:srgbClr val="2F75B5"/>
          </a:solidFill>
          <a:ln w="12700">
            <a:solidFill>
              <a:srgbClr val="2F75B5"/>
            </a:solidFill>
            <a:prstDash val="solid"/>
          </a:ln>
        </p:spPr>
      </p:sp>
      <p:sp>
        <p:nvSpPr>
          <p:cNvPr id="43" name="Text 41"/>
          <p:cNvSpPr txBox="1"/>
          <p:nvPr/>
        </p:nvSpPr>
        <p:spPr>
          <a:xfrm>
            <a:off x="7936992" y="3419856"/>
            <a:ext cx="3566160" cy="512064"/>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Diagnostic Analysis</a:t>
            </a:r>
            <a:endParaRPr lang="en-US" sz="1250" dirty="0"/>
          </a:p>
        </p:txBody>
      </p:sp>
      <p:sp>
        <p:nvSpPr>
          <p:cNvPr id="44" name="Shape 42"/>
          <p:cNvSpPr/>
          <p:nvPr/>
        </p:nvSpPr>
        <p:spPr>
          <a:xfrm>
            <a:off x="9720072" y="3950208"/>
            <a:ext cx="0" cy="201168"/>
          </a:xfrm>
          <a:prstGeom prst="line">
            <a:avLst/>
          </a:prstGeom>
          <a:noFill/>
          <a:ln w="22225">
            <a:solidFill>
              <a:srgbClr val="2F75B5"/>
            </a:solidFill>
            <a:prstDash val="solid"/>
            <a:tailEnd type="triangle"/>
          </a:ln>
        </p:spPr>
      </p:sp>
      <p:sp>
        <p:nvSpPr>
          <p:cNvPr id="45" name="Shape 43"/>
          <p:cNvSpPr/>
          <p:nvPr/>
        </p:nvSpPr>
        <p:spPr>
          <a:xfrm>
            <a:off x="7936992" y="4224528"/>
            <a:ext cx="3566160" cy="512064"/>
          </a:xfrm>
          <a:prstGeom prst="roundRect">
            <a:avLst>
              <a:gd name="adj" fmla="val 10714"/>
            </a:avLst>
          </a:prstGeom>
          <a:solidFill>
            <a:srgbClr val="008C95"/>
          </a:solidFill>
          <a:ln w="12700">
            <a:solidFill>
              <a:srgbClr val="008C95"/>
            </a:solidFill>
            <a:prstDash val="solid"/>
          </a:ln>
        </p:spPr>
      </p:sp>
      <p:sp>
        <p:nvSpPr>
          <p:cNvPr id="46" name="Text 44"/>
          <p:cNvSpPr txBox="1"/>
          <p:nvPr/>
        </p:nvSpPr>
        <p:spPr>
          <a:xfrm>
            <a:off x="7936992" y="4224528"/>
            <a:ext cx="3566160" cy="512064"/>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Predictive Analysis</a:t>
            </a:r>
            <a:endParaRPr lang="en-US" sz="1250" dirty="0"/>
          </a:p>
        </p:txBody>
      </p:sp>
      <p:sp>
        <p:nvSpPr>
          <p:cNvPr id="47" name="Shape 45"/>
          <p:cNvSpPr/>
          <p:nvPr/>
        </p:nvSpPr>
        <p:spPr>
          <a:xfrm>
            <a:off x="9720072" y="4754880"/>
            <a:ext cx="0" cy="201168"/>
          </a:xfrm>
          <a:prstGeom prst="line">
            <a:avLst/>
          </a:prstGeom>
          <a:noFill/>
          <a:ln w="22225">
            <a:solidFill>
              <a:srgbClr val="2F75B5"/>
            </a:solidFill>
            <a:prstDash val="solid"/>
            <a:tailEnd type="triangle"/>
          </a:ln>
        </p:spPr>
      </p:sp>
      <p:sp>
        <p:nvSpPr>
          <p:cNvPr id="48" name="Shape 46"/>
          <p:cNvSpPr/>
          <p:nvPr/>
        </p:nvSpPr>
        <p:spPr>
          <a:xfrm>
            <a:off x="7936992" y="5029200"/>
            <a:ext cx="3566160" cy="512064"/>
          </a:xfrm>
          <a:prstGeom prst="roundRect">
            <a:avLst>
              <a:gd name="adj" fmla="val 10714"/>
            </a:avLst>
          </a:prstGeom>
          <a:solidFill>
            <a:srgbClr val="2F75B5"/>
          </a:solidFill>
          <a:ln w="12700">
            <a:solidFill>
              <a:srgbClr val="2F75B5"/>
            </a:solidFill>
            <a:prstDash val="solid"/>
          </a:ln>
        </p:spPr>
      </p:sp>
      <p:sp>
        <p:nvSpPr>
          <p:cNvPr id="49" name="Text 47"/>
          <p:cNvSpPr txBox="1"/>
          <p:nvPr/>
        </p:nvSpPr>
        <p:spPr>
          <a:xfrm>
            <a:off x="7936992" y="5029200"/>
            <a:ext cx="3566160" cy="512064"/>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About Project</a:t>
            </a:r>
            <a:endParaRPr lang="en-US" sz="1250" dirty="0"/>
          </a:p>
        </p:txBody>
      </p:sp>
      <p:sp>
        <p:nvSpPr>
          <p:cNvPr id="50" name="Text 48"/>
          <p:cNvSpPr txBox="1"/>
          <p:nvPr/>
        </p:nvSpPr>
        <p:spPr>
          <a:xfrm>
            <a:off x="7936992" y="5559552"/>
            <a:ext cx="3566160" cy="457200"/>
          </a:xfrm>
          <a:prstGeom prst="rect">
            <a:avLst/>
          </a:prstGeom>
          <a:noFill/>
          <a:ln/>
        </p:spPr>
        <p:txBody>
          <a:bodyPr wrap="square" lIns="0" tIns="0" rIns="0" bIns="0" rtlCol="0" anchor="ctr"/>
          <a:lstStyle/>
          <a:p>
            <a:pPr marL="0" indent="0">
              <a:lnSpc>
                <a:spcPts val="1300"/>
              </a:lnSpc>
              <a:buNone/>
            </a:pPr>
            <a:r>
              <a:rPr lang="en-US" sz="1050" i="1" dirty="0">
                <a:solidFill>
                  <a:srgbClr val="6B7684"/>
                </a:solidFill>
                <a:latin typeface="Calibri" pitchFamily="34" charset="0"/>
                <a:ea typeface="Calibri" pitchFamily="34" charset="-122"/>
                <a:cs typeface="Calibri" pitchFamily="34" charset="-120"/>
              </a:rPr>
              <a:t>Screenshot of the running application is included in the project repository.</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Key Business Insights</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28</a:t>
            </a:r>
            <a:endParaRPr lang="en-US" sz="1000" dirty="0"/>
          </a:p>
        </p:txBody>
      </p:sp>
      <p:sp>
        <p:nvSpPr>
          <p:cNvPr id="4" name="Shape 2"/>
          <p:cNvSpPr/>
          <p:nvPr/>
        </p:nvSpPr>
        <p:spPr>
          <a:xfrm>
            <a:off x="502920" y="128016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Shape 3"/>
          <p:cNvSpPr/>
          <p:nvPr/>
        </p:nvSpPr>
        <p:spPr>
          <a:xfrm>
            <a:off x="758952" y="1499616"/>
            <a:ext cx="365760" cy="365760"/>
          </a:xfrm>
          <a:prstGeom prst="roundRect">
            <a:avLst>
              <a:gd name="adj" fmla="val 12500"/>
            </a:avLst>
          </a:prstGeom>
          <a:solidFill>
            <a:srgbClr val="2F75B5"/>
          </a:solidFill>
          <a:ln w="12700">
            <a:solidFill>
              <a:srgbClr val="2F75B5"/>
            </a:solidFill>
            <a:prstDash val="solid"/>
          </a:ln>
        </p:spPr>
      </p:sp>
      <p:sp>
        <p:nvSpPr>
          <p:cNvPr id="6" name="Text 4"/>
          <p:cNvSpPr txBox="1"/>
          <p:nvPr/>
        </p:nvSpPr>
        <p:spPr>
          <a:xfrm>
            <a:off x="758952" y="149961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txBox="1"/>
          <p:nvPr/>
        </p:nvSpPr>
        <p:spPr>
          <a:xfrm>
            <a:off x="1234440" y="1517904"/>
            <a:ext cx="2624328" cy="347472"/>
          </a:xfrm>
          <a:prstGeom prst="rect">
            <a:avLst/>
          </a:prstGeom>
          <a:noFill/>
          <a:ln/>
        </p:spPr>
        <p:txBody>
          <a:bodyPr wrap="square" lIns="0" tIns="0" rIns="0" bIns="0" rtlCol="0" anchor="ctr"/>
          <a:lstStyle/>
          <a:p>
            <a:pPr marL="0" indent="0">
              <a:buNone/>
            </a:pPr>
            <a:r>
              <a:rPr lang="en-US" sz="1450" b="1" dirty="0">
                <a:solidFill>
                  <a:srgbClr val="17365D"/>
                </a:solidFill>
                <a:latin typeface="Cambria" pitchFamily="34" charset="0"/>
                <a:ea typeface="Cambria" pitchFamily="34" charset="-122"/>
                <a:cs typeface="Cambria" pitchFamily="34" charset="-120"/>
              </a:rPr>
              <a:t>Financial Exposure</a:t>
            </a:r>
            <a:endParaRPr lang="en-US" sz="1450" dirty="0"/>
          </a:p>
        </p:txBody>
      </p:sp>
      <p:sp>
        <p:nvSpPr>
          <p:cNvPr id="8" name="Text 6"/>
          <p:cNvSpPr txBox="1"/>
          <p:nvPr/>
        </p:nvSpPr>
        <p:spPr>
          <a:xfrm>
            <a:off x="758952" y="2029968"/>
            <a:ext cx="3099816" cy="1234440"/>
          </a:xfrm>
          <a:prstGeom prst="rect">
            <a:avLst/>
          </a:prstGeom>
          <a:noFill/>
          <a:ln/>
        </p:spPr>
        <p:txBody>
          <a:bodyPr wrap="square" lIns="0" tIns="0" rIns="0" bIns="0" rtlCol="0" anchor="ctr"/>
          <a:lstStyle/>
          <a:p>
            <a:pPr marL="0" indent="0">
              <a:lnSpc>
                <a:spcPts val="1600"/>
              </a:lnSpc>
              <a:buNone/>
            </a:pPr>
            <a:r>
              <a:rPr lang="en-US" sz="1150" dirty="0">
                <a:solidFill>
                  <a:srgbClr val="2B3440"/>
                </a:solidFill>
                <a:latin typeface="Calibri" pitchFamily="34" charset="0"/>
                <a:ea typeface="Calibri" pitchFamily="34" charset="-122"/>
                <a:cs typeface="Calibri" pitchFamily="34" charset="-120"/>
              </a:rPr>
              <a:t>10,000 claims with total exposure of ₹165.64M. Average claim is ₹16,563.83 while the median is ₹7,000 — a right-skewed distribution.</a:t>
            </a:r>
            <a:endParaRPr lang="en-US" sz="1150" dirty="0"/>
          </a:p>
        </p:txBody>
      </p:sp>
      <p:sp>
        <p:nvSpPr>
          <p:cNvPr id="9" name="Shape 7"/>
          <p:cNvSpPr/>
          <p:nvPr/>
        </p:nvSpPr>
        <p:spPr>
          <a:xfrm>
            <a:off x="4334256" y="128016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Shape 8"/>
          <p:cNvSpPr/>
          <p:nvPr/>
        </p:nvSpPr>
        <p:spPr>
          <a:xfrm>
            <a:off x="4590288" y="1499616"/>
            <a:ext cx="365760" cy="365760"/>
          </a:xfrm>
          <a:prstGeom prst="roundRect">
            <a:avLst>
              <a:gd name="adj" fmla="val 12500"/>
            </a:avLst>
          </a:prstGeom>
          <a:solidFill>
            <a:srgbClr val="008C95"/>
          </a:solidFill>
          <a:ln w="12700">
            <a:solidFill>
              <a:srgbClr val="008C95"/>
            </a:solidFill>
            <a:prstDash val="solid"/>
          </a:ln>
        </p:spPr>
      </p:sp>
      <p:sp>
        <p:nvSpPr>
          <p:cNvPr id="11" name="Text 9"/>
          <p:cNvSpPr txBox="1"/>
          <p:nvPr/>
        </p:nvSpPr>
        <p:spPr>
          <a:xfrm>
            <a:off x="4590288" y="149961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5065776" y="1517904"/>
            <a:ext cx="2624328" cy="347472"/>
          </a:xfrm>
          <a:prstGeom prst="rect">
            <a:avLst/>
          </a:prstGeom>
          <a:noFill/>
          <a:ln/>
        </p:spPr>
        <p:txBody>
          <a:bodyPr wrap="square" lIns="0" tIns="0" rIns="0" bIns="0" rtlCol="0" anchor="ctr"/>
          <a:lstStyle/>
          <a:p>
            <a:pPr marL="0" indent="0">
              <a:buNone/>
            </a:pPr>
            <a:r>
              <a:rPr lang="en-US" sz="1450" b="1" dirty="0">
                <a:solidFill>
                  <a:srgbClr val="17365D"/>
                </a:solidFill>
                <a:latin typeface="Cambria" pitchFamily="34" charset="0"/>
                <a:ea typeface="Cambria" pitchFamily="34" charset="-122"/>
                <a:cs typeface="Cambria" pitchFamily="34" charset="-120"/>
              </a:rPr>
              <a:t>Risk Distribution</a:t>
            </a:r>
            <a:endParaRPr lang="en-US" sz="1450" dirty="0"/>
          </a:p>
        </p:txBody>
      </p:sp>
      <p:sp>
        <p:nvSpPr>
          <p:cNvPr id="13" name="Text 11"/>
          <p:cNvSpPr txBox="1"/>
          <p:nvPr/>
        </p:nvSpPr>
        <p:spPr>
          <a:xfrm>
            <a:off x="4590288" y="2029968"/>
            <a:ext cx="3099816" cy="1234440"/>
          </a:xfrm>
          <a:prstGeom prst="rect">
            <a:avLst/>
          </a:prstGeom>
          <a:noFill/>
          <a:ln/>
        </p:spPr>
        <p:txBody>
          <a:bodyPr wrap="square" lIns="0" tIns="0" rIns="0" bIns="0" rtlCol="0" anchor="ctr"/>
          <a:lstStyle/>
          <a:p>
            <a:pPr marL="0" indent="0">
              <a:lnSpc>
                <a:spcPts val="1600"/>
              </a:lnSpc>
              <a:buNone/>
            </a:pPr>
            <a:r>
              <a:rPr lang="en-US" sz="1150" dirty="0">
                <a:solidFill>
                  <a:srgbClr val="2B3440"/>
                </a:solidFill>
                <a:latin typeface="Calibri" pitchFamily="34" charset="0"/>
                <a:ea typeface="Calibri" pitchFamily="34" charset="-122"/>
                <a:cs typeface="Calibri" pitchFamily="34" charset="-120"/>
              </a:rPr>
              <a:t>Low-risk claims account for 4,395, Medium-risk for 4,150 and High-risk for 1,455 (14.55% of the book).</a:t>
            </a:r>
            <a:endParaRPr lang="en-US" sz="1150" dirty="0"/>
          </a:p>
        </p:txBody>
      </p:sp>
      <p:sp>
        <p:nvSpPr>
          <p:cNvPr id="14" name="Shape 12"/>
          <p:cNvSpPr/>
          <p:nvPr/>
        </p:nvSpPr>
        <p:spPr>
          <a:xfrm>
            <a:off x="8165592" y="128016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5" name="Shape 13"/>
          <p:cNvSpPr/>
          <p:nvPr/>
        </p:nvSpPr>
        <p:spPr>
          <a:xfrm>
            <a:off x="8421624" y="1499616"/>
            <a:ext cx="365760" cy="365760"/>
          </a:xfrm>
          <a:prstGeom prst="roundRect">
            <a:avLst>
              <a:gd name="adj" fmla="val 12500"/>
            </a:avLst>
          </a:prstGeom>
          <a:solidFill>
            <a:srgbClr val="2F75B5"/>
          </a:solidFill>
          <a:ln w="12700">
            <a:solidFill>
              <a:srgbClr val="2F75B5"/>
            </a:solidFill>
            <a:prstDash val="solid"/>
          </a:ln>
        </p:spPr>
      </p:sp>
      <p:sp>
        <p:nvSpPr>
          <p:cNvPr id="16" name="Text 14"/>
          <p:cNvSpPr txBox="1"/>
          <p:nvPr/>
        </p:nvSpPr>
        <p:spPr>
          <a:xfrm>
            <a:off x="8421624" y="149961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txBox="1"/>
          <p:nvPr/>
        </p:nvSpPr>
        <p:spPr>
          <a:xfrm>
            <a:off x="8897112" y="1517904"/>
            <a:ext cx="2624328" cy="347472"/>
          </a:xfrm>
          <a:prstGeom prst="rect">
            <a:avLst/>
          </a:prstGeom>
          <a:noFill/>
          <a:ln/>
        </p:spPr>
        <p:txBody>
          <a:bodyPr wrap="square" lIns="0" tIns="0" rIns="0" bIns="0" rtlCol="0" anchor="ctr"/>
          <a:lstStyle/>
          <a:p>
            <a:pPr marL="0" indent="0">
              <a:buNone/>
            </a:pPr>
            <a:r>
              <a:rPr lang="en-US" sz="1450" b="1" dirty="0">
                <a:solidFill>
                  <a:srgbClr val="17365D"/>
                </a:solidFill>
                <a:latin typeface="Cambria" pitchFamily="34" charset="0"/>
                <a:ea typeface="Cambria" pitchFamily="34" charset="-122"/>
                <a:cs typeface="Cambria" pitchFamily="34" charset="-120"/>
              </a:rPr>
              <a:t>Incident Severity</a:t>
            </a:r>
            <a:endParaRPr lang="en-US" sz="1450" dirty="0"/>
          </a:p>
        </p:txBody>
      </p:sp>
      <p:sp>
        <p:nvSpPr>
          <p:cNvPr id="18" name="Text 16"/>
          <p:cNvSpPr txBox="1"/>
          <p:nvPr/>
        </p:nvSpPr>
        <p:spPr>
          <a:xfrm>
            <a:off x="8421624" y="2029968"/>
            <a:ext cx="3099816" cy="1234440"/>
          </a:xfrm>
          <a:prstGeom prst="rect">
            <a:avLst/>
          </a:prstGeom>
          <a:noFill/>
          <a:ln/>
        </p:spPr>
        <p:txBody>
          <a:bodyPr wrap="square" lIns="0" tIns="0" rIns="0" bIns="0" rtlCol="0" anchor="ctr"/>
          <a:lstStyle/>
          <a:p>
            <a:pPr marL="0" indent="0">
              <a:lnSpc>
                <a:spcPts val="1600"/>
              </a:lnSpc>
              <a:buNone/>
            </a:pPr>
            <a:r>
              <a:rPr lang="en-US" sz="1150" dirty="0">
                <a:solidFill>
                  <a:srgbClr val="2B3440"/>
                </a:solidFill>
                <a:latin typeface="Calibri" pitchFamily="34" charset="0"/>
                <a:ea typeface="Calibri" pitchFamily="34" charset="-122"/>
                <a:cs typeface="Calibri" pitchFamily="34" charset="-120"/>
              </a:rPr>
              <a:t>Total Loss represents 3,390 claims, Major Loss 3,317 and Minor Loss 3,293 — an almost even split.</a:t>
            </a:r>
            <a:endParaRPr lang="en-US" sz="1150" dirty="0"/>
          </a:p>
        </p:txBody>
      </p:sp>
      <p:sp>
        <p:nvSpPr>
          <p:cNvPr id="19" name="Shape 17"/>
          <p:cNvSpPr/>
          <p:nvPr/>
        </p:nvSpPr>
        <p:spPr>
          <a:xfrm>
            <a:off x="502920" y="370332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0" name="Shape 18"/>
          <p:cNvSpPr/>
          <p:nvPr/>
        </p:nvSpPr>
        <p:spPr>
          <a:xfrm>
            <a:off x="758952" y="3922776"/>
            <a:ext cx="365760" cy="365760"/>
          </a:xfrm>
          <a:prstGeom prst="roundRect">
            <a:avLst>
              <a:gd name="adj" fmla="val 12500"/>
            </a:avLst>
          </a:prstGeom>
          <a:solidFill>
            <a:srgbClr val="008C95"/>
          </a:solidFill>
          <a:ln w="12700">
            <a:solidFill>
              <a:srgbClr val="008C95"/>
            </a:solidFill>
            <a:prstDash val="solid"/>
          </a:ln>
        </p:spPr>
      </p:sp>
      <p:sp>
        <p:nvSpPr>
          <p:cNvPr id="21" name="Text 19"/>
          <p:cNvSpPr txBox="1"/>
          <p:nvPr/>
        </p:nvSpPr>
        <p:spPr>
          <a:xfrm>
            <a:off x="758952" y="392277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2" name="Text 20"/>
          <p:cNvSpPr txBox="1"/>
          <p:nvPr/>
        </p:nvSpPr>
        <p:spPr>
          <a:xfrm>
            <a:off x="1234440" y="3941064"/>
            <a:ext cx="2624328" cy="347472"/>
          </a:xfrm>
          <a:prstGeom prst="rect">
            <a:avLst/>
          </a:prstGeom>
          <a:noFill/>
          <a:ln/>
        </p:spPr>
        <p:txBody>
          <a:bodyPr wrap="square" lIns="0" tIns="0" rIns="0" bIns="0" rtlCol="0" anchor="ctr"/>
          <a:lstStyle/>
          <a:p>
            <a:pPr marL="0" indent="0">
              <a:buNone/>
            </a:pPr>
            <a:r>
              <a:rPr lang="en-US" sz="1450" b="1" dirty="0">
                <a:solidFill>
                  <a:srgbClr val="17365D"/>
                </a:solidFill>
                <a:latin typeface="Cambria" pitchFamily="34" charset="0"/>
                <a:ea typeface="Cambria" pitchFamily="34" charset="-122"/>
                <a:cs typeface="Cambria" pitchFamily="34" charset="-120"/>
              </a:rPr>
              <a:t>Reporting Behaviour</a:t>
            </a:r>
            <a:endParaRPr lang="en-US" sz="1450" dirty="0"/>
          </a:p>
        </p:txBody>
      </p:sp>
      <p:sp>
        <p:nvSpPr>
          <p:cNvPr id="23" name="Text 21"/>
          <p:cNvSpPr txBox="1"/>
          <p:nvPr/>
        </p:nvSpPr>
        <p:spPr>
          <a:xfrm>
            <a:off x="758952" y="4453128"/>
            <a:ext cx="3099816" cy="1234440"/>
          </a:xfrm>
          <a:prstGeom prst="rect">
            <a:avLst/>
          </a:prstGeom>
          <a:noFill/>
          <a:ln/>
        </p:spPr>
        <p:txBody>
          <a:bodyPr wrap="square" lIns="0" tIns="0" rIns="0" bIns="0" rtlCol="0" anchor="ctr"/>
          <a:lstStyle/>
          <a:p>
            <a:pPr marL="0" indent="0">
              <a:lnSpc>
                <a:spcPts val="1600"/>
              </a:lnSpc>
              <a:buNone/>
            </a:pPr>
            <a:r>
              <a:rPr lang="en-US" sz="1150" dirty="0">
                <a:solidFill>
                  <a:srgbClr val="2B3440"/>
                </a:solidFill>
                <a:latin typeface="Calibri" pitchFamily="34" charset="0"/>
                <a:ea typeface="Calibri" pitchFamily="34" charset="-122"/>
                <a:cs typeface="Calibri" pitchFamily="34" charset="-120"/>
              </a:rPr>
              <a:t>Average reporting delay is 3.21 days. 1,565 claims were reported on the same day as the loss date.</a:t>
            </a:r>
            <a:endParaRPr lang="en-US" sz="1150" dirty="0"/>
          </a:p>
        </p:txBody>
      </p:sp>
      <p:sp>
        <p:nvSpPr>
          <p:cNvPr id="24" name="Shape 22"/>
          <p:cNvSpPr/>
          <p:nvPr/>
        </p:nvSpPr>
        <p:spPr>
          <a:xfrm>
            <a:off x="4334256" y="370332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5" name="Shape 23"/>
          <p:cNvSpPr/>
          <p:nvPr/>
        </p:nvSpPr>
        <p:spPr>
          <a:xfrm>
            <a:off x="4590288" y="3922776"/>
            <a:ext cx="365760" cy="365760"/>
          </a:xfrm>
          <a:prstGeom prst="roundRect">
            <a:avLst>
              <a:gd name="adj" fmla="val 12500"/>
            </a:avLst>
          </a:prstGeom>
          <a:solidFill>
            <a:srgbClr val="2F75B5"/>
          </a:solidFill>
          <a:ln w="12700">
            <a:solidFill>
              <a:srgbClr val="2F75B5"/>
            </a:solidFill>
            <a:prstDash val="solid"/>
          </a:ln>
        </p:spPr>
      </p:sp>
      <p:sp>
        <p:nvSpPr>
          <p:cNvPr id="26" name="Text 24"/>
          <p:cNvSpPr txBox="1"/>
          <p:nvPr/>
        </p:nvSpPr>
        <p:spPr>
          <a:xfrm>
            <a:off x="4590288" y="392277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7" name="Text 25"/>
          <p:cNvSpPr txBox="1"/>
          <p:nvPr/>
        </p:nvSpPr>
        <p:spPr>
          <a:xfrm>
            <a:off x="5065776" y="3941064"/>
            <a:ext cx="2624328" cy="347472"/>
          </a:xfrm>
          <a:prstGeom prst="rect">
            <a:avLst/>
          </a:prstGeom>
          <a:noFill/>
          <a:ln/>
        </p:spPr>
        <p:txBody>
          <a:bodyPr wrap="square" lIns="0" tIns="0" rIns="0" bIns="0" rtlCol="0" anchor="ctr"/>
          <a:lstStyle/>
          <a:p>
            <a:pPr marL="0" indent="0">
              <a:buNone/>
            </a:pPr>
            <a:r>
              <a:rPr lang="en-US" sz="1450" b="1" dirty="0">
                <a:solidFill>
                  <a:srgbClr val="17365D"/>
                </a:solidFill>
                <a:latin typeface="Cambria" pitchFamily="34" charset="0"/>
                <a:ea typeface="Cambria" pitchFamily="34" charset="-122"/>
                <a:cs typeface="Cambria" pitchFamily="34" charset="-120"/>
              </a:rPr>
              <a:t>Data Quality</a:t>
            </a:r>
            <a:endParaRPr lang="en-US" sz="1450" dirty="0"/>
          </a:p>
        </p:txBody>
      </p:sp>
      <p:sp>
        <p:nvSpPr>
          <p:cNvPr id="28" name="Text 26"/>
          <p:cNvSpPr txBox="1"/>
          <p:nvPr/>
        </p:nvSpPr>
        <p:spPr>
          <a:xfrm>
            <a:off x="4590288" y="4453128"/>
            <a:ext cx="3099816" cy="1234440"/>
          </a:xfrm>
          <a:prstGeom prst="rect">
            <a:avLst/>
          </a:prstGeom>
          <a:noFill/>
          <a:ln/>
        </p:spPr>
        <p:txBody>
          <a:bodyPr wrap="square" lIns="0" tIns="0" rIns="0" bIns="0" rtlCol="0" anchor="ctr"/>
          <a:lstStyle/>
          <a:p>
            <a:pPr marL="0" indent="0">
              <a:lnSpc>
                <a:spcPts val="1600"/>
              </a:lnSpc>
              <a:buNone/>
            </a:pPr>
            <a:r>
              <a:rPr lang="en-US" sz="1150" dirty="0">
                <a:solidFill>
                  <a:srgbClr val="2B3440"/>
                </a:solidFill>
                <a:latin typeface="Calibri" pitchFamily="34" charset="0"/>
                <a:ea typeface="Calibri" pitchFamily="34" charset="-122"/>
                <a:cs typeface="Calibri" pitchFamily="34" charset="-120"/>
              </a:rPr>
              <a:t>No full-row duplicates and no invalid agent or vendor relationships were identified during validation.</a:t>
            </a:r>
            <a:endParaRPr lang="en-US" sz="1150" dirty="0"/>
          </a:p>
        </p:txBody>
      </p:sp>
      <p:sp>
        <p:nvSpPr>
          <p:cNvPr id="29" name="Shape 27"/>
          <p:cNvSpPr/>
          <p:nvPr/>
        </p:nvSpPr>
        <p:spPr>
          <a:xfrm>
            <a:off x="8165592" y="3703320"/>
            <a:ext cx="3611880" cy="2148840"/>
          </a:xfrm>
          <a:prstGeom prst="roundRect">
            <a:avLst>
              <a:gd name="adj" fmla="val 3404"/>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0" name="Shape 28"/>
          <p:cNvSpPr/>
          <p:nvPr/>
        </p:nvSpPr>
        <p:spPr>
          <a:xfrm>
            <a:off x="8421624" y="3922776"/>
            <a:ext cx="365760" cy="365760"/>
          </a:xfrm>
          <a:prstGeom prst="roundRect">
            <a:avLst>
              <a:gd name="adj" fmla="val 12500"/>
            </a:avLst>
          </a:prstGeom>
          <a:solidFill>
            <a:srgbClr val="008C95"/>
          </a:solidFill>
          <a:ln w="12700">
            <a:solidFill>
              <a:srgbClr val="008C95"/>
            </a:solidFill>
            <a:prstDash val="solid"/>
          </a:ln>
        </p:spPr>
      </p:sp>
      <p:sp>
        <p:nvSpPr>
          <p:cNvPr id="31" name="Text 29"/>
          <p:cNvSpPr txBox="1"/>
          <p:nvPr/>
        </p:nvSpPr>
        <p:spPr>
          <a:xfrm>
            <a:off x="8421624" y="392277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2" name="Text 30"/>
          <p:cNvSpPr txBox="1"/>
          <p:nvPr/>
        </p:nvSpPr>
        <p:spPr>
          <a:xfrm>
            <a:off x="8897112" y="3941064"/>
            <a:ext cx="2624328" cy="347472"/>
          </a:xfrm>
          <a:prstGeom prst="rect">
            <a:avLst/>
          </a:prstGeom>
          <a:noFill/>
          <a:ln/>
        </p:spPr>
        <p:txBody>
          <a:bodyPr wrap="square" lIns="0" tIns="0" rIns="0" bIns="0" rtlCol="0" anchor="ctr"/>
          <a:lstStyle/>
          <a:p>
            <a:pPr marL="0" indent="0">
              <a:buNone/>
            </a:pPr>
            <a:r>
              <a:rPr lang="en-US" sz="1450" b="1" dirty="0">
                <a:solidFill>
                  <a:srgbClr val="17365D"/>
                </a:solidFill>
                <a:latin typeface="Cambria" pitchFamily="34" charset="0"/>
                <a:ea typeface="Cambria" pitchFamily="34" charset="-122"/>
                <a:cs typeface="Cambria" pitchFamily="34" charset="-120"/>
              </a:rPr>
              <a:t>Predictive Modeling</a:t>
            </a:r>
            <a:endParaRPr lang="en-US" sz="1450" dirty="0"/>
          </a:p>
        </p:txBody>
      </p:sp>
      <p:sp>
        <p:nvSpPr>
          <p:cNvPr id="33" name="Text 31"/>
          <p:cNvSpPr txBox="1"/>
          <p:nvPr/>
        </p:nvSpPr>
        <p:spPr>
          <a:xfrm>
            <a:off x="8421624" y="4453128"/>
            <a:ext cx="3099816" cy="1234440"/>
          </a:xfrm>
          <a:prstGeom prst="rect">
            <a:avLst/>
          </a:prstGeom>
          <a:noFill/>
          <a:ln/>
        </p:spPr>
        <p:txBody>
          <a:bodyPr wrap="square" lIns="0" tIns="0" rIns="0" bIns="0" rtlCol="0" anchor="ctr"/>
          <a:lstStyle/>
          <a:p>
            <a:pPr marL="0" indent="0">
              <a:lnSpc>
                <a:spcPts val="1600"/>
              </a:lnSpc>
              <a:buNone/>
            </a:pPr>
            <a:r>
              <a:rPr lang="en-US" sz="1150" dirty="0">
                <a:solidFill>
                  <a:srgbClr val="2B3440"/>
                </a:solidFill>
                <a:latin typeface="Calibri" pitchFamily="34" charset="0"/>
                <a:ea typeface="Calibri" pitchFamily="34" charset="-122"/>
                <a:cs typeface="Calibri" pitchFamily="34" charset="-120"/>
              </a:rPr>
              <a:t>Linear Regression achieved an R² of 0.7066 on the test set, explaining a substantial share of claim-amount variation.</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Business Recommendations</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29</a:t>
            </a:r>
            <a:endParaRPr lang="en-US" sz="1000" dirty="0"/>
          </a:p>
        </p:txBody>
      </p:sp>
      <p:sp>
        <p:nvSpPr>
          <p:cNvPr id="4" name="Shape 2"/>
          <p:cNvSpPr/>
          <p:nvPr/>
        </p:nvSpPr>
        <p:spPr>
          <a:xfrm>
            <a:off x="502920" y="1280160"/>
            <a:ext cx="11228832" cy="914400"/>
          </a:xfrm>
          <a:prstGeom prst="roundRect">
            <a:avLst>
              <a:gd name="adj" fmla="val 80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 name="Shape 3"/>
          <p:cNvSpPr/>
          <p:nvPr/>
        </p:nvSpPr>
        <p:spPr>
          <a:xfrm>
            <a:off x="502920" y="1280160"/>
            <a:ext cx="868680" cy="914400"/>
          </a:xfrm>
          <a:prstGeom prst="roundRect">
            <a:avLst>
              <a:gd name="adj" fmla="val 8421"/>
            </a:avLst>
          </a:prstGeom>
          <a:solidFill>
            <a:srgbClr val="17365D"/>
          </a:solidFill>
          <a:ln w="12700">
            <a:solidFill>
              <a:srgbClr val="17365D"/>
            </a:solidFill>
            <a:prstDash val="solid"/>
          </a:ln>
        </p:spPr>
      </p:sp>
      <p:sp>
        <p:nvSpPr>
          <p:cNvPr id="6" name="Text 4"/>
          <p:cNvSpPr txBox="1"/>
          <p:nvPr/>
        </p:nvSpPr>
        <p:spPr>
          <a:xfrm>
            <a:off x="502920" y="1280160"/>
            <a:ext cx="868680"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mbria" pitchFamily="34" charset="0"/>
                <a:ea typeface="Cambria" pitchFamily="34" charset="-122"/>
                <a:cs typeface="Cambria" pitchFamily="34" charset="-120"/>
              </a:rPr>
              <a:t>01</a:t>
            </a:r>
            <a:endParaRPr lang="en-US" sz="1900" dirty="0"/>
          </a:p>
        </p:txBody>
      </p:sp>
      <p:sp>
        <p:nvSpPr>
          <p:cNvPr id="7" name="Text 5"/>
          <p:cNvSpPr txBox="1"/>
          <p:nvPr/>
        </p:nvSpPr>
        <p:spPr>
          <a:xfrm>
            <a:off x="1600200" y="1435608"/>
            <a:ext cx="3017520" cy="32004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Monitor Claim Exposure</a:t>
            </a:r>
            <a:endParaRPr lang="en-US" sz="1500" dirty="0"/>
          </a:p>
        </p:txBody>
      </p:sp>
      <p:sp>
        <p:nvSpPr>
          <p:cNvPr id="8" name="Text 6"/>
          <p:cNvSpPr txBox="1"/>
          <p:nvPr/>
        </p:nvSpPr>
        <p:spPr>
          <a:xfrm>
            <a:off x="1600200" y="1755648"/>
            <a:ext cx="9829800" cy="365760"/>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Track high-value claims and claim exposure by insurance type to support financial planning and operational monitoring.</a:t>
            </a:r>
            <a:endParaRPr lang="en-US" sz="1200" dirty="0"/>
          </a:p>
        </p:txBody>
      </p:sp>
      <p:sp>
        <p:nvSpPr>
          <p:cNvPr id="9" name="Shape 7"/>
          <p:cNvSpPr/>
          <p:nvPr/>
        </p:nvSpPr>
        <p:spPr>
          <a:xfrm>
            <a:off x="502920" y="2286000"/>
            <a:ext cx="11228832" cy="914400"/>
          </a:xfrm>
          <a:prstGeom prst="roundRect">
            <a:avLst>
              <a:gd name="adj" fmla="val 80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0" name="Shape 8"/>
          <p:cNvSpPr/>
          <p:nvPr/>
        </p:nvSpPr>
        <p:spPr>
          <a:xfrm>
            <a:off x="502920" y="2286000"/>
            <a:ext cx="868680" cy="914400"/>
          </a:xfrm>
          <a:prstGeom prst="roundRect">
            <a:avLst>
              <a:gd name="adj" fmla="val 8421"/>
            </a:avLst>
          </a:prstGeom>
          <a:solidFill>
            <a:srgbClr val="008C95"/>
          </a:solidFill>
          <a:ln w="12700">
            <a:solidFill>
              <a:srgbClr val="008C95"/>
            </a:solidFill>
            <a:prstDash val="solid"/>
          </a:ln>
        </p:spPr>
      </p:sp>
      <p:sp>
        <p:nvSpPr>
          <p:cNvPr id="11" name="Text 9"/>
          <p:cNvSpPr txBox="1"/>
          <p:nvPr/>
        </p:nvSpPr>
        <p:spPr>
          <a:xfrm>
            <a:off x="502920" y="2286000"/>
            <a:ext cx="868680"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mbria" pitchFamily="34" charset="0"/>
                <a:ea typeface="Cambria" pitchFamily="34" charset="-122"/>
                <a:cs typeface="Cambria" pitchFamily="34" charset="-120"/>
              </a:rPr>
              <a:t>02</a:t>
            </a:r>
            <a:endParaRPr lang="en-US" sz="1900" dirty="0"/>
          </a:p>
        </p:txBody>
      </p:sp>
      <p:sp>
        <p:nvSpPr>
          <p:cNvPr id="12" name="Text 10"/>
          <p:cNvSpPr txBox="1"/>
          <p:nvPr/>
        </p:nvSpPr>
        <p:spPr>
          <a:xfrm>
            <a:off x="1600200" y="2441448"/>
            <a:ext cx="3017520" cy="32004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Risk-Based Monitoring</a:t>
            </a:r>
            <a:endParaRPr lang="en-US" sz="1500" dirty="0"/>
          </a:p>
        </p:txBody>
      </p:sp>
      <p:sp>
        <p:nvSpPr>
          <p:cNvPr id="13" name="Text 11"/>
          <p:cNvSpPr txBox="1"/>
          <p:nvPr/>
        </p:nvSpPr>
        <p:spPr>
          <a:xfrm>
            <a:off x="1600200" y="2761488"/>
            <a:ext cx="9829800" cy="365760"/>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Use risk segmentation together with incident severity to identify claim groups requiring closer operational review.</a:t>
            </a:r>
            <a:endParaRPr lang="en-US" sz="1200" dirty="0"/>
          </a:p>
        </p:txBody>
      </p:sp>
      <p:sp>
        <p:nvSpPr>
          <p:cNvPr id="14" name="Shape 12"/>
          <p:cNvSpPr/>
          <p:nvPr/>
        </p:nvSpPr>
        <p:spPr>
          <a:xfrm>
            <a:off x="502920" y="3291840"/>
            <a:ext cx="11228832" cy="914400"/>
          </a:xfrm>
          <a:prstGeom prst="roundRect">
            <a:avLst>
              <a:gd name="adj" fmla="val 80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5" name="Shape 13"/>
          <p:cNvSpPr/>
          <p:nvPr/>
        </p:nvSpPr>
        <p:spPr>
          <a:xfrm>
            <a:off x="502920" y="3291840"/>
            <a:ext cx="868680" cy="914400"/>
          </a:xfrm>
          <a:prstGeom prst="roundRect">
            <a:avLst>
              <a:gd name="adj" fmla="val 8421"/>
            </a:avLst>
          </a:prstGeom>
          <a:solidFill>
            <a:srgbClr val="17365D"/>
          </a:solidFill>
          <a:ln w="12700">
            <a:solidFill>
              <a:srgbClr val="17365D"/>
            </a:solidFill>
            <a:prstDash val="solid"/>
          </a:ln>
        </p:spPr>
      </p:sp>
      <p:sp>
        <p:nvSpPr>
          <p:cNvPr id="16" name="Text 14"/>
          <p:cNvSpPr txBox="1"/>
          <p:nvPr/>
        </p:nvSpPr>
        <p:spPr>
          <a:xfrm>
            <a:off x="502920" y="3291840"/>
            <a:ext cx="868680"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mbria" pitchFamily="34" charset="0"/>
                <a:ea typeface="Cambria" pitchFamily="34" charset="-122"/>
                <a:cs typeface="Cambria" pitchFamily="34" charset="-120"/>
              </a:rPr>
              <a:t>03</a:t>
            </a:r>
            <a:endParaRPr lang="en-US" sz="1900" dirty="0"/>
          </a:p>
        </p:txBody>
      </p:sp>
      <p:sp>
        <p:nvSpPr>
          <p:cNvPr id="17" name="Text 15"/>
          <p:cNvSpPr txBox="1"/>
          <p:nvPr/>
        </p:nvSpPr>
        <p:spPr>
          <a:xfrm>
            <a:off x="1600200" y="3447288"/>
            <a:ext cx="3017520" cy="32004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Reporting Monitoring</a:t>
            </a:r>
            <a:endParaRPr lang="en-US" sz="1500" dirty="0"/>
          </a:p>
        </p:txBody>
      </p:sp>
      <p:sp>
        <p:nvSpPr>
          <p:cNvPr id="18" name="Text 16"/>
          <p:cNvSpPr txBox="1"/>
          <p:nvPr/>
        </p:nvSpPr>
        <p:spPr>
          <a:xfrm>
            <a:off x="1600200" y="3767328"/>
            <a:ext cx="9829800" cy="365760"/>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Monitor reporting delays and same-day reporting patterns to understand operational reporting behaviour.</a:t>
            </a:r>
            <a:endParaRPr lang="en-US" sz="1200" dirty="0"/>
          </a:p>
        </p:txBody>
      </p:sp>
      <p:sp>
        <p:nvSpPr>
          <p:cNvPr id="19" name="Shape 17"/>
          <p:cNvSpPr/>
          <p:nvPr/>
        </p:nvSpPr>
        <p:spPr>
          <a:xfrm>
            <a:off x="502920" y="4297680"/>
            <a:ext cx="11228832" cy="914400"/>
          </a:xfrm>
          <a:prstGeom prst="roundRect">
            <a:avLst>
              <a:gd name="adj" fmla="val 80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0" name="Shape 18"/>
          <p:cNvSpPr/>
          <p:nvPr/>
        </p:nvSpPr>
        <p:spPr>
          <a:xfrm>
            <a:off x="502920" y="4297680"/>
            <a:ext cx="868680" cy="914400"/>
          </a:xfrm>
          <a:prstGeom prst="roundRect">
            <a:avLst>
              <a:gd name="adj" fmla="val 8421"/>
            </a:avLst>
          </a:prstGeom>
          <a:solidFill>
            <a:srgbClr val="008C95"/>
          </a:solidFill>
          <a:ln w="12700">
            <a:solidFill>
              <a:srgbClr val="008C95"/>
            </a:solidFill>
            <a:prstDash val="solid"/>
          </a:ln>
        </p:spPr>
      </p:sp>
      <p:sp>
        <p:nvSpPr>
          <p:cNvPr id="21" name="Text 19"/>
          <p:cNvSpPr txBox="1"/>
          <p:nvPr/>
        </p:nvSpPr>
        <p:spPr>
          <a:xfrm>
            <a:off x="502920" y="4297680"/>
            <a:ext cx="868680"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mbria" pitchFamily="34" charset="0"/>
                <a:ea typeface="Cambria" pitchFamily="34" charset="-122"/>
                <a:cs typeface="Cambria" pitchFamily="34" charset="-120"/>
              </a:rPr>
              <a:t>04</a:t>
            </a:r>
            <a:endParaRPr lang="en-US" sz="1900" dirty="0"/>
          </a:p>
        </p:txBody>
      </p:sp>
      <p:sp>
        <p:nvSpPr>
          <p:cNvPr id="22" name="Text 20"/>
          <p:cNvSpPr txBox="1"/>
          <p:nvPr/>
        </p:nvSpPr>
        <p:spPr>
          <a:xfrm>
            <a:off x="1600200" y="4453128"/>
            <a:ext cx="3017520" cy="32004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Agent &amp; Vendor Monitoring</a:t>
            </a:r>
            <a:endParaRPr lang="en-US" sz="1500" dirty="0"/>
          </a:p>
        </p:txBody>
      </p:sp>
      <p:sp>
        <p:nvSpPr>
          <p:cNvPr id="23" name="Text 21"/>
          <p:cNvSpPr txBox="1"/>
          <p:nvPr/>
        </p:nvSpPr>
        <p:spPr>
          <a:xfrm>
            <a:off x="1600200" y="4773168"/>
            <a:ext cx="9829800" cy="365760"/>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Use claim volume and financial exposure metrics to monitor operational workload across agents and vendors.</a:t>
            </a:r>
            <a:endParaRPr lang="en-US" sz="1200" dirty="0"/>
          </a:p>
        </p:txBody>
      </p:sp>
      <p:sp>
        <p:nvSpPr>
          <p:cNvPr id="24" name="Shape 22"/>
          <p:cNvSpPr/>
          <p:nvPr/>
        </p:nvSpPr>
        <p:spPr>
          <a:xfrm>
            <a:off x="502920" y="5303520"/>
            <a:ext cx="11228832" cy="914400"/>
          </a:xfrm>
          <a:prstGeom prst="roundRect">
            <a:avLst>
              <a:gd name="adj" fmla="val 8000"/>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5" name="Shape 23"/>
          <p:cNvSpPr/>
          <p:nvPr/>
        </p:nvSpPr>
        <p:spPr>
          <a:xfrm>
            <a:off x="502920" y="5303520"/>
            <a:ext cx="868680" cy="914400"/>
          </a:xfrm>
          <a:prstGeom prst="roundRect">
            <a:avLst>
              <a:gd name="adj" fmla="val 8421"/>
            </a:avLst>
          </a:prstGeom>
          <a:solidFill>
            <a:srgbClr val="17365D"/>
          </a:solidFill>
          <a:ln w="12700">
            <a:solidFill>
              <a:srgbClr val="17365D"/>
            </a:solidFill>
            <a:prstDash val="solid"/>
          </a:ln>
        </p:spPr>
      </p:sp>
      <p:sp>
        <p:nvSpPr>
          <p:cNvPr id="26" name="Text 24"/>
          <p:cNvSpPr txBox="1"/>
          <p:nvPr/>
        </p:nvSpPr>
        <p:spPr>
          <a:xfrm>
            <a:off x="502920" y="5303520"/>
            <a:ext cx="868680"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mbria" pitchFamily="34" charset="0"/>
                <a:ea typeface="Cambria" pitchFamily="34" charset="-122"/>
                <a:cs typeface="Cambria" pitchFamily="34" charset="-120"/>
              </a:rPr>
              <a:t>05</a:t>
            </a:r>
            <a:endParaRPr lang="en-US" sz="1900" dirty="0"/>
          </a:p>
        </p:txBody>
      </p:sp>
      <p:sp>
        <p:nvSpPr>
          <p:cNvPr id="27" name="Text 25"/>
          <p:cNvSpPr txBox="1"/>
          <p:nvPr/>
        </p:nvSpPr>
        <p:spPr>
          <a:xfrm>
            <a:off x="1600200" y="5458968"/>
            <a:ext cx="3017520" cy="32004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Predictive Analytics</a:t>
            </a:r>
            <a:endParaRPr lang="en-US" sz="1500" dirty="0"/>
          </a:p>
        </p:txBody>
      </p:sp>
      <p:sp>
        <p:nvSpPr>
          <p:cNvPr id="28" name="Text 26"/>
          <p:cNvSpPr txBox="1"/>
          <p:nvPr/>
        </p:nvSpPr>
        <p:spPr>
          <a:xfrm>
            <a:off x="1600200" y="5779008"/>
            <a:ext cx="9829800" cy="365760"/>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Use claim amount prediction as a supporting analytical tool for estimation and planning, with continuous validation against future outcomes.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17365D"/>
                </a:solidFill>
                <a:latin typeface="Cambria" pitchFamily="34" charset="0"/>
                <a:ea typeface="Cambria" pitchFamily="34" charset="-122"/>
                <a:cs typeface="Cambria" pitchFamily="34" charset="-120"/>
              </a:rPr>
              <a:t>Project Deliverables</a:t>
            </a:r>
            <a:endParaRPr lang="en-US" sz="3100" dirty="0"/>
          </a:p>
        </p:txBody>
      </p:sp>
      <p:sp>
        <p:nvSpPr>
          <p:cNvPr id="3" name="Text 1"/>
          <p:cNvSpPr txBox="1"/>
          <p:nvPr/>
        </p:nvSpPr>
        <p:spPr>
          <a:xfrm>
            <a:off x="530352" y="896112"/>
            <a:ext cx="1115568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All assignment components completed end to end</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30</a:t>
            </a:r>
            <a:endParaRPr lang="en-US" sz="1000" dirty="0"/>
          </a:p>
        </p:txBody>
      </p:sp>
      <p:sp>
        <p:nvSpPr>
          <p:cNvPr id="5" name="Shape 3"/>
          <p:cNvSpPr/>
          <p:nvPr/>
        </p:nvSpPr>
        <p:spPr>
          <a:xfrm>
            <a:off x="502920" y="1417320"/>
            <a:ext cx="5532120" cy="530352"/>
          </a:xfrm>
          <a:prstGeom prst="roundRect">
            <a:avLst>
              <a:gd name="adj" fmla="val 10345"/>
            </a:avLst>
          </a:prstGeom>
          <a:solidFill>
            <a:srgbClr val="FFFFFF"/>
          </a:solidFill>
          <a:ln w="9525">
            <a:solidFill>
              <a:srgbClr val="D6DEE8"/>
            </a:solidFill>
            <a:prstDash val="solid"/>
          </a:ln>
        </p:spPr>
      </p:sp>
      <p:sp>
        <p:nvSpPr>
          <p:cNvPr id="6" name="Shape 4"/>
          <p:cNvSpPr/>
          <p:nvPr/>
        </p:nvSpPr>
        <p:spPr>
          <a:xfrm>
            <a:off x="722376" y="1563624"/>
            <a:ext cx="237744" cy="237744"/>
          </a:xfrm>
          <a:prstGeom prst="ellipse">
            <a:avLst/>
          </a:prstGeom>
          <a:solidFill>
            <a:srgbClr val="008C95"/>
          </a:solidFill>
          <a:ln w="12700">
            <a:solidFill>
              <a:srgbClr val="008C95"/>
            </a:solidFill>
            <a:prstDash val="solid"/>
          </a:ln>
        </p:spPr>
      </p:sp>
      <p:sp>
        <p:nvSpPr>
          <p:cNvPr id="7" name="Text 5"/>
          <p:cNvSpPr txBox="1"/>
          <p:nvPr/>
        </p:nvSpPr>
        <p:spPr>
          <a:xfrm>
            <a:off x="722376" y="1563624"/>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8" name="Text 6"/>
          <p:cNvSpPr txBox="1"/>
          <p:nvPr/>
        </p:nvSpPr>
        <p:spPr>
          <a:xfrm>
            <a:off x="1106424" y="1417320"/>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Excel Data Profiling</a:t>
            </a:r>
            <a:endParaRPr lang="en-US" sz="1250" dirty="0"/>
          </a:p>
        </p:txBody>
      </p:sp>
      <p:sp>
        <p:nvSpPr>
          <p:cNvPr id="9" name="Text 7"/>
          <p:cNvSpPr txBox="1"/>
          <p:nvPr/>
        </p:nvSpPr>
        <p:spPr>
          <a:xfrm>
            <a:off x="4617720" y="1417320"/>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10" name="Shape 8"/>
          <p:cNvSpPr/>
          <p:nvPr/>
        </p:nvSpPr>
        <p:spPr>
          <a:xfrm>
            <a:off x="6199632" y="1417320"/>
            <a:ext cx="5532120" cy="530352"/>
          </a:xfrm>
          <a:prstGeom prst="roundRect">
            <a:avLst>
              <a:gd name="adj" fmla="val 10345"/>
            </a:avLst>
          </a:prstGeom>
          <a:solidFill>
            <a:srgbClr val="FFFFFF"/>
          </a:solidFill>
          <a:ln w="9525">
            <a:solidFill>
              <a:srgbClr val="D6DEE8"/>
            </a:solidFill>
            <a:prstDash val="solid"/>
          </a:ln>
        </p:spPr>
      </p:sp>
      <p:sp>
        <p:nvSpPr>
          <p:cNvPr id="11" name="Shape 9"/>
          <p:cNvSpPr/>
          <p:nvPr/>
        </p:nvSpPr>
        <p:spPr>
          <a:xfrm>
            <a:off x="6419088" y="1563624"/>
            <a:ext cx="237744" cy="237744"/>
          </a:xfrm>
          <a:prstGeom prst="ellipse">
            <a:avLst/>
          </a:prstGeom>
          <a:solidFill>
            <a:srgbClr val="008C95"/>
          </a:solidFill>
          <a:ln w="12700">
            <a:solidFill>
              <a:srgbClr val="008C95"/>
            </a:solidFill>
            <a:prstDash val="solid"/>
          </a:ln>
        </p:spPr>
      </p:sp>
      <p:sp>
        <p:nvSpPr>
          <p:cNvPr id="12" name="Text 10"/>
          <p:cNvSpPr txBox="1"/>
          <p:nvPr/>
        </p:nvSpPr>
        <p:spPr>
          <a:xfrm>
            <a:off x="6419088" y="1563624"/>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13" name="Text 11"/>
          <p:cNvSpPr txBox="1"/>
          <p:nvPr/>
        </p:nvSpPr>
        <p:spPr>
          <a:xfrm>
            <a:off x="6803136" y="1417320"/>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Excel Data Quality Analysis</a:t>
            </a:r>
            <a:endParaRPr lang="en-US" sz="1250" dirty="0"/>
          </a:p>
        </p:txBody>
      </p:sp>
      <p:sp>
        <p:nvSpPr>
          <p:cNvPr id="14" name="Text 12"/>
          <p:cNvSpPr txBox="1"/>
          <p:nvPr/>
        </p:nvSpPr>
        <p:spPr>
          <a:xfrm>
            <a:off x="10314432" y="1417320"/>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15" name="Shape 13"/>
          <p:cNvSpPr/>
          <p:nvPr/>
        </p:nvSpPr>
        <p:spPr>
          <a:xfrm>
            <a:off x="502920" y="2075688"/>
            <a:ext cx="5532120" cy="530352"/>
          </a:xfrm>
          <a:prstGeom prst="roundRect">
            <a:avLst>
              <a:gd name="adj" fmla="val 10345"/>
            </a:avLst>
          </a:prstGeom>
          <a:solidFill>
            <a:srgbClr val="FFFFFF"/>
          </a:solidFill>
          <a:ln w="9525">
            <a:solidFill>
              <a:srgbClr val="D6DEE8"/>
            </a:solidFill>
            <a:prstDash val="solid"/>
          </a:ln>
        </p:spPr>
      </p:sp>
      <p:sp>
        <p:nvSpPr>
          <p:cNvPr id="16" name="Shape 14"/>
          <p:cNvSpPr/>
          <p:nvPr/>
        </p:nvSpPr>
        <p:spPr>
          <a:xfrm>
            <a:off x="722376" y="2221992"/>
            <a:ext cx="237744" cy="237744"/>
          </a:xfrm>
          <a:prstGeom prst="ellipse">
            <a:avLst/>
          </a:prstGeom>
          <a:solidFill>
            <a:srgbClr val="008C95"/>
          </a:solidFill>
          <a:ln w="12700">
            <a:solidFill>
              <a:srgbClr val="008C95"/>
            </a:solidFill>
            <a:prstDash val="solid"/>
          </a:ln>
        </p:spPr>
      </p:sp>
      <p:sp>
        <p:nvSpPr>
          <p:cNvPr id="17" name="Text 15"/>
          <p:cNvSpPr txBox="1"/>
          <p:nvPr/>
        </p:nvSpPr>
        <p:spPr>
          <a:xfrm>
            <a:off x="722376" y="2221992"/>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18" name="Text 16"/>
          <p:cNvSpPr txBox="1"/>
          <p:nvPr/>
        </p:nvSpPr>
        <p:spPr>
          <a:xfrm>
            <a:off x="1106424" y="2075688"/>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Snowflake Setup</a:t>
            </a:r>
            <a:endParaRPr lang="en-US" sz="1250" dirty="0"/>
          </a:p>
        </p:txBody>
      </p:sp>
      <p:sp>
        <p:nvSpPr>
          <p:cNvPr id="19" name="Text 17"/>
          <p:cNvSpPr txBox="1"/>
          <p:nvPr/>
        </p:nvSpPr>
        <p:spPr>
          <a:xfrm>
            <a:off x="4617720" y="2075688"/>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20" name="Shape 18"/>
          <p:cNvSpPr/>
          <p:nvPr/>
        </p:nvSpPr>
        <p:spPr>
          <a:xfrm>
            <a:off x="6199632" y="2075688"/>
            <a:ext cx="5532120" cy="530352"/>
          </a:xfrm>
          <a:prstGeom prst="roundRect">
            <a:avLst>
              <a:gd name="adj" fmla="val 10345"/>
            </a:avLst>
          </a:prstGeom>
          <a:solidFill>
            <a:srgbClr val="FFFFFF"/>
          </a:solidFill>
          <a:ln w="9525">
            <a:solidFill>
              <a:srgbClr val="D6DEE8"/>
            </a:solidFill>
            <a:prstDash val="solid"/>
          </a:ln>
        </p:spPr>
      </p:sp>
      <p:sp>
        <p:nvSpPr>
          <p:cNvPr id="21" name="Shape 19"/>
          <p:cNvSpPr/>
          <p:nvPr/>
        </p:nvSpPr>
        <p:spPr>
          <a:xfrm>
            <a:off x="6419088" y="2221992"/>
            <a:ext cx="237744" cy="237744"/>
          </a:xfrm>
          <a:prstGeom prst="ellipse">
            <a:avLst/>
          </a:prstGeom>
          <a:solidFill>
            <a:srgbClr val="008C95"/>
          </a:solidFill>
          <a:ln w="12700">
            <a:solidFill>
              <a:srgbClr val="008C95"/>
            </a:solidFill>
            <a:prstDash val="solid"/>
          </a:ln>
        </p:spPr>
      </p:sp>
      <p:sp>
        <p:nvSpPr>
          <p:cNvPr id="22" name="Text 20"/>
          <p:cNvSpPr txBox="1"/>
          <p:nvPr/>
        </p:nvSpPr>
        <p:spPr>
          <a:xfrm>
            <a:off x="6419088" y="2221992"/>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23" name="Text 21"/>
          <p:cNvSpPr txBox="1"/>
          <p:nvPr/>
        </p:nvSpPr>
        <p:spPr>
          <a:xfrm>
            <a:off x="6803136" y="2075688"/>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SQL Data Cleaning</a:t>
            </a:r>
            <a:endParaRPr lang="en-US" sz="1250" dirty="0"/>
          </a:p>
        </p:txBody>
      </p:sp>
      <p:sp>
        <p:nvSpPr>
          <p:cNvPr id="24" name="Text 22"/>
          <p:cNvSpPr txBox="1"/>
          <p:nvPr/>
        </p:nvSpPr>
        <p:spPr>
          <a:xfrm>
            <a:off x="10314432" y="2075688"/>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25" name="Shape 23"/>
          <p:cNvSpPr/>
          <p:nvPr/>
        </p:nvSpPr>
        <p:spPr>
          <a:xfrm>
            <a:off x="502920" y="2734056"/>
            <a:ext cx="5532120" cy="530352"/>
          </a:xfrm>
          <a:prstGeom prst="roundRect">
            <a:avLst>
              <a:gd name="adj" fmla="val 10345"/>
            </a:avLst>
          </a:prstGeom>
          <a:solidFill>
            <a:srgbClr val="FFFFFF"/>
          </a:solidFill>
          <a:ln w="9525">
            <a:solidFill>
              <a:srgbClr val="D6DEE8"/>
            </a:solidFill>
            <a:prstDash val="solid"/>
          </a:ln>
        </p:spPr>
      </p:sp>
      <p:sp>
        <p:nvSpPr>
          <p:cNvPr id="26" name="Shape 24"/>
          <p:cNvSpPr/>
          <p:nvPr/>
        </p:nvSpPr>
        <p:spPr>
          <a:xfrm>
            <a:off x="722376" y="2880360"/>
            <a:ext cx="237744" cy="237744"/>
          </a:xfrm>
          <a:prstGeom prst="ellipse">
            <a:avLst/>
          </a:prstGeom>
          <a:solidFill>
            <a:srgbClr val="008C95"/>
          </a:solidFill>
          <a:ln w="12700">
            <a:solidFill>
              <a:srgbClr val="008C95"/>
            </a:solidFill>
            <a:prstDash val="solid"/>
          </a:ln>
        </p:spPr>
      </p:sp>
      <p:sp>
        <p:nvSpPr>
          <p:cNvPr id="27" name="Text 25"/>
          <p:cNvSpPr txBox="1"/>
          <p:nvPr/>
        </p:nvSpPr>
        <p:spPr>
          <a:xfrm>
            <a:off x="722376" y="2880360"/>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28" name="Text 26"/>
          <p:cNvSpPr txBox="1"/>
          <p:nvPr/>
        </p:nvSpPr>
        <p:spPr>
          <a:xfrm>
            <a:off x="1106424" y="2734056"/>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SQL Transformation</a:t>
            </a:r>
            <a:endParaRPr lang="en-US" sz="1250" dirty="0"/>
          </a:p>
        </p:txBody>
      </p:sp>
      <p:sp>
        <p:nvSpPr>
          <p:cNvPr id="29" name="Text 27"/>
          <p:cNvSpPr txBox="1"/>
          <p:nvPr/>
        </p:nvSpPr>
        <p:spPr>
          <a:xfrm>
            <a:off x="4617720" y="2734056"/>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30" name="Shape 28"/>
          <p:cNvSpPr/>
          <p:nvPr/>
        </p:nvSpPr>
        <p:spPr>
          <a:xfrm>
            <a:off x="6199632" y="2734056"/>
            <a:ext cx="5532120" cy="530352"/>
          </a:xfrm>
          <a:prstGeom prst="roundRect">
            <a:avLst>
              <a:gd name="adj" fmla="val 10345"/>
            </a:avLst>
          </a:prstGeom>
          <a:solidFill>
            <a:srgbClr val="FFFFFF"/>
          </a:solidFill>
          <a:ln w="9525">
            <a:solidFill>
              <a:srgbClr val="D6DEE8"/>
            </a:solidFill>
            <a:prstDash val="solid"/>
          </a:ln>
        </p:spPr>
      </p:sp>
      <p:sp>
        <p:nvSpPr>
          <p:cNvPr id="31" name="Shape 29"/>
          <p:cNvSpPr/>
          <p:nvPr/>
        </p:nvSpPr>
        <p:spPr>
          <a:xfrm>
            <a:off x="6419088" y="2880360"/>
            <a:ext cx="237744" cy="237744"/>
          </a:xfrm>
          <a:prstGeom prst="ellipse">
            <a:avLst/>
          </a:prstGeom>
          <a:solidFill>
            <a:srgbClr val="008C95"/>
          </a:solidFill>
          <a:ln w="12700">
            <a:solidFill>
              <a:srgbClr val="008C95"/>
            </a:solidFill>
            <a:prstDash val="solid"/>
          </a:ln>
        </p:spPr>
      </p:sp>
      <p:sp>
        <p:nvSpPr>
          <p:cNvPr id="32" name="Text 30"/>
          <p:cNvSpPr txBox="1"/>
          <p:nvPr/>
        </p:nvSpPr>
        <p:spPr>
          <a:xfrm>
            <a:off x="6419088" y="2880360"/>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33" name="Text 31"/>
          <p:cNvSpPr txBox="1"/>
          <p:nvPr/>
        </p:nvSpPr>
        <p:spPr>
          <a:xfrm>
            <a:off x="6803136" y="2734056"/>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SQL EDA</a:t>
            </a:r>
            <a:endParaRPr lang="en-US" sz="1250" dirty="0"/>
          </a:p>
        </p:txBody>
      </p:sp>
      <p:sp>
        <p:nvSpPr>
          <p:cNvPr id="34" name="Text 32"/>
          <p:cNvSpPr txBox="1"/>
          <p:nvPr/>
        </p:nvSpPr>
        <p:spPr>
          <a:xfrm>
            <a:off x="10314432" y="2734056"/>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35" name="Shape 33"/>
          <p:cNvSpPr/>
          <p:nvPr/>
        </p:nvSpPr>
        <p:spPr>
          <a:xfrm>
            <a:off x="502920" y="3392424"/>
            <a:ext cx="5532120" cy="530352"/>
          </a:xfrm>
          <a:prstGeom prst="roundRect">
            <a:avLst>
              <a:gd name="adj" fmla="val 10345"/>
            </a:avLst>
          </a:prstGeom>
          <a:solidFill>
            <a:srgbClr val="FFFFFF"/>
          </a:solidFill>
          <a:ln w="9525">
            <a:solidFill>
              <a:srgbClr val="D6DEE8"/>
            </a:solidFill>
            <a:prstDash val="solid"/>
          </a:ln>
        </p:spPr>
      </p:sp>
      <p:sp>
        <p:nvSpPr>
          <p:cNvPr id="36" name="Shape 34"/>
          <p:cNvSpPr/>
          <p:nvPr/>
        </p:nvSpPr>
        <p:spPr>
          <a:xfrm>
            <a:off x="722376" y="3538728"/>
            <a:ext cx="237744" cy="237744"/>
          </a:xfrm>
          <a:prstGeom prst="ellipse">
            <a:avLst/>
          </a:prstGeom>
          <a:solidFill>
            <a:srgbClr val="008C95"/>
          </a:solidFill>
          <a:ln w="12700">
            <a:solidFill>
              <a:srgbClr val="008C95"/>
            </a:solidFill>
            <a:prstDash val="solid"/>
          </a:ln>
        </p:spPr>
      </p:sp>
      <p:sp>
        <p:nvSpPr>
          <p:cNvPr id="37" name="Text 35"/>
          <p:cNvSpPr txBox="1"/>
          <p:nvPr/>
        </p:nvSpPr>
        <p:spPr>
          <a:xfrm>
            <a:off x="722376" y="3538728"/>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38" name="Text 36"/>
          <p:cNvSpPr txBox="1"/>
          <p:nvPr/>
        </p:nvSpPr>
        <p:spPr>
          <a:xfrm>
            <a:off x="1106424" y="3392424"/>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Analytical Views</a:t>
            </a:r>
            <a:endParaRPr lang="en-US" sz="1250" dirty="0"/>
          </a:p>
        </p:txBody>
      </p:sp>
      <p:sp>
        <p:nvSpPr>
          <p:cNvPr id="39" name="Text 37"/>
          <p:cNvSpPr txBox="1"/>
          <p:nvPr/>
        </p:nvSpPr>
        <p:spPr>
          <a:xfrm>
            <a:off x="4617720" y="3392424"/>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40" name="Shape 38"/>
          <p:cNvSpPr/>
          <p:nvPr/>
        </p:nvSpPr>
        <p:spPr>
          <a:xfrm>
            <a:off x="6199632" y="3392424"/>
            <a:ext cx="5532120" cy="530352"/>
          </a:xfrm>
          <a:prstGeom prst="roundRect">
            <a:avLst>
              <a:gd name="adj" fmla="val 10345"/>
            </a:avLst>
          </a:prstGeom>
          <a:solidFill>
            <a:srgbClr val="FFFFFF"/>
          </a:solidFill>
          <a:ln w="9525">
            <a:solidFill>
              <a:srgbClr val="D6DEE8"/>
            </a:solidFill>
            <a:prstDash val="solid"/>
          </a:ln>
        </p:spPr>
      </p:sp>
      <p:sp>
        <p:nvSpPr>
          <p:cNvPr id="41" name="Shape 39"/>
          <p:cNvSpPr/>
          <p:nvPr/>
        </p:nvSpPr>
        <p:spPr>
          <a:xfrm>
            <a:off x="6419088" y="3538728"/>
            <a:ext cx="237744" cy="237744"/>
          </a:xfrm>
          <a:prstGeom prst="ellipse">
            <a:avLst/>
          </a:prstGeom>
          <a:solidFill>
            <a:srgbClr val="008C95"/>
          </a:solidFill>
          <a:ln w="12700">
            <a:solidFill>
              <a:srgbClr val="008C95"/>
            </a:solidFill>
            <a:prstDash val="solid"/>
          </a:ln>
        </p:spPr>
      </p:sp>
      <p:sp>
        <p:nvSpPr>
          <p:cNvPr id="42" name="Text 40"/>
          <p:cNvSpPr txBox="1"/>
          <p:nvPr/>
        </p:nvSpPr>
        <p:spPr>
          <a:xfrm>
            <a:off x="6419088" y="3538728"/>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43" name="Text 41"/>
          <p:cNvSpPr txBox="1"/>
          <p:nvPr/>
        </p:nvSpPr>
        <p:spPr>
          <a:xfrm>
            <a:off x="6803136" y="3392424"/>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Python Analysis</a:t>
            </a:r>
            <a:endParaRPr lang="en-US" sz="1250" dirty="0"/>
          </a:p>
        </p:txBody>
      </p:sp>
      <p:sp>
        <p:nvSpPr>
          <p:cNvPr id="44" name="Text 42"/>
          <p:cNvSpPr txBox="1"/>
          <p:nvPr/>
        </p:nvSpPr>
        <p:spPr>
          <a:xfrm>
            <a:off x="10314432" y="3392424"/>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45" name="Shape 43"/>
          <p:cNvSpPr/>
          <p:nvPr/>
        </p:nvSpPr>
        <p:spPr>
          <a:xfrm>
            <a:off x="502920" y="4050792"/>
            <a:ext cx="5532120" cy="530352"/>
          </a:xfrm>
          <a:prstGeom prst="roundRect">
            <a:avLst>
              <a:gd name="adj" fmla="val 10345"/>
            </a:avLst>
          </a:prstGeom>
          <a:solidFill>
            <a:srgbClr val="FFFFFF"/>
          </a:solidFill>
          <a:ln w="9525">
            <a:solidFill>
              <a:srgbClr val="D6DEE8"/>
            </a:solidFill>
            <a:prstDash val="solid"/>
          </a:ln>
        </p:spPr>
      </p:sp>
      <p:sp>
        <p:nvSpPr>
          <p:cNvPr id="46" name="Shape 44"/>
          <p:cNvSpPr/>
          <p:nvPr/>
        </p:nvSpPr>
        <p:spPr>
          <a:xfrm>
            <a:off x="722376" y="4197096"/>
            <a:ext cx="237744" cy="237744"/>
          </a:xfrm>
          <a:prstGeom prst="ellipse">
            <a:avLst/>
          </a:prstGeom>
          <a:solidFill>
            <a:srgbClr val="008C95"/>
          </a:solidFill>
          <a:ln w="12700">
            <a:solidFill>
              <a:srgbClr val="008C95"/>
            </a:solidFill>
            <a:prstDash val="solid"/>
          </a:ln>
        </p:spPr>
      </p:sp>
      <p:sp>
        <p:nvSpPr>
          <p:cNvPr id="47" name="Text 45"/>
          <p:cNvSpPr txBox="1"/>
          <p:nvPr/>
        </p:nvSpPr>
        <p:spPr>
          <a:xfrm>
            <a:off x="722376" y="4197096"/>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48" name="Text 46"/>
          <p:cNvSpPr txBox="1"/>
          <p:nvPr/>
        </p:nvSpPr>
        <p:spPr>
          <a:xfrm>
            <a:off x="1106424" y="4050792"/>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Databricks Analysis</a:t>
            </a:r>
            <a:endParaRPr lang="en-US" sz="1250" dirty="0"/>
          </a:p>
        </p:txBody>
      </p:sp>
      <p:sp>
        <p:nvSpPr>
          <p:cNvPr id="49" name="Text 47"/>
          <p:cNvSpPr txBox="1"/>
          <p:nvPr/>
        </p:nvSpPr>
        <p:spPr>
          <a:xfrm>
            <a:off x="4617720" y="4050792"/>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50" name="Shape 48"/>
          <p:cNvSpPr/>
          <p:nvPr/>
        </p:nvSpPr>
        <p:spPr>
          <a:xfrm>
            <a:off x="6199632" y="4050792"/>
            <a:ext cx="5532120" cy="530352"/>
          </a:xfrm>
          <a:prstGeom prst="roundRect">
            <a:avLst>
              <a:gd name="adj" fmla="val 10345"/>
            </a:avLst>
          </a:prstGeom>
          <a:solidFill>
            <a:srgbClr val="FFFFFF"/>
          </a:solidFill>
          <a:ln w="9525">
            <a:solidFill>
              <a:srgbClr val="D6DEE8"/>
            </a:solidFill>
            <a:prstDash val="solid"/>
          </a:ln>
        </p:spPr>
      </p:sp>
      <p:sp>
        <p:nvSpPr>
          <p:cNvPr id="51" name="Shape 49"/>
          <p:cNvSpPr/>
          <p:nvPr/>
        </p:nvSpPr>
        <p:spPr>
          <a:xfrm>
            <a:off x="6419088" y="4197096"/>
            <a:ext cx="237744" cy="237744"/>
          </a:xfrm>
          <a:prstGeom prst="ellipse">
            <a:avLst/>
          </a:prstGeom>
          <a:solidFill>
            <a:srgbClr val="008C95"/>
          </a:solidFill>
          <a:ln w="12700">
            <a:solidFill>
              <a:srgbClr val="008C95"/>
            </a:solidFill>
            <a:prstDash val="solid"/>
          </a:ln>
        </p:spPr>
      </p:sp>
      <p:sp>
        <p:nvSpPr>
          <p:cNvPr id="52" name="Text 50"/>
          <p:cNvSpPr txBox="1"/>
          <p:nvPr/>
        </p:nvSpPr>
        <p:spPr>
          <a:xfrm>
            <a:off x="6419088" y="4197096"/>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53" name="Text 51"/>
          <p:cNvSpPr txBox="1"/>
          <p:nvPr/>
        </p:nvSpPr>
        <p:spPr>
          <a:xfrm>
            <a:off x="6803136" y="4050792"/>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Machine Learning</a:t>
            </a:r>
            <a:endParaRPr lang="en-US" sz="1250" dirty="0"/>
          </a:p>
        </p:txBody>
      </p:sp>
      <p:sp>
        <p:nvSpPr>
          <p:cNvPr id="54" name="Text 52"/>
          <p:cNvSpPr txBox="1"/>
          <p:nvPr/>
        </p:nvSpPr>
        <p:spPr>
          <a:xfrm>
            <a:off x="10314432" y="4050792"/>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55" name="Shape 53"/>
          <p:cNvSpPr/>
          <p:nvPr/>
        </p:nvSpPr>
        <p:spPr>
          <a:xfrm>
            <a:off x="502920" y="4709160"/>
            <a:ext cx="5532120" cy="530352"/>
          </a:xfrm>
          <a:prstGeom prst="roundRect">
            <a:avLst>
              <a:gd name="adj" fmla="val 10345"/>
            </a:avLst>
          </a:prstGeom>
          <a:solidFill>
            <a:srgbClr val="FFFFFF"/>
          </a:solidFill>
          <a:ln w="9525">
            <a:solidFill>
              <a:srgbClr val="D6DEE8"/>
            </a:solidFill>
            <a:prstDash val="solid"/>
          </a:ln>
        </p:spPr>
      </p:sp>
      <p:sp>
        <p:nvSpPr>
          <p:cNvPr id="56" name="Shape 54"/>
          <p:cNvSpPr/>
          <p:nvPr/>
        </p:nvSpPr>
        <p:spPr>
          <a:xfrm>
            <a:off x="722376" y="4855464"/>
            <a:ext cx="237744" cy="237744"/>
          </a:xfrm>
          <a:prstGeom prst="ellipse">
            <a:avLst/>
          </a:prstGeom>
          <a:solidFill>
            <a:srgbClr val="008C95"/>
          </a:solidFill>
          <a:ln w="12700">
            <a:solidFill>
              <a:srgbClr val="008C95"/>
            </a:solidFill>
            <a:prstDash val="solid"/>
          </a:ln>
        </p:spPr>
      </p:sp>
      <p:sp>
        <p:nvSpPr>
          <p:cNvPr id="57" name="Text 55"/>
          <p:cNvSpPr txBox="1"/>
          <p:nvPr/>
        </p:nvSpPr>
        <p:spPr>
          <a:xfrm>
            <a:off x="722376" y="4855464"/>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58" name="Text 56"/>
          <p:cNvSpPr txBox="1"/>
          <p:nvPr/>
        </p:nvSpPr>
        <p:spPr>
          <a:xfrm>
            <a:off x="1106424" y="4709160"/>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Power BI Dashboards</a:t>
            </a:r>
            <a:endParaRPr lang="en-US" sz="1250" dirty="0"/>
          </a:p>
        </p:txBody>
      </p:sp>
      <p:sp>
        <p:nvSpPr>
          <p:cNvPr id="59" name="Text 57"/>
          <p:cNvSpPr txBox="1"/>
          <p:nvPr/>
        </p:nvSpPr>
        <p:spPr>
          <a:xfrm>
            <a:off x="4617720" y="4709160"/>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60" name="Shape 58"/>
          <p:cNvSpPr/>
          <p:nvPr/>
        </p:nvSpPr>
        <p:spPr>
          <a:xfrm>
            <a:off x="6199632" y="4709160"/>
            <a:ext cx="5532120" cy="530352"/>
          </a:xfrm>
          <a:prstGeom prst="roundRect">
            <a:avLst>
              <a:gd name="adj" fmla="val 10345"/>
            </a:avLst>
          </a:prstGeom>
          <a:solidFill>
            <a:srgbClr val="FFFFFF"/>
          </a:solidFill>
          <a:ln w="9525">
            <a:solidFill>
              <a:srgbClr val="D6DEE8"/>
            </a:solidFill>
            <a:prstDash val="solid"/>
          </a:ln>
        </p:spPr>
      </p:sp>
      <p:sp>
        <p:nvSpPr>
          <p:cNvPr id="61" name="Shape 59"/>
          <p:cNvSpPr/>
          <p:nvPr/>
        </p:nvSpPr>
        <p:spPr>
          <a:xfrm>
            <a:off x="6419088" y="4855464"/>
            <a:ext cx="237744" cy="237744"/>
          </a:xfrm>
          <a:prstGeom prst="ellipse">
            <a:avLst/>
          </a:prstGeom>
          <a:solidFill>
            <a:srgbClr val="008C95"/>
          </a:solidFill>
          <a:ln w="12700">
            <a:solidFill>
              <a:srgbClr val="008C95"/>
            </a:solidFill>
            <a:prstDash val="solid"/>
          </a:ln>
        </p:spPr>
      </p:sp>
      <p:sp>
        <p:nvSpPr>
          <p:cNvPr id="62" name="Text 60"/>
          <p:cNvSpPr txBox="1"/>
          <p:nvPr/>
        </p:nvSpPr>
        <p:spPr>
          <a:xfrm>
            <a:off x="6419088" y="4855464"/>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63" name="Text 61"/>
          <p:cNvSpPr txBox="1"/>
          <p:nvPr/>
        </p:nvSpPr>
        <p:spPr>
          <a:xfrm>
            <a:off x="6803136" y="4709160"/>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Streamlit Application</a:t>
            </a:r>
            <a:endParaRPr lang="en-US" sz="1250" dirty="0"/>
          </a:p>
        </p:txBody>
      </p:sp>
      <p:sp>
        <p:nvSpPr>
          <p:cNvPr id="64" name="Text 62"/>
          <p:cNvSpPr txBox="1"/>
          <p:nvPr/>
        </p:nvSpPr>
        <p:spPr>
          <a:xfrm>
            <a:off x="10314432" y="4709160"/>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65" name="Shape 63"/>
          <p:cNvSpPr/>
          <p:nvPr/>
        </p:nvSpPr>
        <p:spPr>
          <a:xfrm>
            <a:off x="502920" y="5367528"/>
            <a:ext cx="5532120" cy="530352"/>
          </a:xfrm>
          <a:prstGeom prst="roundRect">
            <a:avLst>
              <a:gd name="adj" fmla="val 10345"/>
            </a:avLst>
          </a:prstGeom>
          <a:solidFill>
            <a:srgbClr val="FFFFFF"/>
          </a:solidFill>
          <a:ln w="9525">
            <a:solidFill>
              <a:srgbClr val="D6DEE8"/>
            </a:solidFill>
            <a:prstDash val="solid"/>
          </a:ln>
        </p:spPr>
      </p:sp>
      <p:sp>
        <p:nvSpPr>
          <p:cNvPr id="66" name="Shape 64"/>
          <p:cNvSpPr/>
          <p:nvPr/>
        </p:nvSpPr>
        <p:spPr>
          <a:xfrm>
            <a:off x="722376" y="5513832"/>
            <a:ext cx="237744" cy="237744"/>
          </a:xfrm>
          <a:prstGeom prst="ellipse">
            <a:avLst/>
          </a:prstGeom>
          <a:solidFill>
            <a:srgbClr val="008C95"/>
          </a:solidFill>
          <a:ln w="12700">
            <a:solidFill>
              <a:srgbClr val="008C95"/>
            </a:solidFill>
            <a:prstDash val="solid"/>
          </a:ln>
        </p:spPr>
      </p:sp>
      <p:sp>
        <p:nvSpPr>
          <p:cNvPr id="67" name="Text 65"/>
          <p:cNvSpPr txBox="1"/>
          <p:nvPr/>
        </p:nvSpPr>
        <p:spPr>
          <a:xfrm>
            <a:off x="722376" y="5513832"/>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68" name="Text 66"/>
          <p:cNvSpPr txBox="1"/>
          <p:nvPr/>
        </p:nvSpPr>
        <p:spPr>
          <a:xfrm>
            <a:off x="1106424" y="5367528"/>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Project Presentation</a:t>
            </a:r>
            <a:endParaRPr lang="en-US" sz="1250" dirty="0"/>
          </a:p>
        </p:txBody>
      </p:sp>
      <p:sp>
        <p:nvSpPr>
          <p:cNvPr id="69" name="Text 67"/>
          <p:cNvSpPr txBox="1"/>
          <p:nvPr/>
        </p:nvSpPr>
        <p:spPr>
          <a:xfrm>
            <a:off x="4617720" y="5367528"/>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
        <p:nvSpPr>
          <p:cNvPr id="70" name="Shape 68"/>
          <p:cNvSpPr/>
          <p:nvPr/>
        </p:nvSpPr>
        <p:spPr>
          <a:xfrm>
            <a:off x="6199632" y="5367528"/>
            <a:ext cx="5532120" cy="530352"/>
          </a:xfrm>
          <a:prstGeom prst="roundRect">
            <a:avLst>
              <a:gd name="adj" fmla="val 10345"/>
            </a:avLst>
          </a:prstGeom>
          <a:solidFill>
            <a:srgbClr val="FFFFFF"/>
          </a:solidFill>
          <a:ln w="9525">
            <a:solidFill>
              <a:srgbClr val="D6DEE8"/>
            </a:solidFill>
            <a:prstDash val="solid"/>
          </a:ln>
        </p:spPr>
      </p:sp>
      <p:sp>
        <p:nvSpPr>
          <p:cNvPr id="71" name="Shape 69"/>
          <p:cNvSpPr/>
          <p:nvPr/>
        </p:nvSpPr>
        <p:spPr>
          <a:xfrm>
            <a:off x="6419088" y="5513832"/>
            <a:ext cx="237744" cy="237744"/>
          </a:xfrm>
          <a:prstGeom prst="ellipse">
            <a:avLst/>
          </a:prstGeom>
          <a:solidFill>
            <a:srgbClr val="008C95"/>
          </a:solidFill>
          <a:ln w="12700">
            <a:solidFill>
              <a:srgbClr val="008C95"/>
            </a:solidFill>
            <a:prstDash val="solid"/>
          </a:ln>
        </p:spPr>
      </p:sp>
      <p:sp>
        <p:nvSpPr>
          <p:cNvPr id="72" name="Text 70"/>
          <p:cNvSpPr txBox="1"/>
          <p:nvPr/>
        </p:nvSpPr>
        <p:spPr>
          <a:xfrm>
            <a:off x="6419088" y="5513832"/>
            <a:ext cx="237744" cy="23774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73" name="Text 71"/>
          <p:cNvSpPr txBox="1"/>
          <p:nvPr/>
        </p:nvSpPr>
        <p:spPr>
          <a:xfrm>
            <a:off x="6803136" y="5367528"/>
            <a:ext cx="3566160" cy="530352"/>
          </a:xfrm>
          <a:prstGeom prst="rect">
            <a:avLst/>
          </a:prstGeom>
          <a:noFill/>
          <a:ln/>
        </p:spPr>
        <p:txBody>
          <a:bodyPr wrap="square" lIns="0" tIns="0" rIns="0" bIns="0" rtlCol="0" anchor="ctr"/>
          <a:lstStyle/>
          <a:p>
            <a:pPr marL="0" indent="0">
              <a:buNone/>
            </a:pPr>
            <a:r>
              <a:rPr lang="en-US" sz="1250" dirty="0">
                <a:solidFill>
                  <a:srgbClr val="2B3440"/>
                </a:solidFill>
                <a:latin typeface="Calibri" pitchFamily="34" charset="0"/>
                <a:ea typeface="Calibri" pitchFamily="34" charset="-122"/>
                <a:cs typeface="Calibri" pitchFamily="34" charset="-120"/>
              </a:rPr>
              <a:t>GitHub Repository</a:t>
            </a:r>
            <a:endParaRPr lang="en-US" sz="1250" dirty="0"/>
          </a:p>
        </p:txBody>
      </p:sp>
      <p:sp>
        <p:nvSpPr>
          <p:cNvPr id="74" name="Text 72"/>
          <p:cNvSpPr txBox="1"/>
          <p:nvPr/>
        </p:nvSpPr>
        <p:spPr>
          <a:xfrm>
            <a:off x="10314432" y="5367528"/>
            <a:ext cx="1234440" cy="530352"/>
          </a:xfrm>
          <a:prstGeom prst="rect">
            <a:avLst/>
          </a:prstGeom>
          <a:noFill/>
          <a:ln/>
        </p:spPr>
        <p:txBody>
          <a:bodyPr wrap="square" lIns="0" tIns="0" rIns="0" bIns="0" rtlCol="0" anchor="ctr"/>
          <a:lstStyle/>
          <a:p>
            <a:pPr marL="0" indent="0" algn="r">
              <a:buNone/>
            </a:pPr>
            <a:r>
              <a:rPr lang="en-US" sz="1050" b="1" dirty="0">
                <a:solidFill>
                  <a:srgbClr val="008C95"/>
                </a:solidFill>
                <a:latin typeface="Calibri" pitchFamily="34" charset="0"/>
                <a:ea typeface="Calibri" pitchFamily="34" charset="-122"/>
                <a:cs typeface="Calibri" pitchFamily="34" charset="-120"/>
              </a:rPr>
              <a:t>Completed</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bg>
      <p:bgPr>
        <a:solidFill>
          <a:srgbClr val="17365D"/>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3100" b="1" dirty="0">
                <a:solidFill>
                  <a:srgbClr val="FFFFFF"/>
                </a:solidFill>
                <a:latin typeface="Cambria" pitchFamily="34" charset="0"/>
                <a:ea typeface="Cambria" pitchFamily="34" charset="-122"/>
                <a:cs typeface="Cambria" pitchFamily="34" charset="-120"/>
              </a:rPr>
              <a:t>Conclusion</a:t>
            </a:r>
            <a:endParaRPr lang="en-US" sz="31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8FA6C4"/>
                </a:solidFill>
                <a:latin typeface="Calibri" pitchFamily="34" charset="0"/>
                <a:ea typeface="Calibri" pitchFamily="34" charset="-122"/>
                <a:cs typeface="Calibri" pitchFamily="34" charset="-120"/>
              </a:rPr>
              <a:t>31</a:t>
            </a:r>
            <a:endParaRPr lang="en-US" sz="1000" dirty="0"/>
          </a:p>
        </p:txBody>
      </p:sp>
      <p:sp>
        <p:nvSpPr>
          <p:cNvPr id="4" name="Shape 2"/>
          <p:cNvSpPr/>
          <p:nvPr/>
        </p:nvSpPr>
        <p:spPr>
          <a:xfrm>
            <a:off x="502920" y="1371600"/>
            <a:ext cx="11228832" cy="914400"/>
          </a:xfrm>
          <a:prstGeom prst="roundRect">
            <a:avLst>
              <a:gd name="adj" fmla="val 8000"/>
            </a:avLst>
          </a:prstGeom>
          <a:solidFill>
            <a:srgbClr val="1D4272"/>
          </a:solidFill>
          <a:ln w="12700">
            <a:solidFill>
              <a:srgbClr val="2E5C96"/>
            </a:solidFill>
            <a:prstDash val="solid"/>
          </a:ln>
        </p:spPr>
      </p:sp>
      <p:sp>
        <p:nvSpPr>
          <p:cNvPr id="5" name="Text 3"/>
          <p:cNvSpPr txBox="1"/>
          <p:nvPr/>
        </p:nvSpPr>
        <p:spPr>
          <a:xfrm>
            <a:off x="868680" y="1371600"/>
            <a:ext cx="10515600" cy="914400"/>
          </a:xfrm>
          <a:prstGeom prst="rect">
            <a:avLst/>
          </a:prstGeom>
          <a:noFill/>
          <a:ln/>
        </p:spPr>
        <p:txBody>
          <a:bodyPr wrap="square" lIns="0" tIns="0" rIns="0" bIns="0" rtlCol="0" anchor="ctr"/>
          <a:lstStyle/>
          <a:p>
            <a:pPr marL="0" indent="0">
              <a:lnSpc>
                <a:spcPts val="1900"/>
              </a:lnSpc>
              <a:buNone/>
            </a:pPr>
            <a:r>
              <a:rPr lang="en-US" sz="1300" dirty="0">
                <a:solidFill>
                  <a:srgbClr val="DCE9F7"/>
                </a:solidFill>
                <a:latin typeface="Calibri" pitchFamily="34" charset="0"/>
                <a:ea typeface="Calibri" pitchFamily="34" charset="-122"/>
                <a:cs typeface="Calibri" pitchFamily="34" charset="-120"/>
              </a:rPr>
              <a:t>This project demonstrates an end-to-end insurance claims analytics workflow, from raw data profiling and quality assessment through SQL-based data preparation, Python analysis, business intelligence and machine learning.</a:t>
            </a:r>
            <a:endParaRPr lang="en-US" sz="1300" dirty="0"/>
          </a:p>
        </p:txBody>
      </p:sp>
      <p:sp>
        <p:nvSpPr>
          <p:cNvPr id="6" name="Shape 4"/>
          <p:cNvSpPr/>
          <p:nvPr/>
        </p:nvSpPr>
        <p:spPr>
          <a:xfrm>
            <a:off x="502920" y="2404872"/>
            <a:ext cx="11228832" cy="914400"/>
          </a:xfrm>
          <a:prstGeom prst="roundRect">
            <a:avLst>
              <a:gd name="adj" fmla="val 8000"/>
            </a:avLst>
          </a:prstGeom>
          <a:solidFill>
            <a:srgbClr val="1D4272"/>
          </a:solidFill>
          <a:ln w="12700">
            <a:solidFill>
              <a:srgbClr val="2E5C96"/>
            </a:solidFill>
            <a:prstDash val="solid"/>
          </a:ln>
        </p:spPr>
      </p:sp>
      <p:sp>
        <p:nvSpPr>
          <p:cNvPr id="7" name="Text 5"/>
          <p:cNvSpPr txBox="1"/>
          <p:nvPr/>
        </p:nvSpPr>
        <p:spPr>
          <a:xfrm>
            <a:off x="868680" y="2404872"/>
            <a:ext cx="10515600" cy="914400"/>
          </a:xfrm>
          <a:prstGeom prst="rect">
            <a:avLst/>
          </a:prstGeom>
          <a:noFill/>
          <a:ln/>
        </p:spPr>
        <p:txBody>
          <a:bodyPr wrap="square" lIns="0" tIns="0" rIns="0" bIns="0" rtlCol="0" anchor="ctr"/>
          <a:lstStyle/>
          <a:p>
            <a:pPr marL="0" indent="0">
              <a:lnSpc>
                <a:spcPts val="1900"/>
              </a:lnSpc>
              <a:buNone/>
            </a:pPr>
            <a:r>
              <a:rPr lang="en-US" sz="1300" dirty="0">
                <a:solidFill>
                  <a:srgbClr val="DCE9F7"/>
                </a:solidFill>
                <a:latin typeface="Calibri" pitchFamily="34" charset="0"/>
                <a:ea typeface="Calibri" pitchFamily="34" charset="-122"/>
                <a:cs typeface="Calibri" pitchFamily="34" charset="-120"/>
              </a:rPr>
              <a:t>Raw claims data was transformed into a structured analytical dataset and delivered through Power BI and Streamlit.</a:t>
            </a:r>
            <a:endParaRPr lang="en-US" sz="1300" dirty="0"/>
          </a:p>
        </p:txBody>
      </p:sp>
      <p:sp>
        <p:nvSpPr>
          <p:cNvPr id="8" name="Shape 6"/>
          <p:cNvSpPr/>
          <p:nvPr/>
        </p:nvSpPr>
        <p:spPr>
          <a:xfrm>
            <a:off x="502920" y="3438144"/>
            <a:ext cx="11228832" cy="914400"/>
          </a:xfrm>
          <a:prstGeom prst="roundRect">
            <a:avLst>
              <a:gd name="adj" fmla="val 8000"/>
            </a:avLst>
          </a:prstGeom>
          <a:solidFill>
            <a:srgbClr val="1D4272"/>
          </a:solidFill>
          <a:ln w="12700">
            <a:solidFill>
              <a:srgbClr val="2E5C96"/>
            </a:solidFill>
            <a:prstDash val="solid"/>
          </a:ln>
        </p:spPr>
      </p:sp>
      <p:sp>
        <p:nvSpPr>
          <p:cNvPr id="9" name="Text 7"/>
          <p:cNvSpPr txBox="1"/>
          <p:nvPr/>
        </p:nvSpPr>
        <p:spPr>
          <a:xfrm>
            <a:off x="868680" y="3438144"/>
            <a:ext cx="10515600" cy="914400"/>
          </a:xfrm>
          <a:prstGeom prst="rect">
            <a:avLst/>
          </a:prstGeom>
          <a:noFill/>
          <a:ln/>
        </p:spPr>
        <p:txBody>
          <a:bodyPr wrap="square" lIns="0" tIns="0" rIns="0" bIns="0" rtlCol="0" anchor="ctr"/>
          <a:lstStyle/>
          <a:p>
            <a:pPr marL="0" indent="0">
              <a:lnSpc>
                <a:spcPts val="1900"/>
              </a:lnSpc>
              <a:buNone/>
            </a:pPr>
            <a:r>
              <a:rPr lang="en-US" sz="1300" dirty="0">
                <a:solidFill>
                  <a:srgbClr val="DCE9F7"/>
                </a:solidFill>
                <a:latin typeface="Calibri" pitchFamily="34" charset="0"/>
                <a:ea typeface="Calibri" pitchFamily="34" charset="-122"/>
                <a:cs typeface="Calibri" pitchFamily="34" charset="-120"/>
              </a:rPr>
              <a:t>The analysis provides visibility into claim exposure, insurance types, risk segments, incident severity, customer characteristics, reporting behaviour, agent and vendor activity, and claim amount prediction.</a:t>
            </a:r>
            <a:endParaRPr lang="en-US" sz="1300" dirty="0"/>
          </a:p>
        </p:txBody>
      </p:sp>
      <p:sp>
        <p:nvSpPr>
          <p:cNvPr id="10" name="Shape 8"/>
          <p:cNvSpPr/>
          <p:nvPr/>
        </p:nvSpPr>
        <p:spPr>
          <a:xfrm>
            <a:off x="502920" y="4471416"/>
            <a:ext cx="11228832" cy="914400"/>
          </a:xfrm>
          <a:prstGeom prst="roundRect">
            <a:avLst>
              <a:gd name="adj" fmla="val 8000"/>
            </a:avLst>
          </a:prstGeom>
          <a:solidFill>
            <a:srgbClr val="1D4272"/>
          </a:solidFill>
          <a:ln w="12700">
            <a:solidFill>
              <a:srgbClr val="2E5C96"/>
            </a:solidFill>
            <a:prstDash val="solid"/>
          </a:ln>
        </p:spPr>
      </p:sp>
      <p:sp>
        <p:nvSpPr>
          <p:cNvPr id="11" name="Text 9"/>
          <p:cNvSpPr txBox="1"/>
          <p:nvPr/>
        </p:nvSpPr>
        <p:spPr>
          <a:xfrm>
            <a:off x="868680" y="4471416"/>
            <a:ext cx="10515600" cy="914400"/>
          </a:xfrm>
          <a:prstGeom prst="rect">
            <a:avLst/>
          </a:prstGeom>
          <a:noFill/>
          <a:ln/>
        </p:spPr>
        <p:txBody>
          <a:bodyPr wrap="square" lIns="0" tIns="0" rIns="0" bIns="0" rtlCol="0" anchor="ctr"/>
          <a:lstStyle/>
          <a:p>
            <a:pPr marL="0" indent="0">
              <a:lnSpc>
                <a:spcPts val="1900"/>
              </a:lnSpc>
              <a:buNone/>
            </a:pPr>
            <a:r>
              <a:rPr lang="en-US" sz="1300" dirty="0">
                <a:solidFill>
                  <a:srgbClr val="DCE9F7"/>
                </a:solidFill>
                <a:latin typeface="Calibri" pitchFamily="34" charset="0"/>
                <a:ea typeface="Calibri" pitchFamily="34" charset="-122"/>
                <a:cs typeface="Calibri" pitchFamily="34" charset="-120"/>
              </a:rPr>
              <a:t>The final solution demonstrates how multiple data analytics tools work together to support a complete business analytics workflow.</a:t>
            </a:r>
            <a:endParaRPr lang="en-US" sz="1300" dirty="0"/>
          </a:p>
        </p:txBody>
      </p:sp>
      <p:sp>
        <p:nvSpPr>
          <p:cNvPr id="12" name="Shape 10"/>
          <p:cNvSpPr/>
          <p:nvPr/>
        </p:nvSpPr>
        <p:spPr>
          <a:xfrm>
            <a:off x="566928" y="5596128"/>
            <a:ext cx="1828800" cy="548640"/>
          </a:xfrm>
          <a:prstGeom prst="roundRect">
            <a:avLst>
              <a:gd name="adj" fmla="val 10000"/>
            </a:avLst>
          </a:prstGeom>
          <a:solidFill>
            <a:srgbClr val="2A5C96"/>
          </a:solidFill>
          <a:ln w="12700">
            <a:solidFill>
              <a:srgbClr val="2A5C96"/>
            </a:solidFill>
            <a:prstDash val="solid"/>
          </a:ln>
        </p:spPr>
      </p:sp>
      <p:sp>
        <p:nvSpPr>
          <p:cNvPr id="13" name="Text 11"/>
          <p:cNvSpPr txBox="1"/>
          <p:nvPr/>
        </p:nvSpPr>
        <p:spPr>
          <a:xfrm>
            <a:off x="566928" y="5596128"/>
            <a:ext cx="18288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Raw Data</a:t>
            </a:r>
            <a:endParaRPr lang="en-US" sz="1250" dirty="0"/>
          </a:p>
        </p:txBody>
      </p:sp>
      <p:sp>
        <p:nvSpPr>
          <p:cNvPr id="14" name="Shape 12"/>
          <p:cNvSpPr/>
          <p:nvPr/>
        </p:nvSpPr>
        <p:spPr>
          <a:xfrm>
            <a:off x="2450592" y="5870448"/>
            <a:ext cx="274320" cy="0"/>
          </a:xfrm>
          <a:prstGeom prst="line">
            <a:avLst/>
          </a:prstGeom>
          <a:noFill/>
          <a:ln w="22225">
            <a:solidFill>
              <a:srgbClr val="2F75B5"/>
            </a:solidFill>
            <a:prstDash val="solid"/>
            <a:tailEnd type="triangle"/>
          </a:ln>
        </p:spPr>
      </p:sp>
      <p:sp>
        <p:nvSpPr>
          <p:cNvPr id="15" name="Shape 13"/>
          <p:cNvSpPr/>
          <p:nvPr/>
        </p:nvSpPr>
        <p:spPr>
          <a:xfrm>
            <a:off x="2798064" y="5596128"/>
            <a:ext cx="1828800" cy="548640"/>
          </a:xfrm>
          <a:prstGeom prst="roundRect">
            <a:avLst>
              <a:gd name="adj" fmla="val 10000"/>
            </a:avLst>
          </a:prstGeom>
          <a:solidFill>
            <a:srgbClr val="2A5C96"/>
          </a:solidFill>
          <a:ln w="12700">
            <a:solidFill>
              <a:srgbClr val="2A5C96"/>
            </a:solidFill>
            <a:prstDash val="solid"/>
          </a:ln>
        </p:spPr>
      </p:sp>
      <p:sp>
        <p:nvSpPr>
          <p:cNvPr id="16" name="Text 14"/>
          <p:cNvSpPr txBox="1"/>
          <p:nvPr/>
        </p:nvSpPr>
        <p:spPr>
          <a:xfrm>
            <a:off x="2798064" y="5596128"/>
            <a:ext cx="18288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Clean Data</a:t>
            </a:r>
            <a:endParaRPr lang="en-US" sz="1250" dirty="0"/>
          </a:p>
        </p:txBody>
      </p:sp>
      <p:sp>
        <p:nvSpPr>
          <p:cNvPr id="17" name="Shape 15"/>
          <p:cNvSpPr/>
          <p:nvPr/>
        </p:nvSpPr>
        <p:spPr>
          <a:xfrm>
            <a:off x="4681728" y="5870448"/>
            <a:ext cx="274320" cy="0"/>
          </a:xfrm>
          <a:prstGeom prst="line">
            <a:avLst/>
          </a:prstGeom>
          <a:noFill/>
          <a:ln w="22225">
            <a:solidFill>
              <a:srgbClr val="2F75B5"/>
            </a:solidFill>
            <a:prstDash val="solid"/>
            <a:tailEnd type="triangle"/>
          </a:ln>
        </p:spPr>
      </p:sp>
      <p:sp>
        <p:nvSpPr>
          <p:cNvPr id="18" name="Shape 16"/>
          <p:cNvSpPr/>
          <p:nvPr/>
        </p:nvSpPr>
        <p:spPr>
          <a:xfrm>
            <a:off x="5029200" y="5596128"/>
            <a:ext cx="1828800" cy="548640"/>
          </a:xfrm>
          <a:prstGeom prst="roundRect">
            <a:avLst>
              <a:gd name="adj" fmla="val 10000"/>
            </a:avLst>
          </a:prstGeom>
          <a:solidFill>
            <a:srgbClr val="2A5C96"/>
          </a:solidFill>
          <a:ln w="12700">
            <a:solidFill>
              <a:srgbClr val="2A5C96"/>
            </a:solidFill>
            <a:prstDash val="solid"/>
          </a:ln>
        </p:spPr>
      </p:sp>
      <p:sp>
        <p:nvSpPr>
          <p:cNvPr id="19" name="Text 17"/>
          <p:cNvSpPr txBox="1"/>
          <p:nvPr/>
        </p:nvSpPr>
        <p:spPr>
          <a:xfrm>
            <a:off x="5029200" y="5596128"/>
            <a:ext cx="18288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Analysis</a:t>
            </a:r>
            <a:endParaRPr lang="en-US" sz="1250" dirty="0"/>
          </a:p>
        </p:txBody>
      </p:sp>
      <p:sp>
        <p:nvSpPr>
          <p:cNvPr id="20" name="Shape 18"/>
          <p:cNvSpPr/>
          <p:nvPr/>
        </p:nvSpPr>
        <p:spPr>
          <a:xfrm>
            <a:off x="6912864" y="5870448"/>
            <a:ext cx="274320" cy="0"/>
          </a:xfrm>
          <a:prstGeom prst="line">
            <a:avLst/>
          </a:prstGeom>
          <a:noFill/>
          <a:ln w="22225">
            <a:solidFill>
              <a:srgbClr val="2F75B5"/>
            </a:solidFill>
            <a:prstDash val="solid"/>
            <a:tailEnd type="triangle"/>
          </a:ln>
        </p:spPr>
      </p:sp>
      <p:sp>
        <p:nvSpPr>
          <p:cNvPr id="21" name="Shape 19"/>
          <p:cNvSpPr/>
          <p:nvPr/>
        </p:nvSpPr>
        <p:spPr>
          <a:xfrm>
            <a:off x="7260336" y="5596128"/>
            <a:ext cx="1828800" cy="548640"/>
          </a:xfrm>
          <a:prstGeom prst="roundRect">
            <a:avLst>
              <a:gd name="adj" fmla="val 10000"/>
            </a:avLst>
          </a:prstGeom>
          <a:solidFill>
            <a:srgbClr val="2A5C96"/>
          </a:solidFill>
          <a:ln w="12700">
            <a:solidFill>
              <a:srgbClr val="2A5C96"/>
            </a:solidFill>
            <a:prstDash val="solid"/>
          </a:ln>
        </p:spPr>
      </p:sp>
      <p:sp>
        <p:nvSpPr>
          <p:cNvPr id="22" name="Text 20"/>
          <p:cNvSpPr txBox="1"/>
          <p:nvPr/>
        </p:nvSpPr>
        <p:spPr>
          <a:xfrm>
            <a:off x="7260336" y="5596128"/>
            <a:ext cx="182880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Insights</a:t>
            </a:r>
            <a:endParaRPr lang="en-US" sz="1250" dirty="0"/>
          </a:p>
        </p:txBody>
      </p:sp>
      <p:sp>
        <p:nvSpPr>
          <p:cNvPr id="23" name="Shape 21"/>
          <p:cNvSpPr/>
          <p:nvPr/>
        </p:nvSpPr>
        <p:spPr>
          <a:xfrm>
            <a:off x="9144000" y="5870448"/>
            <a:ext cx="274320" cy="0"/>
          </a:xfrm>
          <a:prstGeom prst="line">
            <a:avLst/>
          </a:prstGeom>
          <a:noFill/>
          <a:ln w="22225">
            <a:solidFill>
              <a:srgbClr val="2F75B5"/>
            </a:solidFill>
            <a:prstDash val="solid"/>
            <a:tailEnd type="triangle"/>
          </a:ln>
        </p:spPr>
      </p:sp>
      <p:sp>
        <p:nvSpPr>
          <p:cNvPr id="24" name="Shape 22"/>
          <p:cNvSpPr/>
          <p:nvPr/>
        </p:nvSpPr>
        <p:spPr>
          <a:xfrm>
            <a:off x="9491472" y="5596128"/>
            <a:ext cx="2377440" cy="548640"/>
          </a:xfrm>
          <a:prstGeom prst="roundRect">
            <a:avLst>
              <a:gd name="adj" fmla="val 10000"/>
            </a:avLst>
          </a:prstGeom>
          <a:solidFill>
            <a:srgbClr val="008C95"/>
          </a:solidFill>
          <a:ln w="12700">
            <a:solidFill>
              <a:srgbClr val="008C95"/>
            </a:solidFill>
            <a:prstDash val="solid"/>
          </a:ln>
        </p:spPr>
      </p:sp>
      <p:sp>
        <p:nvSpPr>
          <p:cNvPr id="25" name="Text 23"/>
          <p:cNvSpPr txBox="1"/>
          <p:nvPr/>
        </p:nvSpPr>
        <p:spPr>
          <a:xfrm>
            <a:off x="9491472" y="5596128"/>
            <a:ext cx="237744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Business Decisions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17365D"/>
        </a:solidFill>
        <a:effectLst/>
      </p:bgPr>
    </p:bg>
    <p:spTree>
      <p:nvGrpSpPr>
        <p:cNvPr id="1" name=""/>
        <p:cNvGrpSpPr/>
        <p:nvPr/>
      </p:nvGrpSpPr>
      <p:grpSpPr>
        <a:xfrm>
          <a:off x="0" y="0"/>
          <a:ext cx="0" cy="0"/>
          <a:chOff x="0" y="0"/>
          <a:chExt cx="0" cy="0"/>
        </a:xfrm>
      </p:grpSpPr>
      <p:sp>
        <p:nvSpPr>
          <p:cNvPr id="2" name="Text 0"/>
          <p:cNvSpPr txBox="1"/>
          <p:nvPr/>
        </p:nvSpPr>
        <p:spPr>
          <a:xfrm>
            <a:off x="914400" y="2310259"/>
            <a:ext cx="10332720" cy="1005840"/>
          </a:xfrm>
          <a:prstGeom prst="rect">
            <a:avLst/>
          </a:prstGeom>
          <a:noFill/>
          <a:ln/>
        </p:spPr>
        <p:txBody>
          <a:bodyPr wrap="square" lIns="0" tIns="0" rIns="0" bIns="0" rtlCol="0" anchor="ctr"/>
          <a:lstStyle/>
          <a:p>
            <a:pPr marL="0" indent="0" algn="ctr">
              <a:buNone/>
            </a:pPr>
            <a:r>
              <a:rPr lang="en-US" sz="5200" b="1" kern="0" spc="300" dirty="0">
                <a:solidFill>
                  <a:srgbClr val="FFFFFF"/>
                </a:solidFill>
                <a:latin typeface="Cambria" pitchFamily="34" charset="0"/>
                <a:ea typeface="Cambria" pitchFamily="34" charset="-122"/>
                <a:cs typeface="Cambria" pitchFamily="34" charset="-120"/>
              </a:rPr>
              <a:t>THANK YOU</a:t>
            </a:r>
            <a:endParaRPr lang="en-US" sz="5200" dirty="0"/>
          </a:p>
        </p:txBody>
      </p:sp>
      <p:sp>
        <p:nvSpPr>
          <p:cNvPr id="4" name="Shape 2"/>
          <p:cNvSpPr/>
          <p:nvPr/>
        </p:nvSpPr>
        <p:spPr>
          <a:xfrm>
            <a:off x="4160831" y="3429000"/>
            <a:ext cx="3870338" cy="0"/>
          </a:xfrm>
          <a:prstGeom prst="line">
            <a:avLst/>
          </a:prstGeom>
          <a:noFill/>
          <a:ln w="19050">
            <a:solidFill>
              <a:srgbClr val="008C95"/>
            </a:solidFill>
            <a:prstDash val="solid"/>
          </a:ln>
        </p:spPr>
      </p:sp>
      <p:sp>
        <p:nvSpPr>
          <p:cNvPr id="5" name="Text 3"/>
          <p:cNvSpPr txBox="1"/>
          <p:nvPr/>
        </p:nvSpPr>
        <p:spPr>
          <a:xfrm>
            <a:off x="914400" y="3977640"/>
            <a:ext cx="10332720" cy="365760"/>
          </a:xfrm>
          <a:prstGeom prst="rect">
            <a:avLst/>
          </a:prstGeom>
          <a:noFill/>
          <a:ln/>
        </p:spPr>
        <p:txBody>
          <a:bodyPr wrap="square" lIns="0" tIns="0" rIns="0" bIns="0" rtlCol="0" anchor="ctr"/>
          <a:lstStyle/>
          <a:p>
            <a:pPr marL="0" indent="0" algn="ctr">
              <a:buNone/>
            </a:pP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2700" b="1" dirty="0">
                <a:solidFill>
                  <a:srgbClr val="17365D"/>
                </a:solidFill>
                <a:latin typeface="Cambria" pitchFamily="34" charset="0"/>
                <a:ea typeface="Cambria" pitchFamily="34" charset="-122"/>
                <a:cs typeface="Cambria" pitchFamily="34" charset="-120"/>
              </a:rPr>
              <a:t>Appendix A — Insurance Data Dictionary</a:t>
            </a:r>
            <a:endParaRPr lang="en-US" sz="2700" dirty="0"/>
          </a:p>
        </p:txBody>
      </p:sp>
      <p:sp>
        <p:nvSpPr>
          <p:cNvPr id="3" name="Text 1"/>
          <p:cNvSpPr txBox="1"/>
          <p:nvPr/>
        </p:nvSpPr>
        <p:spPr>
          <a:xfrm>
            <a:off x="530352" y="896112"/>
            <a:ext cx="1115568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Key insurance fields with business meaning and data type</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32</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5486400" cy="3566160"/>
        </p:xfrm>
        <a:graphic>
          <a:graphicData uri="http://schemas.openxmlformats.org/drawingml/2006/table">
            <a:tbl>
              <a:tblPr/>
              <a:tblGrid>
                <a:gridCol w="214884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27432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Field</a:t>
                      </a:r>
                      <a:endParaRPr lang="en-US" sz="10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Business Meaning</a:t>
                      </a:r>
                      <a:endParaRPr lang="en-US" sz="10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Type</a:t>
                      </a:r>
                      <a:endParaRPr lang="en-US" sz="10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TRANSACTION_ID</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Unique claim transaction 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CUSTOMER_ID</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Customer 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POLICY_NUMBER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Policy 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TXN_DATE_TIME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Transaction timestamp</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Date/Time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POLICY_EFF_DT</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Policy effective date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LOSS_DT</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Date of loss</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REPORT_DT</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Date of reporting</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INSURANCE_TYPE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Insurance category</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CLAIM_AMOUNT</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Claim amount</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Numeric</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PREMIUM</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Premium amount</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Numeric</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AGE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Customer age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Numeric</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Customer / policy tenure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Numeric</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199632" y="1371600"/>
          <a:ext cx="5486400" cy="3291840"/>
        </p:xfrm>
        <a:graphic>
          <a:graphicData uri="http://schemas.openxmlformats.org/drawingml/2006/table">
            <a:tbl>
              <a:tblPr/>
              <a:tblGrid>
                <a:gridCol w="214884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27432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Field</a:t>
                      </a:r>
                      <a:endParaRPr lang="en-US" sz="10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Business Meaning</a:t>
                      </a:r>
                      <a:endParaRPr lang="en-US" sz="10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Type</a:t>
                      </a:r>
                      <a:endParaRPr lang="en-US" sz="10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17365D"/>
                    </a:solidFill>
                  </a:tcPr>
                </a:tc>
                <a:extLst>
                  <a:ext uri="{0D108BD9-81ED-4DB2-BD59-A6C34878D82A}">
                    <a16:rowId xmlns:a16="http://schemas.microsoft.com/office/drawing/2014/main" val="10000"/>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RISK_SEGMENTATION</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Risk category</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INCIDENT_SEVERITY</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Incident severity category</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ANY_INJURY</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Injury indicator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POLICE_REPORT_AVAILABLE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Police report indicator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AGENT_ID</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Agent 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VENDOR_ID</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Vendor 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Identifier</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MARITAL_STATUS</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Marital status</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EMPLOYMENT_STATUS</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Employment status</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HOUSE_TYPE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House type</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SOCIAL_CLASS</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Social class</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buNone/>
                      </a:pPr>
                      <a:r>
                        <a:rPr lang="en-US" sz="900" b="1" dirty="0">
                          <a:solidFill>
                            <a:srgbClr val="17365D"/>
                          </a:solidFill>
                          <a:latin typeface="Calibri" pitchFamily="34" charset="0"/>
                          <a:ea typeface="Calibri" pitchFamily="34" charset="-122"/>
                          <a:cs typeface="Calibri" pitchFamily="34" charset="-120"/>
                        </a:rPr>
                        <a:t>CUSTOMER_EDUCATION_LEVEL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2B3440"/>
                          </a:solidFill>
                          <a:latin typeface="Calibri" pitchFamily="34" charset="0"/>
                          <a:ea typeface="Calibri" pitchFamily="34" charset="-122"/>
                          <a:cs typeface="Calibri" pitchFamily="34" charset="-120"/>
                        </a:rPr>
                        <a:t>Education level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tc>
                  <a:txBody>
                    <a:bodyPr/>
                    <a:lstStyle/>
                    <a:p>
                      <a:pPr marL="0" indent="0">
                        <a:buNone/>
                      </a:pPr>
                      <a:r>
                        <a:rPr lang="en-US" sz="900" dirty="0">
                          <a:solidFill>
                            <a:srgbClr val="6B7684"/>
                          </a:solidFill>
                          <a:latin typeface="Calibri" pitchFamily="34" charset="0"/>
                          <a:ea typeface="Calibri" pitchFamily="34" charset="-122"/>
                          <a:cs typeface="Calibri" pitchFamily="34" charset="-120"/>
                        </a:rPr>
                        <a:t>Categorical</a:t>
                      </a:r>
                      <a:endParaRPr lang="en-US" sz="900" dirty="0">
                        <a:latin typeface="Calibri" charset="0"/>
                        <a:ea typeface="Calibri" charset="0"/>
                        <a:cs typeface="Calibri" charset="0"/>
                      </a:endParaRPr>
                    </a:p>
                  </a:txBody>
                  <a:tcPr anchor="ctr">
                    <a:lnL w="7620" cap="flat" cmpd="sng" algn="ctr">
                      <a:solidFill>
                        <a:srgbClr val="D6DEE8"/>
                      </a:solidFill>
                      <a:prstDash val="solid"/>
                      <a:round/>
                      <a:headEnd type="none" w="med" len="med"/>
                      <a:tailEnd type="none" w="med" len="med"/>
                    </a:lnL>
                    <a:lnR w="7620" cap="flat" cmpd="sng" algn="ctr">
                      <a:solidFill>
                        <a:srgbClr val="D6DEE8"/>
                      </a:solidFill>
                      <a:prstDash val="solid"/>
                      <a:round/>
                      <a:headEnd type="none" w="med" len="med"/>
                      <a:tailEnd type="none" w="med" len="med"/>
                    </a:lnR>
                    <a:lnT w="7620" cap="flat" cmpd="sng" algn="ctr">
                      <a:solidFill>
                        <a:srgbClr val="D6DEE8"/>
                      </a:solidFill>
                      <a:prstDash val="solid"/>
                      <a:round/>
                      <a:headEnd type="none" w="med" len="med"/>
                      <a:tailEnd type="none" w="med" len="med"/>
                    </a:lnT>
                    <a:lnB w="7620" cap="flat" cmpd="sng" algn="ctr">
                      <a:solidFill>
                        <a:srgbClr val="D6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6">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2700" b="1" dirty="0">
                <a:solidFill>
                  <a:srgbClr val="17365D"/>
                </a:solidFill>
                <a:latin typeface="Cambria" pitchFamily="34" charset="0"/>
                <a:ea typeface="Cambria" pitchFamily="34" charset="-122"/>
                <a:cs typeface="Cambria" pitchFamily="34" charset="-120"/>
              </a:rPr>
              <a:t>Appendix B — Derived Analytical Fields</a:t>
            </a:r>
            <a:endParaRPr lang="en-US" sz="2700" dirty="0"/>
          </a:p>
        </p:txBody>
      </p:sp>
      <p:sp>
        <p:nvSpPr>
          <p:cNvPr id="3" name="Text 1"/>
          <p:cNvSpPr txBox="1"/>
          <p:nvPr/>
        </p:nvSpPr>
        <p:spPr>
          <a:xfrm>
            <a:off x="530352" y="896112"/>
            <a:ext cx="1115568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Fields engineered during SQL transformation</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33</a:t>
            </a:r>
            <a:endParaRPr lang="en-US" sz="1000" dirty="0"/>
          </a:p>
        </p:txBody>
      </p:sp>
      <p:sp>
        <p:nvSpPr>
          <p:cNvPr id="5" name="Shape 3"/>
          <p:cNvSpPr/>
          <p:nvPr/>
        </p:nvSpPr>
        <p:spPr>
          <a:xfrm>
            <a:off x="502920" y="1463040"/>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6" name="Shape 4"/>
          <p:cNvSpPr/>
          <p:nvPr/>
        </p:nvSpPr>
        <p:spPr>
          <a:xfrm>
            <a:off x="704088" y="1664208"/>
            <a:ext cx="384048" cy="384048"/>
          </a:xfrm>
          <a:prstGeom prst="roundRect">
            <a:avLst>
              <a:gd name="adj" fmla="val 11905"/>
            </a:avLst>
          </a:prstGeom>
          <a:solidFill>
            <a:srgbClr val="2F75B5"/>
          </a:solidFill>
          <a:ln w="12700">
            <a:solidFill>
              <a:srgbClr val="2F75B5"/>
            </a:solidFill>
            <a:prstDash val="solid"/>
          </a:ln>
        </p:spPr>
      </p:sp>
      <p:sp>
        <p:nvSpPr>
          <p:cNvPr id="7" name="Text 5"/>
          <p:cNvSpPr txBox="1"/>
          <p:nvPr/>
        </p:nvSpPr>
        <p:spPr>
          <a:xfrm>
            <a:off x="704088" y="1664208"/>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234440" y="1581912"/>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REPORTING_DELAY_DAYS</a:t>
            </a:r>
            <a:endParaRPr lang="en-US" sz="1250" dirty="0"/>
          </a:p>
        </p:txBody>
      </p:sp>
      <p:sp>
        <p:nvSpPr>
          <p:cNvPr id="9" name="Text 7"/>
          <p:cNvSpPr txBox="1"/>
          <p:nvPr/>
        </p:nvSpPr>
        <p:spPr>
          <a:xfrm>
            <a:off x="1234440" y="1874520"/>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Days between loss date and report date</a:t>
            </a:r>
            <a:endParaRPr lang="en-US" sz="1100" dirty="0"/>
          </a:p>
        </p:txBody>
      </p:sp>
      <p:sp>
        <p:nvSpPr>
          <p:cNvPr id="10" name="Shape 8"/>
          <p:cNvSpPr/>
          <p:nvPr/>
        </p:nvSpPr>
        <p:spPr>
          <a:xfrm>
            <a:off x="6199632" y="1463040"/>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1" name="Shape 9"/>
          <p:cNvSpPr/>
          <p:nvPr/>
        </p:nvSpPr>
        <p:spPr>
          <a:xfrm>
            <a:off x="6400800" y="1664208"/>
            <a:ext cx="384048" cy="384048"/>
          </a:xfrm>
          <a:prstGeom prst="roundRect">
            <a:avLst>
              <a:gd name="adj" fmla="val 11905"/>
            </a:avLst>
          </a:prstGeom>
          <a:solidFill>
            <a:srgbClr val="008C95"/>
          </a:solidFill>
          <a:ln w="12700">
            <a:solidFill>
              <a:srgbClr val="008C95"/>
            </a:solidFill>
            <a:prstDash val="solid"/>
          </a:ln>
        </p:spPr>
      </p:sp>
      <p:sp>
        <p:nvSpPr>
          <p:cNvPr id="12" name="Text 10"/>
          <p:cNvSpPr txBox="1"/>
          <p:nvPr/>
        </p:nvSpPr>
        <p:spPr>
          <a:xfrm>
            <a:off x="6400800" y="1664208"/>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3" name="Text 11"/>
          <p:cNvSpPr txBox="1"/>
          <p:nvPr/>
        </p:nvSpPr>
        <p:spPr>
          <a:xfrm>
            <a:off x="6931152" y="1581912"/>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CLAIM_TO_PREMIUM_RATIO</a:t>
            </a:r>
            <a:endParaRPr lang="en-US" sz="1250" dirty="0"/>
          </a:p>
        </p:txBody>
      </p:sp>
      <p:sp>
        <p:nvSpPr>
          <p:cNvPr id="14" name="Text 12"/>
          <p:cNvSpPr txBox="1"/>
          <p:nvPr/>
        </p:nvSpPr>
        <p:spPr>
          <a:xfrm>
            <a:off x="6931152" y="1874520"/>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Claim amount relative to premium</a:t>
            </a:r>
            <a:endParaRPr lang="en-US" sz="1100" dirty="0"/>
          </a:p>
        </p:txBody>
      </p:sp>
      <p:sp>
        <p:nvSpPr>
          <p:cNvPr id="15" name="Shape 13"/>
          <p:cNvSpPr/>
          <p:nvPr/>
        </p:nvSpPr>
        <p:spPr>
          <a:xfrm>
            <a:off x="502920" y="2395728"/>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6" name="Shape 14"/>
          <p:cNvSpPr/>
          <p:nvPr/>
        </p:nvSpPr>
        <p:spPr>
          <a:xfrm>
            <a:off x="704088" y="2596896"/>
            <a:ext cx="384048" cy="384048"/>
          </a:xfrm>
          <a:prstGeom prst="roundRect">
            <a:avLst>
              <a:gd name="adj" fmla="val 11905"/>
            </a:avLst>
          </a:prstGeom>
          <a:solidFill>
            <a:srgbClr val="2F75B5"/>
          </a:solidFill>
          <a:ln w="12700">
            <a:solidFill>
              <a:srgbClr val="2F75B5"/>
            </a:solidFill>
            <a:prstDash val="solid"/>
          </a:ln>
        </p:spPr>
      </p:sp>
      <p:sp>
        <p:nvSpPr>
          <p:cNvPr id="17" name="Text 15"/>
          <p:cNvSpPr txBox="1"/>
          <p:nvPr/>
        </p:nvSpPr>
        <p:spPr>
          <a:xfrm>
            <a:off x="704088" y="2596896"/>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8" name="Text 16"/>
          <p:cNvSpPr txBox="1"/>
          <p:nvPr/>
        </p:nvSpPr>
        <p:spPr>
          <a:xfrm>
            <a:off x="1234440" y="2514600"/>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AGE_GROUP</a:t>
            </a:r>
            <a:endParaRPr lang="en-US" sz="1250" dirty="0"/>
          </a:p>
        </p:txBody>
      </p:sp>
      <p:sp>
        <p:nvSpPr>
          <p:cNvPr id="19" name="Text 17"/>
          <p:cNvSpPr txBox="1"/>
          <p:nvPr/>
        </p:nvSpPr>
        <p:spPr>
          <a:xfrm>
            <a:off x="1234440" y="2807208"/>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Customer age grouping</a:t>
            </a:r>
            <a:endParaRPr lang="en-US" sz="1100" dirty="0"/>
          </a:p>
        </p:txBody>
      </p:sp>
      <p:sp>
        <p:nvSpPr>
          <p:cNvPr id="20" name="Shape 18"/>
          <p:cNvSpPr/>
          <p:nvPr/>
        </p:nvSpPr>
        <p:spPr>
          <a:xfrm>
            <a:off x="6199632" y="2395728"/>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1" name="Shape 19"/>
          <p:cNvSpPr/>
          <p:nvPr/>
        </p:nvSpPr>
        <p:spPr>
          <a:xfrm>
            <a:off x="6400800" y="2596896"/>
            <a:ext cx="384048" cy="384048"/>
          </a:xfrm>
          <a:prstGeom prst="roundRect">
            <a:avLst>
              <a:gd name="adj" fmla="val 11905"/>
            </a:avLst>
          </a:prstGeom>
          <a:solidFill>
            <a:srgbClr val="008C95"/>
          </a:solidFill>
          <a:ln w="12700">
            <a:solidFill>
              <a:srgbClr val="008C95"/>
            </a:solidFill>
            <a:prstDash val="solid"/>
          </a:ln>
        </p:spPr>
      </p:sp>
      <p:sp>
        <p:nvSpPr>
          <p:cNvPr id="22" name="Text 20"/>
          <p:cNvSpPr txBox="1"/>
          <p:nvPr/>
        </p:nvSpPr>
        <p:spPr>
          <a:xfrm>
            <a:off x="6400800" y="2596896"/>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3" name="Text 21"/>
          <p:cNvSpPr txBox="1"/>
          <p:nvPr/>
        </p:nvSpPr>
        <p:spPr>
          <a:xfrm>
            <a:off x="6931152" y="2514600"/>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TENURE_GROUP</a:t>
            </a:r>
            <a:endParaRPr lang="en-US" sz="1250" dirty="0"/>
          </a:p>
        </p:txBody>
      </p:sp>
      <p:sp>
        <p:nvSpPr>
          <p:cNvPr id="24" name="Text 22"/>
          <p:cNvSpPr txBox="1"/>
          <p:nvPr/>
        </p:nvSpPr>
        <p:spPr>
          <a:xfrm>
            <a:off x="6931152" y="2807208"/>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Tenure grouping</a:t>
            </a:r>
            <a:endParaRPr lang="en-US" sz="1100" dirty="0"/>
          </a:p>
        </p:txBody>
      </p:sp>
      <p:sp>
        <p:nvSpPr>
          <p:cNvPr id="25" name="Shape 23"/>
          <p:cNvSpPr/>
          <p:nvPr/>
        </p:nvSpPr>
        <p:spPr>
          <a:xfrm>
            <a:off x="502920" y="3328416"/>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6" name="Shape 24"/>
          <p:cNvSpPr/>
          <p:nvPr/>
        </p:nvSpPr>
        <p:spPr>
          <a:xfrm>
            <a:off x="704088" y="3529584"/>
            <a:ext cx="384048" cy="384048"/>
          </a:xfrm>
          <a:prstGeom prst="roundRect">
            <a:avLst>
              <a:gd name="adj" fmla="val 11905"/>
            </a:avLst>
          </a:prstGeom>
          <a:solidFill>
            <a:srgbClr val="2F75B5"/>
          </a:solidFill>
          <a:ln w="12700">
            <a:solidFill>
              <a:srgbClr val="2F75B5"/>
            </a:solidFill>
            <a:prstDash val="solid"/>
          </a:ln>
        </p:spPr>
      </p:sp>
      <p:sp>
        <p:nvSpPr>
          <p:cNvPr id="27" name="Text 25"/>
          <p:cNvSpPr txBox="1"/>
          <p:nvPr/>
        </p:nvSpPr>
        <p:spPr>
          <a:xfrm>
            <a:off x="704088" y="3529584"/>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8" name="Text 26"/>
          <p:cNvSpPr txBox="1"/>
          <p:nvPr/>
        </p:nvSpPr>
        <p:spPr>
          <a:xfrm>
            <a:off x="1234440" y="3447288"/>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CLAIM_AMOUNT_BUCKET</a:t>
            </a:r>
            <a:endParaRPr lang="en-US" sz="1250" dirty="0"/>
          </a:p>
        </p:txBody>
      </p:sp>
      <p:sp>
        <p:nvSpPr>
          <p:cNvPr id="29" name="Text 27"/>
          <p:cNvSpPr txBox="1"/>
          <p:nvPr/>
        </p:nvSpPr>
        <p:spPr>
          <a:xfrm>
            <a:off x="1234440" y="3739896"/>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Claim amount range category</a:t>
            </a:r>
            <a:endParaRPr lang="en-US" sz="1100" dirty="0"/>
          </a:p>
        </p:txBody>
      </p:sp>
      <p:sp>
        <p:nvSpPr>
          <p:cNvPr id="30" name="Shape 28"/>
          <p:cNvSpPr/>
          <p:nvPr/>
        </p:nvSpPr>
        <p:spPr>
          <a:xfrm>
            <a:off x="6199632" y="3328416"/>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1" name="Shape 29"/>
          <p:cNvSpPr/>
          <p:nvPr/>
        </p:nvSpPr>
        <p:spPr>
          <a:xfrm>
            <a:off x="6400800" y="3529584"/>
            <a:ext cx="384048" cy="384048"/>
          </a:xfrm>
          <a:prstGeom prst="roundRect">
            <a:avLst>
              <a:gd name="adj" fmla="val 11905"/>
            </a:avLst>
          </a:prstGeom>
          <a:solidFill>
            <a:srgbClr val="008C95"/>
          </a:solidFill>
          <a:ln w="12700">
            <a:solidFill>
              <a:srgbClr val="008C95"/>
            </a:solidFill>
            <a:prstDash val="solid"/>
          </a:ln>
        </p:spPr>
      </p:sp>
      <p:sp>
        <p:nvSpPr>
          <p:cNvPr id="32" name="Text 30"/>
          <p:cNvSpPr txBox="1"/>
          <p:nvPr/>
        </p:nvSpPr>
        <p:spPr>
          <a:xfrm>
            <a:off x="6400800" y="3529584"/>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6</a:t>
            </a:r>
            <a:endParaRPr lang="en-US" sz="1200" dirty="0"/>
          </a:p>
        </p:txBody>
      </p:sp>
      <p:sp>
        <p:nvSpPr>
          <p:cNvPr id="33" name="Text 31"/>
          <p:cNvSpPr txBox="1"/>
          <p:nvPr/>
        </p:nvSpPr>
        <p:spPr>
          <a:xfrm>
            <a:off x="6931152" y="3447288"/>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REPORTING_CATEGORY</a:t>
            </a:r>
            <a:endParaRPr lang="en-US" sz="1250" dirty="0"/>
          </a:p>
        </p:txBody>
      </p:sp>
      <p:sp>
        <p:nvSpPr>
          <p:cNvPr id="34" name="Text 32"/>
          <p:cNvSpPr txBox="1"/>
          <p:nvPr/>
        </p:nvSpPr>
        <p:spPr>
          <a:xfrm>
            <a:off x="6931152" y="3739896"/>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Reporting delay category</a:t>
            </a:r>
            <a:endParaRPr lang="en-US" sz="1100" dirty="0"/>
          </a:p>
        </p:txBody>
      </p:sp>
      <p:sp>
        <p:nvSpPr>
          <p:cNvPr id="35" name="Shape 33"/>
          <p:cNvSpPr/>
          <p:nvPr/>
        </p:nvSpPr>
        <p:spPr>
          <a:xfrm>
            <a:off x="502920" y="4261104"/>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6" name="Shape 34"/>
          <p:cNvSpPr/>
          <p:nvPr/>
        </p:nvSpPr>
        <p:spPr>
          <a:xfrm>
            <a:off x="704088" y="4462272"/>
            <a:ext cx="384048" cy="384048"/>
          </a:xfrm>
          <a:prstGeom prst="roundRect">
            <a:avLst>
              <a:gd name="adj" fmla="val 11905"/>
            </a:avLst>
          </a:prstGeom>
          <a:solidFill>
            <a:srgbClr val="2F75B5"/>
          </a:solidFill>
          <a:ln w="12700">
            <a:solidFill>
              <a:srgbClr val="2F75B5"/>
            </a:solidFill>
            <a:prstDash val="solid"/>
          </a:ln>
        </p:spPr>
      </p:sp>
      <p:sp>
        <p:nvSpPr>
          <p:cNvPr id="37" name="Text 35"/>
          <p:cNvSpPr txBox="1"/>
          <p:nvPr/>
        </p:nvSpPr>
        <p:spPr>
          <a:xfrm>
            <a:off x="704088" y="4462272"/>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7</a:t>
            </a:r>
            <a:endParaRPr lang="en-US" sz="1200" dirty="0"/>
          </a:p>
        </p:txBody>
      </p:sp>
      <p:sp>
        <p:nvSpPr>
          <p:cNvPr id="38" name="Text 36"/>
          <p:cNvSpPr txBox="1"/>
          <p:nvPr/>
        </p:nvSpPr>
        <p:spPr>
          <a:xfrm>
            <a:off x="1234440" y="4379976"/>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CLAIM_VALUE_CATEGORY</a:t>
            </a:r>
            <a:endParaRPr lang="en-US" sz="1250" dirty="0"/>
          </a:p>
        </p:txBody>
      </p:sp>
      <p:sp>
        <p:nvSpPr>
          <p:cNvPr id="39" name="Text 37"/>
          <p:cNvSpPr txBox="1"/>
          <p:nvPr/>
        </p:nvSpPr>
        <p:spPr>
          <a:xfrm>
            <a:off x="1234440" y="4672584"/>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Claim value category</a:t>
            </a:r>
            <a:endParaRPr lang="en-US" sz="1100" dirty="0"/>
          </a:p>
        </p:txBody>
      </p:sp>
      <p:sp>
        <p:nvSpPr>
          <p:cNvPr id="40" name="Shape 38"/>
          <p:cNvSpPr/>
          <p:nvPr/>
        </p:nvSpPr>
        <p:spPr>
          <a:xfrm>
            <a:off x="6199632" y="4261104"/>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41" name="Shape 39"/>
          <p:cNvSpPr/>
          <p:nvPr/>
        </p:nvSpPr>
        <p:spPr>
          <a:xfrm>
            <a:off x="6400800" y="4462272"/>
            <a:ext cx="384048" cy="384048"/>
          </a:xfrm>
          <a:prstGeom prst="roundRect">
            <a:avLst>
              <a:gd name="adj" fmla="val 11905"/>
            </a:avLst>
          </a:prstGeom>
          <a:solidFill>
            <a:srgbClr val="008C95"/>
          </a:solidFill>
          <a:ln w="12700">
            <a:solidFill>
              <a:srgbClr val="008C95"/>
            </a:solidFill>
            <a:prstDash val="solid"/>
          </a:ln>
        </p:spPr>
      </p:sp>
      <p:sp>
        <p:nvSpPr>
          <p:cNvPr id="42" name="Text 40"/>
          <p:cNvSpPr txBox="1"/>
          <p:nvPr/>
        </p:nvSpPr>
        <p:spPr>
          <a:xfrm>
            <a:off x="6400800" y="4462272"/>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8</a:t>
            </a:r>
            <a:endParaRPr lang="en-US" sz="1200" dirty="0"/>
          </a:p>
        </p:txBody>
      </p:sp>
      <p:sp>
        <p:nvSpPr>
          <p:cNvPr id="43" name="Text 41"/>
          <p:cNvSpPr txBox="1"/>
          <p:nvPr/>
        </p:nvSpPr>
        <p:spPr>
          <a:xfrm>
            <a:off x="6931152" y="4379976"/>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LOSS_YEAR</a:t>
            </a:r>
            <a:endParaRPr lang="en-US" sz="1250" dirty="0"/>
          </a:p>
        </p:txBody>
      </p:sp>
      <p:sp>
        <p:nvSpPr>
          <p:cNvPr id="44" name="Text 42"/>
          <p:cNvSpPr txBox="1"/>
          <p:nvPr/>
        </p:nvSpPr>
        <p:spPr>
          <a:xfrm>
            <a:off x="6931152" y="4672584"/>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Year extracted from loss date</a:t>
            </a:r>
            <a:endParaRPr lang="en-US" sz="1100" dirty="0"/>
          </a:p>
        </p:txBody>
      </p:sp>
      <p:sp>
        <p:nvSpPr>
          <p:cNvPr id="45" name="Shape 43"/>
          <p:cNvSpPr/>
          <p:nvPr/>
        </p:nvSpPr>
        <p:spPr>
          <a:xfrm>
            <a:off x="502920" y="5193792"/>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46" name="Shape 44"/>
          <p:cNvSpPr/>
          <p:nvPr/>
        </p:nvSpPr>
        <p:spPr>
          <a:xfrm>
            <a:off x="704088" y="5394960"/>
            <a:ext cx="384048" cy="384048"/>
          </a:xfrm>
          <a:prstGeom prst="roundRect">
            <a:avLst>
              <a:gd name="adj" fmla="val 11905"/>
            </a:avLst>
          </a:prstGeom>
          <a:solidFill>
            <a:srgbClr val="2F75B5"/>
          </a:solidFill>
          <a:ln w="12700">
            <a:solidFill>
              <a:srgbClr val="2F75B5"/>
            </a:solidFill>
            <a:prstDash val="solid"/>
          </a:ln>
        </p:spPr>
      </p:sp>
      <p:sp>
        <p:nvSpPr>
          <p:cNvPr id="47" name="Text 45"/>
          <p:cNvSpPr txBox="1"/>
          <p:nvPr/>
        </p:nvSpPr>
        <p:spPr>
          <a:xfrm>
            <a:off x="704088" y="5394960"/>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9</a:t>
            </a:r>
            <a:endParaRPr lang="en-US" sz="1200" dirty="0"/>
          </a:p>
        </p:txBody>
      </p:sp>
      <p:sp>
        <p:nvSpPr>
          <p:cNvPr id="48" name="Text 46"/>
          <p:cNvSpPr txBox="1"/>
          <p:nvPr/>
        </p:nvSpPr>
        <p:spPr>
          <a:xfrm>
            <a:off x="1234440" y="5312664"/>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LOSS_MONTH</a:t>
            </a:r>
            <a:endParaRPr lang="en-US" sz="1250" dirty="0"/>
          </a:p>
        </p:txBody>
      </p:sp>
      <p:sp>
        <p:nvSpPr>
          <p:cNvPr id="49" name="Text 47"/>
          <p:cNvSpPr txBox="1"/>
          <p:nvPr/>
        </p:nvSpPr>
        <p:spPr>
          <a:xfrm>
            <a:off x="1234440" y="5605272"/>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Month extracted from loss date</a:t>
            </a:r>
            <a:endParaRPr lang="en-US" sz="1100" dirty="0"/>
          </a:p>
        </p:txBody>
      </p:sp>
      <p:sp>
        <p:nvSpPr>
          <p:cNvPr id="50" name="Shape 48"/>
          <p:cNvSpPr/>
          <p:nvPr/>
        </p:nvSpPr>
        <p:spPr>
          <a:xfrm>
            <a:off x="6199632" y="5193792"/>
            <a:ext cx="5532120" cy="786384"/>
          </a:xfrm>
          <a:prstGeom prst="roundRect">
            <a:avLst>
              <a:gd name="adj" fmla="val 9302"/>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51" name="Shape 49"/>
          <p:cNvSpPr/>
          <p:nvPr/>
        </p:nvSpPr>
        <p:spPr>
          <a:xfrm>
            <a:off x="6400800" y="5394960"/>
            <a:ext cx="384048" cy="384048"/>
          </a:xfrm>
          <a:prstGeom prst="roundRect">
            <a:avLst>
              <a:gd name="adj" fmla="val 11905"/>
            </a:avLst>
          </a:prstGeom>
          <a:solidFill>
            <a:srgbClr val="008C95"/>
          </a:solidFill>
          <a:ln w="12700">
            <a:solidFill>
              <a:srgbClr val="008C95"/>
            </a:solidFill>
            <a:prstDash val="solid"/>
          </a:ln>
        </p:spPr>
      </p:sp>
      <p:sp>
        <p:nvSpPr>
          <p:cNvPr id="52" name="Text 50"/>
          <p:cNvSpPr txBox="1"/>
          <p:nvPr/>
        </p:nvSpPr>
        <p:spPr>
          <a:xfrm>
            <a:off x="6400800" y="5394960"/>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10</a:t>
            </a:r>
            <a:endParaRPr lang="en-US" sz="1200" dirty="0"/>
          </a:p>
        </p:txBody>
      </p:sp>
      <p:sp>
        <p:nvSpPr>
          <p:cNvPr id="53" name="Text 51"/>
          <p:cNvSpPr txBox="1"/>
          <p:nvPr/>
        </p:nvSpPr>
        <p:spPr>
          <a:xfrm>
            <a:off x="6931152" y="5312664"/>
            <a:ext cx="4572000" cy="292608"/>
          </a:xfrm>
          <a:prstGeom prst="rect">
            <a:avLst/>
          </a:prstGeom>
          <a:noFill/>
          <a:ln/>
        </p:spPr>
        <p:txBody>
          <a:bodyPr wrap="square" lIns="0" tIns="0" rIns="0" bIns="0" rtlCol="0" anchor="ctr"/>
          <a:lstStyle/>
          <a:p>
            <a:pPr marL="0" indent="0">
              <a:buNone/>
            </a:pPr>
            <a:r>
              <a:rPr lang="en-US" sz="1250" b="1" dirty="0">
                <a:solidFill>
                  <a:srgbClr val="17365D"/>
                </a:solidFill>
                <a:latin typeface="Calibri" pitchFamily="34" charset="0"/>
                <a:ea typeface="Calibri" pitchFamily="34" charset="-122"/>
                <a:cs typeface="Calibri" pitchFamily="34" charset="-120"/>
              </a:rPr>
              <a:t>LOSS_MONTH_NAME</a:t>
            </a:r>
            <a:endParaRPr lang="en-US" sz="1250" dirty="0"/>
          </a:p>
        </p:txBody>
      </p:sp>
      <p:sp>
        <p:nvSpPr>
          <p:cNvPr id="54" name="Text 52"/>
          <p:cNvSpPr txBox="1"/>
          <p:nvPr/>
        </p:nvSpPr>
        <p:spPr>
          <a:xfrm>
            <a:off x="6931152" y="5605272"/>
            <a:ext cx="4572000" cy="274320"/>
          </a:xfrm>
          <a:prstGeom prst="rect">
            <a:avLst/>
          </a:prstGeom>
          <a:noFill/>
          <a:ln/>
        </p:spPr>
        <p:txBody>
          <a:bodyPr wrap="square" lIns="0" tIns="0" rIns="0" bIns="0" rtlCol="0" anchor="ctr"/>
          <a:lstStyle/>
          <a:p>
            <a:pPr marL="0" indent="0">
              <a:buNone/>
            </a:pPr>
            <a:r>
              <a:rPr lang="en-US" sz="1100" dirty="0">
                <a:solidFill>
                  <a:srgbClr val="6B7684"/>
                </a:solidFill>
                <a:latin typeface="Calibri" pitchFamily="34" charset="0"/>
                <a:ea typeface="Calibri" pitchFamily="34" charset="-122"/>
                <a:cs typeface="Calibri" pitchFamily="34" charset="-120"/>
              </a:rPr>
              <a:t>Month name extracted from loss date</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7">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2700" b="1" dirty="0">
                <a:solidFill>
                  <a:srgbClr val="17365D"/>
                </a:solidFill>
                <a:latin typeface="Cambria" pitchFamily="34" charset="0"/>
                <a:ea typeface="Cambria" pitchFamily="34" charset="-122"/>
                <a:cs typeface="Cambria" pitchFamily="34" charset="-120"/>
              </a:rPr>
              <a:t>Appendix C — SQL Processing Pipeline</a:t>
            </a:r>
            <a:endParaRPr lang="en-US" sz="2700" dirty="0"/>
          </a:p>
        </p:txBody>
      </p:sp>
      <p:sp>
        <p:nvSpPr>
          <p:cNvPr id="3" name="Text 1"/>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34</a:t>
            </a:r>
            <a:endParaRPr lang="en-US" sz="1000" dirty="0"/>
          </a:p>
        </p:txBody>
      </p:sp>
      <p:sp>
        <p:nvSpPr>
          <p:cNvPr id="4" name="Text 2"/>
          <p:cNvSpPr txBox="1"/>
          <p:nvPr/>
        </p:nvSpPr>
        <p:spPr>
          <a:xfrm>
            <a:off x="530352" y="1234440"/>
            <a:ext cx="4572000" cy="27432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Execution Order</a:t>
            </a:r>
            <a:endParaRPr lang="en-US" sz="1500" dirty="0"/>
          </a:p>
        </p:txBody>
      </p:sp>
      <p:sp>
        <p:nvSpPr>
          <p:cNvPr id="5" name="Shape 3"/>
          <p:cNvSpPr/>
          <p:nvPr/>
        </p:nvSpPr>
        <p:spPr>
          <a:xfrm>
            <a:off x="502920" y="1627632"/>
            <a:ext cx="5029200" cy="493776"/>
          </a:xfrm>
          <a:prstGeom prst="roundRect">
            <a:avLst>
              <a:gd name="adj" fmla="val 11111"/>
            </a:avLst>
          </a:prstGeom>
          <a:solidFill>
            <a:srgbClr val="2F75B5"/>
          </a:solidFill>
          <a:ln w="12700">
            <a:solidFill>
              <a:srgbClr val="2F75B5"/>
            </a:solidFill>
            <a:prstDash val="solid"/>
          </a:ln>
        </p:spPr>
      </p:sp>
      <p:sp>
        <p:nvSpPr>
          <p:cNvPr id="6" name="Text 4"/>
          <p:cNvSpPr txBox="1"/>
          <p:nvPr/>
        </p:nvSpPr>
        <p:spPr>
          <a:xfrm>
            <a:off x="502920" y="1627632"/>
            <a:ext cx="5029200" cy="49377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01_Database_Setup.sql</a:t>
            </a:r>
            <a:endParaRPr lang="en-US" sz="1200" dirty="0"/>
          </a:p>
        </p:txBody>
      </p:sp>
      <p:sp>
        <p:nvSpPr>
          <p:cNvPr id="7" name="Shape 5"/>
          <p:cNvSpPr/>
          <p:nvPr/>
        </p:nvSpPr>
        <p:spPr>
          <a:xfrm>
            <a:off x="3017520" y="2139696"/>
            <a:ext cx="0" cy="146304"/>
          </a:xfrm>
          <a:prstGeom prst="line">
            <a:avLst/>
          </a:prstGeom>
          <a:noFill/>
          <a:ln w="22225">
            <a:solidFill>
              <a:srgbClr val="2F75B5"/>
            </a:solidFill>
            <a:prstDash val="solid"/>
            <a:tailEnd type="triangle"/>
          </a:ln>
        </p:spPr>
      </p:sp>
      <p:sp>
        <p:nvSpPr>
          <p:cNvPr id="8" name="Shape 6"/>
          <p:cNvSpPr/>
          <p:nvPr/>
        </p:nvSpPr>
        <p:spPr>
          <a:xfrm>
            <a:off x="502920" y="2295144"/>
            <a:ext cx="5029200" cy="493776"/>
          </a:xfrm>
          <a:prstGeom prst="roundRect">
            <a:avLst>
              <a:gd name="adj" fmla="val 11111"/>
            </a:avLst>
          </a:prstGeom>
          <a:solidFill>
            <a:srgbClr val="2F75B5"/>
          </a:solidFill>
          <a:ln w="12700">
            <a:solidFill>
              <a:srgbClr val="2F75B5"/>
            </a:solidFill>
            <a:prstDash val="solid"/>
          </a:ln>
        </p:spPr>
      </p:sp>
      <p:sp>
        <p:nvSpPr>
          <p:cNvPr id="9" name="Text 7"/>
          <p:cNvSpPr txBox="1"/>
          <p:nvPr/>
        </p:nvSpPr>
        <p:spPr>
          <a:xfrm>
            <a:off x="502920" y="2295144"/>
            <a:ext cx="5029200" cy="49377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02_Raw_Data_Validation.sql</a:t>
            </a:r>
            <a:endParaRPr lang="en-US" sz="1200" dirty="0"/>
          </a:p>
        </p:txBody>
      </p:sp>
      <p:sp>
        <p:nvSpPr>
          <p:cNvPr id="10" name="Shape 8"/>
          <p:cNvSpPr/>
          <p:nvPr/>
        </p:nvSpPr>
        <p:spPr>
          <a:xfrm>
            <a:off x="3017520" y="2807208"/>
            <a:ext cx="0" cy="146304"/>
          </a:xfrm>
          <a:prstGeom prst="line">
            <a:avLst/>
          </a:prstGeom>
          <a:noFill/>
          <a:ln w="22225">
            <a:solidFill>
              <a:srgbClr val="2F75B5"/>
            </a:solidFill>
            <a:prstDash val="solid"/>
            <a:tailEnd type="triangle"/>
          </a:ln>
        </p:spPr>
      </p:sp>
      <p:sp>
        <p:nvSpPr>
          <p:cNvPr id="11" name="Shape 9"/>
          <p:cNvSpPr/>
          <p:nvPr/>
        </p:nvSpPr>
        <p:spPr>
          <a:xfrm>
            <a:off x="502920" y="2962656"/>
            <a:ext cx="5029200" cy="493776"/>
          </a:xfrm>
          <a:prstGeom prst="roundRect">
            <a:avLst>
              <a:gd name="adj" fmla="val 11111"/>
            </a:avLst>
          </a:prstGeom>
          <a:solidFill>
            <a:srgbClr val="2F75B5"/>
          </a:solidFill>
          <a:ln w="12700">
            <a:solidFill>
              <a:srgbClr val="2F75B5"/>
            </a:solidFill>
            <a:prstDash val="solid"/>
          </a:ln>
        </p:spPr>
      </p:sp>
      <p:sp>
        <p:nvSpPr>
          <p:cNvPr id="12" name="Text 10"/>
          <p:cNvSpPr txBox="1"/>
          <p:nvPr/>
        </p:nvSpPr>
        <p:spPr>
          <a:xfrm>
            <a:off x="502920" y="2962656"/>
            <a:ext cx="5029200" cy="49377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03_Data_Cleaning.sql</a:t>
            </a:r>
            <a:endParaRPr lang="en-US" sz="1200" dirty="0"/>
          </a:p>
        </p:txBody>
      </p:sp>
      <p:sp>
        <p:nvSpPr>
          <p:cNvPr id="13" name="Shape 11"/>
          <p:cNvSpPr/>
          <p:nvPr/>
        </p:nvSpPr>
        <p:spPr>
          <a:xfrm>
            <a:off x="3017520" y="3474720"/>
            <a:ext cx="0" cy="146304"/>
          </a:xfrm>
          <a:prstGeom prst="line">
            <a:avLst/>
          </a:prstGeom>
          <a:noFill/>
          <a:ln w="22225">
            <a:solidFill>
              <a:srgbClr val="2F75B5"/>
            </a:solidFill>
            <a:prstDash val="solid"/>
            <a:tailEnd type="triangle"/>
          </a:ln>
        </p:spPr>
      </p:sp>
      <p:sp>
        <p:nvSpPr>
          <p:cNvPr id="14" name="Shape 12"/>
          <p:cNvSpPr/>
          <p:nvPr/>
        </p:nvSpPr>
        <p:spPr>
          <a:xfrm>
            <a:off x="502920" y="3630168"/>
            <a:ext cx="5029200" cy="493776"/>
          </a:xfrm>
          <a:prstGeom prst="roundRect">
            <a:avLst>
              <a:gd name="adj" fmla="val 11111"/>
            </a:avLst>
          </a:prstGeom>
          <a:solidFill>
            <a:srgbClr val="2F75B5"/>
          </a:solidFill>
          <a:ln w="12700">
            <a:solidFill>
              <a:srgbClr val="2F75B5"/>
            </a:solidFill>
            <a:prstDash val="solid"/>
          </a:ln>
        </p:spPr>
      </p:sp>
      <p:sp>
        <p:nvSpPr>
          <p:cNvPr id="15" name="Text 13"/>
          <p:cNvSpPr txBox="1"/>
          <p:nvPr/>
        </p:nvSpPr>
        <p:spPr>
          <a:xfrm>
            <a:off x="502920" y="3630168"/>
            <a:ext cx="5029200" cy="49377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04_Cleaned_Data_Validation.sql</a:t>
            </a:r>
            <a:endParaRPr lang="en-US" sz="1200" dirty="0"/>
          </a:p>
        </p:txBody>
      </p:sp>
      <p:sp>
        <p:nvSpPr>
          <p:cNvPr id="16" name="Shape 14"/>
          <p:cNvSpPr/>
          <p:nvPr/>
        </p:nvSpPr>
        <p:spPr>
          <a:xfrm>
            <a:off x="3017520" y="4142232"/>
            <a:ext cx="0" cy="146304"/>
          </a:xfrm>
          <a:prstGeom prst="line">
            <a:avLst/>
          </a:prstGeom>
          <a:noFill/>
          <a:ln w="22225">
            <a:solidFill>
              <a:srgbClr val="2F75B5"/>
            </a:solidFill>
            <a:prstDash val="solid"/>
            <a:tailEnd type="triangle"/>
          </a:ln>
        </p:spPr>
      </p:sp>
      <p:sp>
        <p:nvSpPr>
          <p:cNvPr id="17" name="Shape 15"/>
          <p:cNvSpPr/>
          <p:nvPr/>
        </p:nvSpPr>
        <p:spPr>
          <a:xfrm>
            <a:off x="502920" y="4297680"/>
            <a:ext cx="5029200" cy="493776"/>
          </a:xfrm>
          <a:prstGeom prst="roundRect">
            <a:avLst>
              <a:gd name="adj" fmla="val 11111"/>
            </a:avLst>
          </a:prstGeom>
          <a:solidFill>
            <a:srgbClr val="2F75B5"/>
          </a:solidFill>
          <a:ln w="12700">
            <a:solidFill>
              <a:srgbClr val="2F75B5"/>
            </a:solidFill>
            <a:prstDash val="solid"/>
          </a:ln>
        </p:spPr>
      </p:sp>
      <p:sp>
        <p:nvSpPr>
          <p:cNvPr id="18" name="Text 16"/>
          <p:cNvSpPr txBox="1"/>
          <p:nvPr/>
        </p:nvSpPr>
        <p:spPr>
          <a:xfrm>
            <a:off x="502920" y="4297680"/>
            <a:ext cx="5029200" cy="49377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05_Data_Transformation.sql</a:t>
            </a:r>
            <a:endParaRPr lang="en-US" sz="1200" dirty="0"/>
          </a:p>
        </p:txBody>
      </p:sp>
      <p:sp>
        <p:nvSpPr>
          <p:cNvPr id="19" name="Shape 17"/>
          <p:cNvSpPr/>
          <p:nvPr/>
        </p:nvSpPr>
        <p:spPr>
          <a:xfrm>
            <a:off x="3017520" y="4809744"/>
            <a:ext cx="0" cy="146304"/>
          </a:xfrm>
          <a:prstGeom prst="line">
            <a:avLst/>
          </a:prstGeom>
          <a:noFill/>
          <a:ln w="22225">
            <a:solidFill>
              <a:srgbClr val="2F75B5"/>
            </a:solidFill>
            <a:prstDash val="solid"/>
            <a:tailEnd type="triangle"/>
          </a:ln>
        </p:spPr>
      </p:sp>
      <p:sp>
        <p:nvSpPr>
          <p:cNvPr id="20" name="Shape 18"/>
          <p:cNvSpPr/>
          <p:nvPr/>
        </p:nvSpPr>
        <p:spPr>
          <a:xfrm>
            <a:off x="502920" y="4965192"/>
            <a:ext cx="5029200" cy="493776"/>
          </a:xfrm>
          <a:prstGeom prst="roundRect">
            <a:avLst>
              <a:gd name="adj" fmla="val 11111"/>
            </a:avLst>
          </a:prstGeom>
          <a:solidFill>
            <a:srgbClr val="2F75B5"/>
          </a:solidFill>
          <a:ln w="12700">
            <a:solidFill>
              <a:srgbClr val="2F75B5"/>
            </a:solidFill>
            <a:prstDash val="solid"/>
          </a:ln>
        </p:spPr>
      </p:sp>
      <p:sp>
        <p:nvSpPr>
          <p:cNvPr id="21" name="Text 19"/>
          <p:cNvSpPr txBox="1"/>
          <p:nvPr/>
        </p:nvSpPr>
        <p:spPr>
          <a:xfrm>
            <a:off x="502920" y="4965192"/>
            <a:ext cx="5029200" cy="49377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06_EDA_Business_Analysis.sql</a:t>
            </a:r>
            <a:endParaRPr lang="en-US" sz="1200" dirty="0"/>
          </a:p>
        </p:txBody>
      </p:sp>
      <p:sp>
        <p:nvSpPr>
          <p:cNvPr id="22" name="Shape 20"/>
          <p:cNvSpPr/>
          <p:nvPr/>
        </p:nvSpPr>
        <p:spPr>
          <a:xfrm>
            <a:off x="3017520" y="5477256"/>
            <a:ext cx="0" cy="146304"/>
          </a:xfrm>
          <a:prstGeom prst="line">
            <a:avLst/>
          </a:prstGeom>
          <a:noFill/>
          <a:ln w="22225">
            <a:solidFill>
              <a:srgbClr val="2F75B5"/>
            </a:solidFill>
            <a:prstDash val="solid"/>
            <a:tailEnd type="triangle"/>
          </a:ln>
        </p:spPr>
      </p:sp>
      <p:sp>
        <p:nvSpPr>
          <p:cNvPr id="23" name="Shape 21"/>
          <p:cNvSpPr/>
          <p:nvPr/>
        </p:nvSpPr>
        <p:spPr>
          <a:xfrm>
            <a:off x="502920" y="5632704"/>
            <a:ext cx="5029200" cy="493776"/>
          </a:xfrm>
          <a:prstGeom prst="roundRect">
            <a:avLst>
              <a:gd name="adj" fmla="val 11111"/>
            </a:avLst>
          </a:prstGeom>
          <a:solidFill>
            <a:srgbClr val="17365D"/>
          </a:solidFill>
          <a:ln w="12700">
            <a:solidFill>
              <a:srgbClr val="17365D"/>
            </a:solidFill>
            <a:prstDash val="solid"/>
          </a:ln>
        </p:spPr>
      </p:sp>
      <p:sp>
        <p:nvSpPr>
          <p:cNvPr id="24" name="Text 22"/>
          <p:cNvSpPr txBox="1"/>
          <p:nvPr/>
        </p:nvSpPr>
        <p:spPr>
          <a:xfrm>
            <a:off x="502920" y="5632704"/>
            <a:ext cx="5029200" cy="49377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07_Final_Views.sql</a:t>
            </a:r>
            <a:endParaRPr lang="en-US" sz="1200" dirty="0"/>
          </a:p>
        </p:txBody>
      </p:sp>
      <p:sp>
        <p:nvSpPr>
          <p:cNvPr id="25" name="Shape 23"/>
          <p:cNvSpPr/>
          <p:nvPr/>
        </p:nvSpPr>
        <p:spPr>
          <a:xfrm>
            <a:off x="5897880" y="1234440"/>
            <a:ext cx="5833872" cy="4937760"/>
          </a:xfrm>
          <a:prstGeom prst="roundRect">
            <a:avLst>
              <a:gd name="adj" fmla="val 1481"/>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26" name="Text 24"/>
          <p:cNvSpPr txBox="1"/>
          <p:nvPr/>
        </p:nvSpPr>
        <p:spPr>
          <a:xfrm>
            <a:off x="6172200" y="1417320"/>
            <a:ext cx="5303520" cy="274320"/>
          </a:xfrm>
          <a:prstGeom prst="rect">
            <a:avLst/>
          </a:prstGeom>
          <a:noFill/>
          <a:ln/>
        </p:spPr>
        <p:txBody>
          <a:bodyPr wrap="square" lIns="0" tIns="0" rIns="0" bIns="0" rtlCol="0" anchor="ctr"/>
          <a:lstStyle/>
          <a:p>
            <a:pPr marL="0" indent="0">
              <a:buNone/>
            </a:pPr>
            <a:r>
              <a:rPr lang="en-US" sz="1500" b="1" dirty="0">
                <a:solidFill>
                  <a:srgbClr val="17365D"/>
                </a:solidFill>
                <a:latin typeface="Cambria" pitchFamily="34" charset="0"/>
                <a:ea typeface="Cambria" pitchFamily="34" charset="-122"/>
                <a:cs typeface="Cambria" pitchFamily="34" charset="-120"/>
              </a:rPr>
              <a:t>Final Analytical Views</a:t>
            </a:r>
            <a:endParaRPr lang="en-US" sz="1500" dirty="0"/>
          </a:p>
        </p:txBody>
      </p:sp>
      <p:sp>
        <p:nvSpPr>
          <p:cNvPr id="27" name="Shape 25"/>
          <p:cNvSpPr/>
          <p:nvPr/>
        </p:nvSpPr>
        <p:spPr>
          <a:xfrm>
            <a:off x="6172200" y="1828800"/>
            <a:ext cx="5303520" cy="384048"/>
          </a:xfrm>
          <a:prstGeom prst="roundRect">
            <a:avLst>
              <a:gd name="adj" fmla="val 11905"/>
            </a:avLst>
          </a:prstGeom>
          <a:solidFill>
            <a:srgbClr val="E4EEF8"/>
          </a:solidFill>
          <a:ln w="12700">
            <a:solidFill>
              <a:srgbClr val="DCE6F2"/>
            </a:solidFill>
            <a:prstDash val="solid"/>
          </a:ln>
        </p:spPr>
      </p:sp>
      <p:sp>
        <p:nvSpPr>
          <p:cNvPr id="28" name="Shape 26"/>
          <p:cNvSpPr/>
          <p:nvPr/>
        </p:nvSpPr>
        <p:spPr>
          <a:xfrm>
            <a:off x="6355080" y="1975104"/>
            <a:ext cx="91440" cy="91440"/>
          </a:xfrm>
          <a:prstGeom prst="ellipse">
            <a:avLst/>
          </a:prstGeom>
          <a:solidFill>
            <a:srgbClr val="17365D"/>
          </a:solidFill>
          <a:ln w="12700">
            <a:solidFill>
              <a:srgbClr val="17365D"/>
            </a:solidFill>
            <a:prstDash val="solid"/>
          </a:ln>
        </p:spPr>
      </p:sp>
      <p:sp>
        <p:nvSpPr>
          <p:cNvPr id="29" name="Text 27"/>
          <p:cNvSpPr txBox="1"/>
          <p:nvPr/>
        </p:nvSpPr>
        <p:spPr>
          <a:xfrm>
            <a:off x="6583680" y="1828800"/>
            <a:ext cx="4709160" cy="384048"/>
          </a:xfrm>
          <a:prstGeom prst="rect">
            <a:avLst/>
          </a:prstGeom>
          <a:noFill/>
          <a:ln/>
        </p:spPr>
        <p:txBody>
          <a:bodyPr wrap="square" lIns="0" tIns="0" rIns="0" bIns="0" rtlCol="0" anchor="ctr"/>
          <a:lstStyle/>
          <a:p>
            <a:pPr marL="0" indent="0">
              <a:buNone/>
            </a:pPr>
            <a:r>
              <a:rPr lang="en-US" sz="1150" b="1" dirty="0">
                <a:solidFill>
                  <a:srgbClr val="17365D"/>
                </a:solidFill>
                <a:latin typeface="Calibri" pitchFamily="34" charset="0"/>
                <a:ea typeface="Calibri" pitchFamily="34" charset="-122"/>
                <a:cs typeface="Calibri" pitchFamily="34" charset="-120"/>
              </a:rPr>
              <a:t>CLAIMS_ANALYTICS_VW</a:t>
            </a:r>
            <a:endParaRPr lang="en-US" sz="1150" dirty="0"/>
          </a:p>
        </p:txBody>
      </p:sp>
      <p:sp>
        <p:nvSpPr>
          <p:cNvPr id="30" name="Shape 28"/>
          <p:cNvSpPr/>
          <p:nvPr/>
        </p:nvSpPr>
        <p:spPr>
          <a:xfrm>
            <a:off x="6172200" y="2263140"/>
            <a:ext cx="5303520" cy="384048"/>
          </a:xfrm>
          <a:prstGeom prst="roundRect">
            <a:avLst>
              <a:gd name="adj" fmla="val 11905"/>
            </a:avLst>
          </a:prstGeom>
          <a:solidFill>
            <a:srgbClr val="F2F6FB"/>
          </a:solidFill>
          <a:ln w="12700">
            <a:solidFill>
              <a:srgbClr val="DCE6F2"/>
            </a:solidFill>
            <a:prstDash val="solid"/>
          </a:ln>
        </p:spPr>
      </p:sp>
      <p:sp>
        <p:nvSpPr>
          <p:cNvPr id="31" name="Shape 29"/>
          <p:cNvSpPr/>
          <p:nvPr/>
        </p:nvSpPr>
        <p:spPr>
          <a:xfrm>
            <a:off x="6355080" y="2409444"/>
            <a:ext cx="91440" cy="91440"/>
          </a:xfrm>
          <a:prstGeom prst="ellipse">
            <a:avLst/>
          </a:prstGeom>
          <a:solidFill>
            <a:srgbClr val="008C95"/>
          </a:solidFill>
          <a:ln w="12700">
            <a:solidFill>
              <a:srgbClr val="008C95"/>
            </a:solidFill>
            <a:prstDash val="solid"/>
          </a:ln>
        </p:spPr>
      </p:sp>
      <p:sp>
        <p:nvSpPr>
          <p:cNvPr id="32" name="Text 30"/>
          <p:cNvSpPr txBox="1"/>
          <p:nvPr/>
        </p:nvSpPr>
        <p:spPr>
          <a:xfrm>
            <a:off x="6583680" y="226314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CLAIMS_SUMMARY_VW</a:t>
            </a:r>
            <a:endParaRPr lang="en-US" sz="1150" dirty="0"/>
          </a:p>
        </p:txBody>
      </p:sp>
      <p:sp>
        <p:nvSpPr>
          <p:cNvPr id="33" name="Shape 31"/>
          <p:cNvSpPr/>
          <p:nvPr/>
        </p:nvSpPr>
        <p:spPr>
          <a:xfrm>
            <a:off x="6172200" y="2697480"/>
            <a:ext cx="5303520" cy="384048"/>
          </a:xfrm>
          <a:prstGeom prst="roundRect">
            <a:avLst>
              <a:gd name="adj" fmla="val 11905"/>
            </a:avLst>
          </a:prstGeom>
          <a:solidFill>
            <a:srgbClr val="F2F6FB"/>
          </a:solidFill>
          <a:ln w="12700">
            <a:solidFill>
              <a:srgbClr val="DCE6F2"/>
            </a:solidFill>
            <a:prstDash val="solid"/>
          </a:ln>
        </p:spPr>
      </p:sp>
      <p:sp>
        <p:nvSpPr>
          <p:cNvPr id="34" name="Shape 32"/>
          <p:cNvSpPr/>
          <p:nvPr/>
        </p:nvSpPr>
        <p:spPr>
          <a:xfrm>
            <a:off x="6355080" y="2843784"/>
            <a:ext cx="91440" cy="91440"/>
          </a:xfrm>
          <a:prstGeom prst="ellipse">
            <a:avLst/>
          </a:prstGeom>
          <a:solidFill>
            <a:srgbClr val="008C95"/>
          </a:solidFill>
          <a:ln w="12700">
            <a:solidFill>
              <a:srgbClr val="008C95"/>
            </a:solidFill>
            <a:prstDash val="solid"/>
          </a:ln>
        </p:spPr>
      </p:sp>
      <p:sp>
        <p:nvSpPr>
          <p:cNvPr id="35" name="Text 33"/>
          <p:cNvSpPr txBox="1"/>
          <p:nvPr/>
        </p:nvSpPr>
        <p:spPr>
          <a:xfrm>
            <a:off x="6583680" y="269748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INSURANCE_TYPE_VW</a:t>
            </a:r>
            <a:endParaRPr lang="en-US" sz="1150" dirty="0"/>
          </a:p>
        </p:txBody>
      </p:sp>
      <p:sp>
        <p:nvSpPr>
          <p:cNvPr id="36" name="Shape 34"/>
          <p:cNvSpPr/>
          <p:nvPr/>
        </p:nvSpPr>
        <p:spPr>
          <a:xfrm>
            <a:off x="6172200" y="3131820"/>
            <a:ext cx="5303520" cy="384048"/>
          </a:xfrm>
          <a:prstGeom prst="roundRect">
            <a:avLst>
              <a:gd name="adj" fmla="val 11905"/>
            </a:avLst>
          </a:prstGeom>
          <a:solidFill>
            <a:srgbClr val="F2F6FB"/>
          </a:solidFill>
          <a:ln w="12700">
            <a:solidFill>
              <a:srgbClr val="DCE6F2"/>
            </a:solidFill>
            <a:prstDash val="solid"/>
          </a:ln>
        </p:spPr>
      </p:sp>
      <p:sp>
        <p:nvSpPr>
          <p:cNvPr id="37" name="Shape 35"/>
          <p:cNvSpPr/>
          <p:nvPr/>
        </p:nvSpPr>
        <p:spPr>
          <a:xfrm>
            <a:off x="6355080" y="3278124"/>
            <a:ext cx="91440" cy="91440"/>
          </a:xfrm>
          <a:prstGeom prst="ellipse">
            <a:avLst/>
          </a:prstGeom>
          <a:solidFill>
            <a:srgbClr val="008C95"/>
          </a:solidFill>
          <a:ln w="12700">
            <a:solidFill>
              <a:srgbClr val="008C95"/>
            </a:solidFill>
            <a:prstDash val="solid"/>
          </a:ln>
        </p:spPr>
      </p:sp>
      <p:sp>
        <p:nvSpPr>
          <p:cNvPr id="38" name="Text 36"/>
          <p:cNvSpPr txBox="1"/>
          <p:nvPr/>
        </p:nvSpPr>
        <p:spPr>
          <a:xfrm>
            <a:off x="6583680" y="313182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RISK_SEGMENT_VW</a:t>
            </a:r>
            <a:endParaRPr lang="en-US" sz="1150" dirty="0"/>
          </a:p>
        </p:txBody>
      </p:sp>
      <p:sp>
        <p:nvSpPr>
          <p:cNvPr id="39" name="Shape 37"/>
          <p:cNvSpPr/>
          <p:nvPr/>
        </p:nvSpPr>
        <p:spPr>
          <a:xfrm>
            <a:off x="6172200" y="3566160"/>
            <a:ext cx="5303520" cy="384048"/>
          </a:xfrm>
          <a:prstGeom prst="roundRect">
            <a:avLst>
              <a:gd name="adj" fmla="val 11905"/>
            </a:avLst>
          </a:prstGeom>
          <a:solidFill>
            <a:srgbClr val="F2F6FB"/>
          </a:solidFill>
          <a:ln w="12700">
            <a:solidFill>
              <a:srgbClr val="DCE6F2"/>
            </a:solidFill>
            <a:prstDash val="solid"/>
          </a:ln>
        </p:spPr>
      </p:sp>
      <p:sp>
        <p:nvSpPr>
          <p:cNvPr id="40" name="Shape 38"/>
          <p:cNvSpPr/>
          <p:nvPr/>
        </p:nvSpPr>
        <p:spPr>
          <a:xfrm>
            <a:off x="6355080" y="3712464"/>
            <a:ext cx="91440" cy="91440"/>
          </a:xfrm>
          <a:prstGeom prst="ellipse">
            <a:avLst/>
          </a:prstGeom>
          <a:solidFill>
            <a:srgbClr val="008C95"/>
          </a:solidFill>
          <a:ln w="12700">
            <a:solidFill>
              <a:srgbClr val="008C95"/>
            </a:solidFill>
            <a:prstDash val="solid"/>
          </a:ln>
        </p:spPr>
      </p:sp>
      <p:sp>
        <p:nvSpPr>
          <p:cNvPr id="41" name="Text 39"/>
          <p:cNvSpPr txBox="1"/>
          <p:nvPr/>
        </p:nvSpPr>
        <p:spPr>
          <a:xfrm>
            <a:off x="6583680" y="356616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INCIDENT_SEVERITY_VW</a:t>
            </a:r>
            <a:endParaRPr lang="en-US" sz="1150" dirty="0"/>
          </a:p>
        </p:txBody>
      </p:sp>
      <p:sp>
        <p:nvSpPr>
          <p:cNvPr id="42" name="Shape 40"/>
          <p:cNvSpPr/>
          <p:nvPr/>
        </p:nvSpPr>
        <p:spPr>
          <a:xfrm>
            <a:off x="6172200" y="4000500"/>
            <a:ext cx="5303520" cy="384048"/>
          </a:xfrm>
          <a:prstGeom prst="roundRect">
            <a:avLst>
              <a:gd name="adj" fmla="val 11905"/>
            </a:avLst>
          </a:prstGeom>
          <a:solidFill>
            <a:srgbClr val="F2F6FB"/>
          </a:solidFill>
          <a:ln w="12700">
            <a:solidFill>
              <a:srgbClr val="DCE6F2"/>
            </a:solidFill>
            <a:prstDash val="solid"/>
          </a:ln>
        </p:spPr>
      </p:sp>
      <p:sp>
        <p:nvSpPr>
          <p:cNvPr id="43" name="Shape 41"/>
          <p:cNvSpPr/>
          <p:nvPr/>
        </p:nvSpPr>
        <p:spPr>
          <a:xfrm>
            <a:off x="6355080" y="4146804"/>
            <a:ext cx="91440" cy="91440"/>
          </a:xfrm>
          <a:prstGeom prst="ellipse">
            <a:avLst/>
          </a:prstGeom>
          <a:solidFill>
            <a:srgbClr val="008C95"/>
          </a:solidFill>
          <a:ln w="12700">
            <a:solidFill>
              <a:srgbClr val="008C95"/>
            </a:solidFill>
            <a:prstDash val="solid"/>
          </a:ln>
        </p:spPr>
      </p:sp>
      <p:sp>
        <p:nvSpPr>
          <p:cNvPr id="44" name="Text 42"/>
          <p:cNvSpPr txBox="1"/>
          <p:nvPr/>
        </p:nvSpPr>
        <p:spPr>
          <a:xfrm>
            <a:off x="6583680" y="400050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AGENT_PERFORMANCE_VW</a:t>
            </a:r>
            <a:endParaRPr lang="en-US" sz="1150" dirty="0"/>
          </a:p>
        </p:txBody>
      </p:sp>
      <p:sp>
        <p:nvSpPr>
          <p:cNvPr id="45" name="Shape 43"/>
          <p:cNvSpPr/>
          <p:nvPr/>
        </p:nvSpPr>
        <p:spPr>
          <a:xfrm>
            <a:off x="6172200" y="4434840"/>
            <a:ext cx="5303520" cy="384048"/>
          </a:xfrm>
          <a:prstGeom prst="roundRect">
            <a:avLst>
              <a:gd name="adj" fmla="val 11905"/>
            </a:avLst>
          </a:prstGeom>
          <a:solidFill>
            <a:srgbClr val="F2F6FB"/>
          </a:solidFill>
          <a:ln w="12700">
            <a:solidFill>
              <a:srgbClr val="DCE6F2"/>
            </a:solidFill>
            <a:prstDash val="solid"/>
          </a:ln>
        </p:spPr>
      </p:sp>
      <p:sp>
        <p:nvSpPr>
          <p:cNvPr id="46" name="Shape 44"/>
          <p:cNvSpPr/>
          <p:nvPr/>
        </p:nvSpPr>
        <p:spPr>
          <a:xfrm>
            <a:off x="6355080" y="4581144"/>
            <a:ext cx="91440" cy="91440"/>
          </a:xfrm>
          <a:prstGeom prst="ellipse">
            <a:avLst/>
          </a:prstGeom>
          <a:solidFill>
            <a:srgbClr val="008C95"/>
          </a:solidFill>
          <a:ln w="12700">
            <a:solidFill>
              <a:srgbClr val="008C95"/>
            </a:solidFill>
            <a:prstDash val="solid"/>
          </a:ln>
        </p:spPr>
      </p:sp>
      <p:sp>
        <p:nvSpPr>
          <p:cNvPr id="47" name="Text 45"/>
          <p:cNvSpPr txBox="1"/>
          <p:nvPr/>
        </p:nvSpPr>
        <p:spPr>
          <a:xfrm>
            <a:off x="6583680" y="443484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VENDOR_PERFORMANCE_VW</a:t>
            </a:r>
            <a:endParaRPr lang="en-US" sz="1150" dirty="0"/>
          </a:p>
        </p:txBody>
      </p:sp>
      <p:sp>
        <p:nvSpPr>
          <p:cNvPr id="48" name="Shape 46"/>
          <p:cNvSpPr/>
          <p:nvPr/>
        </p:nvSpPr>
        <p:spPr>
          <a:xfrm>
            <a:off x="6172200" y="4869180"/>
            <a:ext cx="5303520" cy="384048"/>
          </a:xfrm>
          <a:prstGeom prst="roundRect">
            <a:avLst>
              <a:gd name="adj" fmla="val 11905"/>
            </a:avLst>
          </a:prstGeom>
          <a:solidFill>
            <a:srgbClr val="F2F6FB"/>
          </a:solidFill>
          <a:ln w="12700">
            <a:solidFill>
              <a:srgbClr val="DCE6F2"/>
            </a:solidFill>
            <a:prstDash val="solid"/>
          </a:ln>
        </p:spPr>
      </p:sp>
      <p:sp>
        <p:nvSpPr>
          <p:cNvPr id="49" name="Shape 47"/>
          <p:cNvSpPr/>
          <p:nvPr/>
        </p:nvSpPr>
        <p:spPr>
          <a:xfrm>
            <a:off x="6355080" y="5015484"/>
            <a:ext cx="91440" cy="91440"/>
          </a:xfrm>
          <a:prstGeom prst="ellipse">
            <a:avLst/>
          </a:prstGeom>
          <a:solidFill>
            <a:srgbClr val="008C95"/>
          </a:solidFill>
          <a:ln w="12700">
            <a:solidFill>
              <a:srgbClr val="008C95"/>
            </a:solidFill>
            <a:prstDash val="solid"/>
          </a:ln>
        </p:spPr>
      </p:sp>
      <p:sp>
        <p:nvSpPr>
          <p:cNvPr id="50" name="Text 48"/>
          <p:cNvSpPr txBox="1"/>
          <p:nvPr/>
        </p:nvSpPr>
        <p:spPr>
          <a:xfrm>
            <a:off x="6583680" y="486918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MONTHLY_CLAIMS_TREND_VW</a:t>
            </a:r>
            <a:endParaRPr lang="en-US" sz="1150" dirty="0"/>
          </a:p>
        </p:txBody>
      </p:sp>
      <p:sp>
        <p:nvSpPr>
          <p:cNvPr id="51" name="Shape 49"/>
          <p:cNvSpPr/>
          <p:nvPr/>
        </p:nvSpPr>
        <p:spPr>
          <a:xfrm>
            <a:off x="6172200" y="5303520"/>
            <a:ext cx="5303520" cy="384048"/>
          </a:xfrm>
          <a:prstGeom prst="roundRect">
            <a:avLst>
              <a:gd name="adj" fmla="val 11905"/>
            </a:avLst>
          </a:prstGeom>
          <a:solidFill>
            <a:srgbClr val="F2F6FB"/>
          </a:solidFill>
          <a:ln w="12700">
            <a:solidFill>
              <a:srgbClr val="DCE6F2"/>
            </a:solidFill>
            <a:prstDash val="solid"/>
          </a:ln>
        </p:spPr>
      </p:sp>
      <p:sp>
        <p:nvSpPr>
          <p:cNvPr id="52" name="Shape 50"/>
          <p:cNvSpPr/>
          <p:nvPr/>
        </p:nvSpPr>
        <p:spPr>
          <a:xfrm>
            <a:off x="6355080" y="5449824"/>
            <a:ext cx="91440" cy="91440"/>
          </a:xfrm>
          <a:prstGeom prst="ellipse">
            <a:avLst/>
          </a:prstGeom>
          <a:solidFill>
            <a:srgbClr val="008C95"/>
          </a:solidFill>
          <a:ln w="12700">
            <a:solidFill>
              <a:srgbClr val="008C95"/>
            </a:solidFill>
            <a:prstDash val="solid"/>
          </a:ln>
        </p:spPr>
      </p:sp>
      <p:sp>
        <p:nvSpPr>
          <p:cNvPr id="53" name="Text 51"/>
          <p:cNvSpPr txBox="1"/>
          <p:nvPr/>
        </p:nvSpPr>
        <p:spPr>
          <a:xfrm>
            <a:off x="6583680" y="530352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STATE_CLAIMS_VW</a:t>
            </a:r>
            <a:endParaRPr lang="en-US" sz="1150" dirty="0"/>
          </a:p>
        </p:txBody>
      </p:sp>
      <p:sp>
        <p:nvSpPr>
          <p:cNvPr id="54" name="Shape 52"/>
          <p:cNvSpPr/>
          <p:nvPr/>
        </p:nvSpPr>
        <p:spPr>
          <a:xfrm>
            <a:off x="6172200" y="5737860"/>
            <a:ext cx="5303520" cy="384048"/>
          </a:xfrm>
          <a:prstGeom prst="roundRect">
            <a:avLst>
              <a:gd name="adj" fmla="val 11905"/>
            </a:avLst>
          </a:prstGeom>
          <a:solidFill>
            <a:srgbClr val="F2F6FB"/>
          </a:solidFill>
          <a:ln w="12700">
            <a:solidFill>
              <a:srgbClr val="DCE6F2"/>
            </a:solidFill>
            <a:prstDash val="solid"/>
          </a:ln>
        </p:spPr>
      </p:sp>
      <p:sp>
        <p:nvSpPr>
          <p:cNvPr id="55" name="Shape 53"/>
          <p:cNvSpPr/>
          <p:nvPr/>
        </p:nvSpPr>
        <p:spPr>
          <a:xfrm>
            <a:off x="6355080" y="5884164"/>
            <a:ext cx="91440" cy="91440"/>
          </a:xfrm>
          <a:prstGeom prst="ellipse">
            <a:avLst/>
          </a:prstGeom>
          <a:solidFill>
            <a:srgbClr val="008C95"/>
          </a:solidFill>
          <a:ln w="12700">
            <a:solidFill>
              <a:srgbClr val="008C95"/>
            </a:solidFill>
            <a:prstDash val="solid"/>
          </a:ln>
        </p:spPr>
      </p:sp>
      <p:sp>
        <p:nvSpPr>
          <p:cNvPr id="56" name="Text 54"/>
          <p:cNvSpPr txBox="1"/>
          <p:nvPr/>
        </p:nvSpPr>
        <p:spPr>
          <a:xfrm>
            <a:off x="6583680" y="5737860"/>
            <a:ext cx="4709160" cy="384048"/>
          </a:xfrm>
          <a:prstGeom prst="rect">
            <a:avLst/>
          </a:prstGeom>
          <a:noFill/>
          <a:ln/>
        </p:spPr>
        <p:txBody>
          <a:bodyPr wrap="square" lIns="0" tIns="0" rIns="0" bIns="0" rtlCol="0" anchor="ctr"/>
          <a:lstStyle/>
          <a:p>
            <a:pPr marL="0" indent="0">
              <a:buNone/>
            </a:pPr>
            <a:r>
              <a:rPr lang="en-US" sz="1150" dirty="0">
                <a:solidFill>
                  <a:srgbClr val="2B3440"/>
                </a:solidFill>
                <a:latin typeface="Calibri" pitchFamily="34" charset="0"/>
                <a:ea typeface="Calibri" pitchFamily="34" charset="-122"/>
                <a:cs typeface="Calibri" pitchFamily="34" charset="-120"/>
              </a:rPr>
              <a:t>CLAIM_INVESTIGATION_PRIORITY_VW</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8">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11155680" cy="566928"/>
          </a:xfrm>
          <a:prstGeom prst="rect">
            <a:avLst/>
          </a:prstGeom>
          <a:noFill/>
          <a:ln/>
        </p:spPr>
        <p:txBody>
          <a:bodyPr wrap="square" lIns="0" tIns="0" rIns="0" bIns="0" rtlCol="0" anchor="ctr"/>
          <a:lstStyle/>
          <a:p>
            <a:pPr marL="0" indent="0">
              <a:buNone/>
            </a:pPr>
            <a:r>
              <a:rPr lang="en-US" sz="2700" b="1" dirty="0">
                <a:solidFill>
                  <a:srgbClr val="17365D"/>
                </a:solidFill>
                <a:latin typeface="Cambria" pitchFamily="34" charset="0"/>
                <a:ea typeface="Cambria" pitchFamily="34" charset="-122"/>
                <a:cs typeface="Cambria" pitchFamily="34" charset="-120"/>
              </a:rPr>
              <a:t>Appendix D — Key Power BI Measures</a:t>
            </a:r>
            <a:endParaRPr lang="en-US" sz="2700" dirty="0"/>
          </a:p>
        </p:txBody>
      </p:sp>
      <p:sp>
        <p:nvSpPr>
          <p:cNvPr id="3" name="Text 1"/>
          <p:cNvSpPr txBox="1"/>
          <p:nvPr/>
        </p:nvSpPr>
        <p:spPr>
          <a:xfrm>
            <a:off x="530352" y="896112"/>
            <a:ext cx="11155680" cy="292608"/>
          </a:xfrm>
          <a:prstGeom prst="rect">
            <a:avLst/>
          </a:prstGeom>
          <a:noFill/>
          <a:ln/>
        </p:spPr>
        <p:txBody>
          <a:bodyPr wrap="square" lIns="0" tIns="0" rIns="0" bIns="0" rtlCol="0" anchor="ctr"/>
          <a:lstStyle/>
          <a:p>
            <a:pPr marL="0" indent="0">
              <a:buNone/>
            </a:pPr>
            <a:r>
              <a:rPr lang="en-US" sz="1300" i="1" dirty="0">
                <a:solidFill>
                  <a:srgbClr val="6B7684"/>
                </a:solidFill>
                <a:latin typeface="Calibri" pitchFamily="34" charset="0"/>
                <a:ea typeface="Calibri" pitchFamily="34" charset="-122"/>
                <a:cs typeface="Calibri" pitchFamily="34" charset="-120"/>
              </a:rPr>
              <a:t>DAX measures built on CLAIMS_ANALYTICS_VW</a:t>
            </a:r>
            <a:endParaRPr lang="en-US" sz="1300" dirty="0"/>
          </a:p>
        </p:txBody>
      </p:sp>
      <p:sp>
        <p:nvSpPr>
          <p:cNvPr id="4" name="Text 2"/>
          <p:cNvSpPr txBox="1"/>
          <p:nvPr/>
        </p:nvSpPr>
        <p:spPr>
          <a:xfrm>
            <a:off x="11247120" y="6419088"/>
            <a:ext cx="502920" cy="274320"/>
          </a:xfrm>
          <a:prstGeom prst="rect">
            <a:avLst/>
          </a:prstGeom>
          <a:noFill/>
          <a:ln/>
        </p:spPr>
        <p:txBody>
          <a:bodyPr wrap="square" lIns="0" tIns="0" rIns="0" bIns="0" rtlCol="0" anchor="ctr"/>
          <a:lstStyle/>
          <a:p>
            <a:pPr marL="0" indent="0" algn="r">
              <a:buNone/>
            </a:pPr>
            <a:r>
              <a:rPr lang="en-US" sz="1000" dirty="0">
                <a:solidFill>
                  <a:srgbClr val="6B7684"/>
                </a:solidFill>
                <a:latin typeface="Calibri" pitchFamily="34" charset="0"/>
                <a:ea typeface="Calibri" pitchFamily="34" charset="-122"/>
                <a:cs typeface="Calibri" pitchFamily="34" charset="-120"/>
              </a:rPr>
              <a:t>35</a:t>
            </a:r>
            <a:endParaRPr lang="en-US" sz="1000" dirty="0"/>
          </a:p>
        </p:txBody>
      </p:sp>
      <p:sp>
        <p:nvSpPr>
          <p:cNvPr id="5" name="Shape 3"/>
          <p:cNvSpPr/>
          <p:nvPr/>
        </p:nvSpPr>
        <p:spPr>
          <a:xfrm>
            <a:off x="502920" y="1463040"/>
            <a:ext cx="3611880" cy="4114800"/>
          </a:xfrm>
          <a:prstGeom prst="roundRect">
            <a:avLst>
              <a:gd name="adj" fmla="val 202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6" name="Shape 4"/>
          <p:cNvSpPr/>
          <p:nvPr/>
        </p:nvSpPr>
        <p:spPr>
          <a:xfrm>
            <a:off x="502920" y="1463040"/>
            <a:ext cx="3611880" cy="566928"/>
          </a:xfrm>
          <a:prstGeom prst="roundRect">
            <a:avLst>
              <a:gd name="adj" fmla="val 12903"/>
            </a:avLst>
          </a:prstGeom>
          <a:solidFill>
            <a:srgbClr val="2F75B5"/>
          </a:solidFill>
          <a:ln w="12700">
            <a:solidFill>
              <a:srgbClr val="2F75B5"/>
            </a:solidFill>
            <a:prstDash val="solid"/>
          </a:ln>
        </p:spPr>
      </p:sp>
      <p:sp>
        <p:nvSpPr>
          <p:cNvPr id="7" name="Text 5"/>
          <p:cNvSpPr txBox="1"/>
          <p:nvPr/>
        </p:nvSpPr>
        <p:spPr>
          <a:xfrm>
            <a:off x="502920" y="1463040"/>
            <a:ext cx="3611880" cy="566928"/>
          </a:xfrm>
          <a:prstGeom prst="rect">
            <a:avLst/>
          </a:prstGeom>
          <a:noFill/>
          <a:ln/>
        </p:spPr>
        <p:txBody>
          <a:bodyPr wrap="square" lIns="0" tIns="0" rIns="0" bIns="0" rtlCol="0" anchor="ctr"/>
          <a:lstStyle/>
          <a:p>
            <a:pPr marL="0" indent="0" algn="ctr">
              <a:buNone/>
            </a:pPr>
            <a:r>
              <a:rPr lang="en-US" sz="1450" b="1" dirty="0">
                <a:solidFill>
                  <a:srgbClr val="FFFFFF"/>
                </a:solidFill>
                <a:latin typeface="Cambria" pitchFamily="34" charset="0"/>
                <a:ea typeface="Cambria" pitchFamily="34" charset="-122"/>
                <a:cs typeface="Cambria" pitchFamily="34" charset="-120"/>
              </a:rPr>
              <a:t>Volume Measures</a:t>
            </a:r>
            <a:endParaRPr lang="en-US" sz="1450" dirty="0"/>
          </a:p>
        </p:txBody>
      </p:sp>
      <p:sp>
        <p:nvSpPr>
          <p:cNvPr id="8" name="Shape 6"/>
          <p:cNvSpPr/>
          <p:nvPr/>
        </p:nvSpPr>
        <p:spPr>
          <a:xfrm>
            <a:off x="777240" y="2404872"/>
            <a:ext cx="109728" cy="109728"/>
          </a:xfrm>
          <a:prstGeom prst="ellipse">
            <a:avLst/>
          </a:prstGeom>
          <a:solidFill>
            <a:srgbClr val="2F75B5"/>
          </a:solidFill>
          <a:ln w="12700">
            <a:solidFill>
              <a:srgbClr val="2F75B5"/>
            </a:solidFill>
            <a:prstDash val="solid"/>
          </a:ln>
        </p:spPr>
      </p:sp>
      <p:sp>
        <p:nvSpPr>
          <p:cNvPr id="9" name="Text 7"/>
          <p:cNvSpPr txBox="1"/>
          <p:nvPr/>
        </p:nvSpPr>
        <p:spPr>
          <a:xfrm>
            <a:off x="1033272" y="2240280"/>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Total Claims</a:t>
            </a:r>
            <a:endParaRPr lang="en-US" sz="1200" dirty="0"/>
          </a:p>
        </p:txBody>
      </p:sp>
      <p:sp>
        <p:nvSpPr>
          <p:cNvPr id="10" name="Shape 8"/>
          <p:cNvSpPr/>
          <p:nvPr/>
        </p:nvSpPr>
        <p:spPr>
          <a:xfrm>
            <a:off x="777240" y="3008376"/>
            <a:ext cx="109728" cy="109728"/>
          </a:xfrm>
          <a:prstGeom prst="ellipse">
            <a:avLst/>
          </a:prstGeom>
          <a:solidFill>
            <a:srgbClr val="2F75B5"/>
          </a:solidFill>
          <a:ln w="12700">
            <a:solidFill>
              <a:srgbClr val="2F75B5"/>
            </a:solidFill>
            <a:prstDash val="solid"/>
          </a:ln>
        </p:spPr>
      </p:sp>
      <p:sp>
        <p:nvSpPr>
          <p:cNvPr id="11" name="Text 9"/>
          <p:cNvSpPr txBox="1"/>
          <p:nvPr/>
        </p:nvSpPr>
        <p:spPr>
          <a:xfrm>
            <a:off x="1033272" y="2843784"/>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Total Customers</a:t>
            </a:r>
            <a:endParaRPr lang="en-US" sz="1200" dirty="0"/>
          </a:p>
        </p:txBody>
      </p:sp>
      <p:sp>
        <p:nvSpPr>
          <p:cNvPr id="12" name="Shape 10"/>
          <p:cNvSpPr/>
          <p:nvPr/>
        </p:nvSpPr>
        <p:spPr>
          <a:xfrm>
            <a:off x="777240" y="3611880"/>
            <a:ext cx="109728" cy="109728"/>
          </a:xfrm>
          <a:prstGeom prst="ellipse">
            <a:avLst/>
          </a:prstGeom>
          <a:solidFill>
            <a:srgbClr val="2F75B5"/>
          </a:solidFill>
          <a:ln w="12700">
            <a:solidFill>
              <a:srgbClr val="2F75B5"/>
            </a:solidFill>
            <a:prstDash val="solid"/>
          </a:ln>
        </p:spPr>
      </p:sp>
      <p:sp>
        <p:nvSpPr>
          <p:cNvPr id="13" name="Text 11"/>
          <p:cNvSpPr txBox="1"/>
          <p:nvPr/>
        </p:nvSpPr>
        <p:spPr>
          <a:xfrm>
            <a:off x="1033272" y="3447288"/>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Total Agents</a:t>
            </a:r>
            <a:endParaRPr lang="en-US" sz="1200" dirty="0"/>
          </a:p>
        </p:txBody>
      </p:sp>
      <p:sp>
        <p:nvSpPr>
          <p:cNvPr id="14" name="Shape 12"/>
          <p:cNvSpPr/>
          <p:nvPr/>
        </p:nvSpPr>
        <p:spPr>
          <a:xfrm>
            <a:off x="777240" y="4215384"/>
            <a:ext cx="109728" cy="109728"/>
          </a:xfrm>
          <a:prstGeom prst="ellipse">
            <a:avLst/>
          </a:prstGeom>
          <a:solidFill>
            <a:srgbClr val="2F75B5"/>
          </a:solidFill>
          <a:ln w="12700">
            <a:solidFill>
              <a:srgbClr val="2F75B5"/>
            </a:solidFill>
            <a:prstDash val="solid"/>
          </a:ln>
        </p:spPr>
      </p:sp>
      <p:sp>
        <p:nvSpPr>
          <p:cNvPr id="15" name="Text 13"/>
          <p:cNvSpPr txBox="1"/>
          <p:nvPr/>
        </p:nvSpPr>
        <p:spPr>
          <a:xfrm>
            <a:off x="1033272" y="4050792"/>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Total Vendors</a:t>
            </a:r>
            <a:endParaRPr lang="en-US" sz="1200" dirty="0"/>
          </a:p>
        </p:txBody>
      </p:sp>
      <p:sp>
        <p:nvSpPr>
          <p:cNvPr id="16" name="Shape 14"/>
          <p:cNvSpPr/>
          <p:nvPr/>
        </p:nvSpPr>
        <p:spPr>
          <a:xfrm>
            <a:off x="777240" y="4818888"/>
            <a:ext cx="109728" cy="109728"/>
          </a:xfrm>
          <a:prstGeom prst="ellipse">
            <a:avLst/>
          </a:prstGeom>
          <a:solidFill>
            <a:srgbClr val="2F75B5"/>
          </a:solidFill>
          <a:ln w="12700">
            <a:solidFill>
              <a:srgbClr val="2F75B5"/>
            </a:solidFill>
            <a:prstDash val="solid"/>
          </a:ln>
        </p:spPr>
      </p:sp>
      <p:sp>
        <p:nvSpPr>
          <p:cNvPr id="17" name="Text 15"/>
          <p:cNvSpPr txBox="1"/>
          <p:nvPr/>
        </p:nvSpPr>
        <p:spPr>
          <a:xfrm>
            <a:off x="1033272" y="4654296"/>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High-Value Claims</a:t>
            </a:r>
            <a:endParaRPr lang="en-US" sz="1200" dirty="0"/>
          </a:p>
        </p:txBody>
      </p:sp>
      <p:sp>
        <p:nvSpPr>
          <p:cNvPr id="18" name="Shape 16"/>
          <p:cNvSpPr/>
          <p:nvPr/>
        </p:nvSpPr>
        <p:spPr>
          <a:xfrm>
            <a:off x="4334256" y="1463040"/>
            <a:ext cx="3611880" cy="4114800"/>
          </a:xfrm>
          <a:prstGeom prst="roundRect">
            <a:avLst>
              <a:gd name="adj" fmla="val 202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19" name="Shape 17"/>
          <p:cNvSpPr/>
          <p:nvPr/>
        </p:nvSpPr>
        <p:spPr>
          <a:xfrm>
            <a:off x="4334256" y="1463040"/>
            <a:ext cx="3611880" cy="566928"/>
          </a:xfrm>
          <a:prstGeom prst="roundRect">
            <a:avLst>
              <a:gd name="adj" fmla="val 12903"/>
            </a:avLst>
          </a:prstGeom>
          <a:solidFill>
            <a:srgbClr val="17365D"/>
          </a:solidFill>
          <a:ln w="12700">
            <a:solidFill>
              <a:srgbClr val="17365D"/>
            </a:solidFill>
            <a:prstDash val="solid"/>
          </a:ln>
        </p:spPr>
      </p:sp>
      <p:sp>
        <p:nvSpPr>
          <p:cNvPr id="20" name="Text 18"/>
          <p:cNvSpPr txBox="1"/>
          <p:nvPr/>
        </p:nvSpPr>
        <p:spPr>
          <a:xfrm>
            <a:off x="4334256" y="1463040"/>
            <a:ext cx="3611880" cy="566928"/>
          </a:xfrm>
          <a:prstGeom prst="rect">
            <a:avLst/>
          </a:prstGeom>
          <a:noFill/>
          <a:ln/>
        </p:spPr>
        <p:txBody>
          <a:bodyPr wrap="square" lIns="0" tIns="0" rIns="0" bIns="0" rtlCol="0" anchor="ctr"/>
          <a:lstStyle/>
          <a:p>
            <a:pPr marL="0" indent="0" algn="ctr">
              <a:buNone/>
            </a:pPr>
            <a:r>
              <a:rPr lang="en-US" sz="1450" b="1" dirty="0">
                <a:solidFill>
                  <a:srgbClr val="FFFFFF"/>
                </a:solidFill>
                <a:latin typeface="Cambria" pitchFamily="34" charset="0"/>
                <a:ea typeface="Cambria" pitchFamily="34" charset="-122"/>
                <a:cs typeface="Cambria" pitchFamily="34" charset="-120"/>
              </a:rPr>
              <a:t>Financial Measures</a:t>
            </a:r>
            <a:endParaRPr lang="en-US" sz="1450" dirty="0"/>
          </a:p>
        </p:txBody>
      </p:sp>
      <p:sp>
        <p:nvSpPr>
          <p:cNvPr id="21" name="Shape 19"/>
          <p:cNvSpPr/>
          <p:nvPr/>
        </p:nvSpPr>
        <p:spPr>
          <a:xfrm>
            <a:off x="4608576" y="2404872"/>
            <a:ext cx="109728" cy="109728"/>
          </a:xfrm>
          <a:prstGeom prst="ellipse">
            <a:avLst/>
          </a:prstGeom>
          <a:solidFill>
            <a:srgbClr val="17365D"/>
          </a:solidFill>
          <a:ln w="12700">
            <a:solidFill>
              <a:srgbClr val="17365D"/>
            </a:solidFill>
            <a:prstDash val="solid"/>
          </a:ln>
        </p:spPr>
      </p:sp>
      <p:sp>
        <p:nvSpPr>
          <p:cNvPr id="22" name="Text 20"/>
          <p:cNvSpPr txBox="1"/>
          <p:nvPr/>
        </p:nvSpPr>
        <p:spPr>
          <a:xfrm>
            <a:off x="4864608" y="2240280"/>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Total Claim Amount</a:t>
            </a:r>
            <a:endParaRPr lang="en-US" sz="1200" dirty="0"/>
          </a:p>
        </p:txBody>
      </p:sp>
      <p:sp>
        <p:nvSpPr>
          <p:cNvPr id="23" name="Shape 21"/>
          <p:cNvSpPr/>
          <p:nvPr/>
        </p:nvSpPr>
        <p:spPr>
          <a:xfrm>
            <a:off x="4608576" y="3008376"/>
            <a:ext cx="109728" cy="109728"/>
          </a:xfrm>
          <a:prstGeom prst="ellipse">
            <a:avLst/>
          </a:prstGeom>
          <a:solidFill>
            <a:srgbClr val="17365D"/>
          </a:solidFill>
          <a:ln w="12700">
            <a:solidFill>
              <a:srgbClr val="17365D"/>
            </a:solidFill>
            <a:prstDash val="solid"/>
          </a:ln>
        </p:spPr>
      </p:sp>
      <p:sp>
        <p:nvSpPr>
          <p:cNvPr id="24" name="Text 22"/>
          <p:cNvSpPr txBox="1"/>
          <p:nvPr/>
        </p:nvSpPr>
        <p:spPr>
          <a:xfrm>
            <a:off x="4864608" y="2843784"/>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Average Claim Amount</a:t>
            </a:r>
            <a:endParaRPr lang="en-US" sz="1200" dirty="0"/>
          </a:p>
        </p:txBody>
      </p:sp>
      <p:sp>
        <p:nvSpPr>
          <p:cNvPr id="25" name="Shape 23"/>
          <p:cNvSpPr/>
          <p:nvPr/>
        </p:nvSpPr>
        <p:spPr>
          <a:xfrm>
            <a:off x="4608576" y="3611880"/>
            <a:ext cx="109728" cy="109728"/>
          </a:xfrm>
          <a:prstGeom prst="ellipse">
            <a:avLst/>
          </a:prstGeom>
          <a:solidFill>
            <a:srgbClr val="17365D"/>
          </a:solidFill>
          <a:ln w="12700">
            <a:solidFill>
              <a:srgbClr val="17365D"/>
            </a:solidFill>
            <a:prstDash val="solid"/>
          </a:ln>
        </p:spPr>
      </p:sp>
      <p:sp>
        <p:nvSpPr>
          <p:cNvPr id="26" name="Text 24"/>
          <p:cNvSpPr txBox="1"/>
          <p:nvPr/>
        </p:nvSpPr>
        <p:spPr>
          <a:xfrm>
            <a:off x="4864608" y="3447288"/>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Median Claim Amount</a:t>
            </a:r>
            <a:endParaRPr lang="en-US" sz="1200" dirty="0"/>
          </a:p>
        </p:txBody>
      </p:sp>
      <p:sp>
        <p:nvSpPr>
          <p:cNvPr id="27" name="Shape 25"/>
          <p:cNvSpPr/>
          <p:nvPr/>
        </p:nvSpPr>
        <p:spPr>
          <a:xfrm>
            <a:off x="4608576" y="4215384"/>
            <a:ext cx="109728" cy="109728"/>
          </a:xfrm>
          <a:prstGeom prst="ellipse">
            <a:avLst/>
          </a:prstGeom>
          <a:solidFill>
            <a:srgbClr val="17365D"/>
          </a:solidFill>
          <a:ln w="12700">
            <a:solidFill>
              <a:srgbClr val="17365D"/>
            </a:solidFill>
            <a:prstDash val="solid"/>
          </a:ln>
        </p:spPr>
      </p:sp>
      <p:sp>
        <p:nvSpPr>
          <p:cNvPr id="28" name="Text 26"/>
          <p:cNvSpPr txBox="1"/>
          <p:nvPr/>
        </p:nvSpPr>
        <p:spPr>
          <a:xfrm>
            <a:off x="4864608" y="4050792"/>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Total Premium</a:t>
            </a:r>
            <a:endParaRPr lang="en-US" sz="1200" dirty="0"/>
          </a:p>
        </p:txBody>
      </p:sp>
      <p:sp>
        <p:nvSpPr>
          <p:cNvPr id="29" name="Shape 27"/>
          <p:cNvSpPr/>
          <p:nvPr/>
        </p:nvSpPr>
        <p:spPr>
          <a:xfrm>
            <a:off x="4608576" y="4818888"/>
            <a:ext cx="109728" cy="109728"/>
          </a:xfrm>
          <a:prstGeom prst="ellipse">
            <a:avLst/>
          </a:prstGeom>
          <a:solidFill>
            <a:srgbClr val="17365D"/>
          </a:solidFill>
          <a:ln w="12700">
            <a:solidFill>
              <a:srgbClr val="17365D"/>
            </a:solidFill>
            <a:prstDash val="solid"/>
          </a:ln>
        </p:spPr>
      </p:sp>
      <p:sp>
        <p:nvSpPr>
          <p:cNvPr id="30" name="Text 28"/>
          <p:cNvSpPr txBox="1"/>
          <p:nvPr/>
        </p:nvSpPr>
        <p:spPr>
          <a:xfrm>
            <a:off x="4864608" y="4654296"/>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Average Premium</a:t>
            </a:r>
            <a:endParaRPr lang="en-US" sz="1200" dirty="0"/>
          </a:p>
        </p:txBody>
      </p:sp>
      <p:sp>
        <p:nvSpPr>
          <p:cNvPr id="31" name="Shape 29"/>
          <p:cNvSpPr/>
          <p:nvPr/>
        </p:nvSpPr>
        <p:spPr>
          <a:xfrm>
            <a:off x="8165592" y="1463040"/>
            <a:ext cx="3611880" cy="4114800"/>
          </a:xfrm>
          <a:prstGeom prst="roundRect">
            <a:avLst>
              <a:gd name="adj" fmla="val 2025"/>
            </a:avLst>
          </a:prstGeom>
          <a:solidFill>
            <a:srgbClr val="FFFFFF"/>
          </a:solidFill>
          <a:ln w="9525">
            <a:solidFill>
              <a:srgbClr val="D6DEE8"/>
            </a:solidFill>
            <a:prstDash val="solid"/>
          </a:ln>
          <a:effectLst>
            <a:outerShdw blurRad="101600" dist="25400" dir="5400000" algn="bl" rotWithShape="0">
              <a:srgbClr val="9AA8B8">
                <a:alpha val="32000"/>
              </a:srgbClr>
            </a:outerShdw>
          </a:effectLst>
        </p:spPr>
      </p:sp>
      <p:sp>
        <p:nvSpPr>
          <p:cNvPr id="32" name="Shape 30"/>
          <p:cNvSpPr/>
          <p:nvPr/>
        </p:nvSpPr>
        <p:spPr>
          <a:xfrm>
            <a:off x="8165592" y="1463040"/>
            <a:ext cx="3611880" cy="566928"/>
          </a:xfrm>
          <a:prstGeom prst="roundRect">
            <a:avLst>
              <a:gd name="adj" fmla="val 12903"/>
            </a:avLst>
          </a:prstGeom>
          <a:solidFill>
            <a:srgbClr val="008C95"/>
          </a:solidFill>
          <a:ln w="12700">
            <a:solidFill>
              <a:srgbClr val="008C95"/>
            </a:solidFill>
            <a:prstDash val="solid"/>
          </a:ln>
        </p:spPr>
      </p:sp>
      <p:sp>
        <p:nvSpPr>
          <p:cNvPr id="33" name="Text 31"/>
          <p:cNvSpPr txBox="1"/>
          <p:nvPr/>
        </p:nvSpPr>
        <p:spPr>
          <a:xfrm>
            <a:off x="8165592" y="1463040"/>
            <a:ext cx="3611880" cy="566928"/>
          </a:xfrm>
          <a:prstGeom prst="rect">
            <a:avLst/>
          </a:prstGeom>
          <a:noFill/>
          <a:ln/>
        </p:spPr>
        <p:txBody>
          <a:bodyPr wrap="square" lIns="0" tIns="0" rIns="0" bIns="0" rtlCol="0" anchor="ctr"/>
          <a:lstStyle/>
          <a:p>
            <a:pPr marL="0" indent="0" algn="ctr">
              <a:buNone/>
            </a:pPr>
            <a:r>
              <a:rPr lang="en-US" sz="1450" b="1" dirty="0">
                <a:solidFill>
                  <a:srgbClr val="FFFFFF"/>
                </a:solidFill>
                <a:latin typeface="Cambria" pitchFamily="34" charset="0"/>
                <a:ea typeface="Cambria" pitchFamily="34" charset="-122"/>
                <a:cs typeface="Cambria" pitchFamily="34" charset="-120"/>
              </a:rPr>
              <a:t>Ratio &amp; Operational</a:t>
            </a:r>
            <a:endParaRPr lang="en-US" sz="1450" dirty="0"/>
          </a:p>
        </p:txBody>
      </p:sp>
      <p:sp>
        <p:nvSpPr>
          <p:cNvPr id="34" name="Shape 32"/>
          <p:cNvSpPr/>
          <p:nvPr/>
        </p:nvSpPr>
        <p:spPr>
          <a:xfrm>
            <a:off x="8439912" y="2404872"/>
            <a:ext cx="109728" cy="109728"/>
          </a:xfrm>
          <a:prstGeom prst="ellipse">
            <a:avLst/>
          </a:prstGeom>
          <a:solidFill>
            <a:srgbClr val="008C95"/>
          </a:solidFill>
          <a:ln w="12700">
            <a:solidFill>
              <a:srgbClr val="008C95"/>
            </a:solidFill>
            <a:prstDash val="solid"/>
          </a:ln>
        </p:spPr>
      </p:sp>
      <p:sp>
        <p:nvSpPr>
          <p:cNvPr id="35" name="Text 33"/>
          <p:cNvSpPr txBox="1"/>
          <p:nvPr/>
        </p:nvSpPr>
        <p:spPr>
          <a:xfrm>
            <a:off x="8695944" y="2240280"/>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Average Claim-to-Premium Ratio</a:t>
            </a:r>
            <a:endParaRPr lang="en-US" sz="1200" dirty="0"/>
          </a:p>
        </p:txBody>
      </p:sp>
      <p:sp>
        <p:nvSpPr>
          <p:cNvPr id="36" name="Shape 34"/>
          <p:cNvSpPr/>
          <p:nvPr/>
        </p:nvSpPr>
        <p:spPr>
          <a:xfrm>
            <a:off x="8439912" y="3008376"/>
            <a:ext cx="109728" cy="109728"/>
          </a:xfrm>
          <a:prstGeom prst="ellipse">
            <a:avLst/>
          </a:prstGeom>
          <a:solidFill>
            <a:srgbClr val="008C95"/>
          </a:solidFill>
          <a:ln w="12700">
            <a:solidFill>
              <a:srgbClr val="008C95"/>
            </a:solidFill>
            <a:prstDash val="solid"/>
          </a:ln>
        </p:spPr>
      </p:sp>
      <p:sp>
        <p:nvSpPr>
          <p:cNvPr id="37" name="Text 35"/>
          <p:cNvSpPr txBox="1"/>
          <p:nvPr/>
        </p:nvSpPr>
        <p:spPr>
          <a:xfrm>
            <a:off x="8695944" y="2843784"/>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Average Reporting Delay</a:t>
            </a:r>
            <a:endParaRPr lang="en-US" sz="1200" dirty="0"/>
          </a:p>
        </p:txBody>
      </p:sp>
      <p:sp>
        <p:nvSpPr>
          <p:cNvPr id="38" name="Shape 36"/>
          <p:cNvSpPr/>
          <p:nvPr/>
        </p:nvSpPr>
        <p:spPr>
          <a:xfrm>
            <a:off x="8439912" y="3611880"/>
            <a:ext cx="109728" cy="109728"/>
          </a:xfrm>
          <a:prstGeom prst="ellipse">
            <a:avLst/>
          </a:prstGeom>
          <a:solidFill>
            <a:srgbClr val="008C95"/>
          </a:solidFill>
          <a:ln w="12700">
            <a:solidFill>
              <a:srgbClr val="008C95"/>
            </a:solidFill>
            <a:prstDash val="solid"/>
          </a:ln>
        </p:spPr>
      </p:sp>
      <p:sp>
        <p:nvSpPr>
          <p:cNvPr id="39" name="Text 37"/>
          <p:cNvSpPr txBox="1"/>
          <p:nvPr/>
        </p:nvSpPr>
        <p:spPr>
          <a:xfrm>
            <a:off x="8695944" y="3447288"/>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Same-Day Claims</a:t>
            </a:r>
            <a:endParaRPr lang="en-US" sz="1200" dirty="0"/>
          </a:p>
        </p:txBody>
      </p:sp>
      <p:sp>
        <p:nvSpPr>
          <p:cNvPr id="40" name="Shape 38"/>
          <p:cNvSpPr/>
          <p:nvPr/>
        </p:nvSpPr>
        <p:spPr>
          <a:xfrm>
            <a:off x="8439912" y="4215384"/>
            <a:ext cx="109728" cy="109728"/>
          </a:xfrm>
          <a:prstGeom prst="ellipse">
            <a:avLst/>
          </a:prstGeom>
          <a:solidFill>
            <a:srgbClr val="008C95"/>
          </a:solidFill>
          <a:ln w="12700">
            <a:solidFill>
              <a:srgbClr val="008C95"/>
            </a:solidFill>
            <a:prstDash val="solid"/>
          </a:ln>
        </p:spPr>
      </p:sp>
      <p:sp>
        <p:nvSpPr>
          <p:cNvPr id="41" name="Text 39"/>
          <p:cNvSpPr txBox="1"/>
          <p:nvPr/>
        </p:nvSpPr>
        <p:spPr>
          <a:xfrm>
            <a:off x="8695944" y="4050792"/>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Same-Day Reporting %</a:t>
            </a:r>
            <a:endParaRPr lang="en-US" sz="1200" dirty="0"/>
          </a:p>
        </p:txBody>
      </p:sp>
      <p:sp>
        <p:nvSpPr>
          <p:cNvPr id="42" name="Shape 40"/>
          <p:cNvSpPr/>
          <p:nvPr/>
        </p:nvSpPr>
        <p:spPr>
          <a:xfrm>
            <a:off x="8439912" y="4818888"/>
            <a:ext cx="109728" cy="109728"/>
          </a:xfrm>
          <a:prstGeom prst="ellipse">
            <a:avLst/>
          </a:prstGeom>
          <a:solidFill>
            <a:srgbClr val="008C95"/>
          </a:solidFill>
          <a:ln w="12700">
            <a:solidFill>
              <a:srgbClr val="008C95"/>
            </a:solidFill>
            <a:prstDash val="solid"/>
          </a:ln>
        </p:spPr>
      </p:sp>
      <p:sp>
        <p:nvSpPr>
          <p:cNvPr id="43" name="Text 41"/>
          <p:cNvSpPr txBox="1"/>
          <p:nvPr/>
        </p:nvSpPr>
        <p:spPr>
          <a:xfrm>
            <a:off x="8695944" y="4654296"/>
            <a:ext cx="2834640" cy="438912"/>
          </a:xfrm>
          <a:prstGeom prst="rect">
            <a:avLst/>
          </a:prstGeom>
          <a:noFill/>
          <a:ln/>
        </p:spPr>
        <p:txBody>
          <a:bodyPr wrap="square" lIns="0" tIns="0" rIns="0" bIns="0" rtlCol="0" anchor="ctr"/>
          <a:lstStyle/>
          <a:p>
            <a:pPr marL="0" indent="0">
              <a:buNone/>
            </a:pPr>
            <a:r>
              <a:rPr lang="en-US" sz="1200" dirty="0">
                <a:solidFill>
                  <a:srgbClr val="2B3440"/>
                </a:solidFill>
                <a:latin typeface="Calibri" pitchFamily="34" charset="0"/>
                <a:ea typeface="Calibri" pitchFamily="34" charset="-122"/>
                <a:cs typeface="Calibri" pitchFamily="34" charset="-120"/>
              </a:rPr>
              <a:t>High-Value Claim %</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230</TotalTime>
  <Words>5161</Words>
  <Application>Microsoft Office PowerPoint</Application>
  <PresentationFormat>Widescreen</PresentationFormat>
  <Paragraphs>1011</Paragraphs>
  <Slides>37</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Claims Analytics</dc:title>
  <dc:subject>PptxGenJS Presentation</dc:subject>
  <dc:creator>Shubham Vishwakarma</dc:creator>
  <cp:lastModifiedBy>shubham vishwakarma</cp:lastModifiedBy>
  <cp:revision>9</cp:revision>
  <dcterms:created xsi:type="dcterms:W3CDTF">2026-09-19T15:04:25Z</dcterms:created>
  <dcterms:modified xsi:type="dcterms:W3CDTF">2026-09-23T05:31:06Z</dcterms:modified>
</cp:coreProperties>
</file>