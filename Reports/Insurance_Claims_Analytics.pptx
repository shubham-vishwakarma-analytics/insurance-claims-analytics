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4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Claims</c:v>
                </c:pt>
              </c:strCache>
            </c:strRef>
          </c:tx>
          <c:spPr>
            <a:solidFill>
              <a:srgbClr val="2F75B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B344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Motor</c:v>
                </c:pt>
                <c:pt idx="1">
                  <c:v>Travel</c:v>
                </c:pt>
                <c:pt idx="2">
                  <c:v>Life</c:v>
                </c:pt>
                <c:pt idx="3">
                  <c:v>Health</c:v>
                </c:pt>
                <c:pt idx="4">
                  <c:v>Mobile</c:v>
                </c:pt>
                <c:pt idx="5">
                  <c:v>Property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1574</c:v>
                </c:pt>
                <c:pt idx="1">
                  <c:v>1670</c:v>
                </c:pt>
                <c:pt idx="2">
                  <c:v>1682</c:v>
                </c:pt>
                <c:pt idx="3">
                  <c:v>1690</c:v>
                </c:pt>
                <c:pt idx="4">
                  <c:v>1692</c:v>
                </c:pt>
                <c:pt idx="5">
                  <c:v>1692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B2-4628-BB39-052753CAB4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34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11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Claims</c:v>
                </c:pt>
              </c:strCache>
            </c:strRef>
          </c:tx>
          <c:spPr>
            <a:solidFill>
              <a:srgbClr val="17365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B344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1455</c:v>
                </c:pt>
                <c:pt idx="1">
                  <c:v>4150</c:v>
                </c:pt>
                <c:pt idx="2">
                  <c:v>4395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F-408E-911C-35E31B5B85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34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493.7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Claims</c:v>
                </c:pt>
              </c:strCache>
            </c:strRef>
          </c:tx>
          <c:spPr>
            <a:solidFill>
              <a:srgbClr val="008C9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B344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Minor Loss</c:v>
                </c:pt>
                <c:pt idx="1">
                  <c:v>Major Loss</c:v>
                </c:pt>
                <c:pt idx="2">
                  <c:v>Total Loss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3293</c:v>
                </c:pt>
                <c:pt idx="1">
                  <c:v>3317</c:v>
                </c:pt>
                <c:pt idx="2">
                  <c:v>3390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F7-430D-89F5-80FC1CEF45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34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37.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185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 everyone. Today I'll be presenting my end-to-end Insurance Claims Analytics project, covering the full pipeline from raw data profiling in Excel through Snowflake, Python, Power BI, Streamlit and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covers 10,000 claims worth 165.64 million rupees across six insurance types, 1,200 agents and three risk segments.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problem is not that I had a dataset — it is that claims data sits raw and unusable. Companies cannot see exposure, risk patterns, reporting behaviour or estimate future claim amounts without a structured analytical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move deliberately from descriptive, to diagnostic, to predictive.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insurance table is the fact table; employee and vendor are reference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effectively a star schema: one fact table with two dimension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cleaning layer, three consumers — that is the key architectural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claim is 16,563 but median is 7,000 — the distribution is right-skewed, driven by a small number of very high-value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relationship here is a pattern, not a cause. I checked risk against severity, risk against insurance type, claim amount against severity, reporting delay against claim amount, and exposure across agents and vendors. The takeaway line is the one I would stress in a review: diagnostic analysis shows what moves together, not what drives what.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Life insurance alone accounts for 91M of the 165M total exposure — over half — while claim volume is almost evenly split across all six types. High value, not high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Severity is almost perfectly even across the three classes, so severity alone does not segment the book — it has to be combined with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wording — Top Agents by Claim Exposure, not best agents. Exposure reflects workload and claim value, not performance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1188720" y="160020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300" b="1" kern="0" spc="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CLAIMS ANALYTICS</a:t>
            </a:r>
            <a:endParaRPr lang="en-US" sz="4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54203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Operations  |  End-to-End Data Analytics Project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83564" y="3200400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2A5C96"/>
          </a:solidFill>
          <a:ln w="12700">
            <a:solidFill>
              <a:srgbClr val="2A5C9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3564" y="32004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88169" y="3200400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2A5C96"/>
          </a:solidFill>
          <a:ln w="12700">
            <a:solidFill>
              <a:srgbClr val="2A5C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66265" y="3216635"/>
            <a:ext cx="15906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Snowflake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43352" y="3218688"/>
            <a:ext cx="2168155" cy="384048"/>
          </a:xfrm>
          <a:prstGeom prst="roundRect">
            <a:avLst>
              <a:gd name="adj" fmla="val 14286"/>
            </a:avLst>
          </a:prstGeom>
          <a:solidFill>
            <a:srgbClr val="2A5C96"/>
          </a:solidFill>
          <a:ln w="12700">
            <a:solidFill>
              <a:srgbClr val="2A5C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33625" y="3209544"/>
            <a:ext cx="19876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Databricks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75050" y="3209544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2A5C96"/>
          </a:solidFill>
          <a:ln w="12700">
            <a:solidFill>
              <a:srgbClr val="2A5C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70408" y="3255264"/>
            <a:ext cx="12476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31115" y="3191256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2A5C96"/>
          </a:solidFill>
          <a:ln w="12700">
            <a:solidFill>
              <a:srgbClr val="2A5C9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13387" y="321253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94876" y="320040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2A5C96"/>
          </a:solidFill>
          <a:ln w="12700">
            <a:solidFill>
              <a:srgbClr val="2A5C9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94876" y="32004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4069080"/>
            <a:ext cx="3749040" cy="0"/>
          </a:xfrm>
          <a:prstGeom prst="line">
            <a:avLst/>
          </a:prstGeom>
          <a:noFill/>
          <a:ln w="19050">
            <a:solidFill>
              <a:srgbClr val="008C9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88720" y="42976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5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Shubham Vishwakarma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201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3350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8C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353312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insurance claims data to understand claim volume, financial exposure, customer characteristics, risk segments, incident severity and operational reporting patterns.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487168"/>
            <a:ext cx="11201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633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8C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6517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workflow: data profiling and quality assessment, SQL-based cleaning and transformation, Python analysis, business intelligence reporting and predictive modeling.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785616"/>
            <a:ext cx="11201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3931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8C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3950208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solution was delivered through Power BI and Streamlit to provide interactive, business-friendly analytical insights.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5138928"/>
            <a:ext cx="211226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76072" y="5303520"/>
            <a:ext cx="1965960" cy="56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" y="5864596"/>
            <a:ext cx="19659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97480" y="5138928"/>
            <a:ext cx="211226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770632" y="5303520"/>
            <a:ext cx="1965960" cy="56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₹165.64M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2770632" y="5864596"/>
            <a:ext cx="19659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Claim Amount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5138928"/>
            <a:ext cx="211226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965192" y="5303520"/>
            <a:ext cx="1965960" cy="56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500" dirty="0"/>
          </a:p>
        </p:txBody>
      </p:sp>
      <p:sp>
        <p:nvSpPr>
          <p:cNvPr id="21" name="Text 19"/>
          <p:cNvSpPr txBox="1"/>
          <p:nvPr/>
        </p:nvSpPr>
        <p:spPr>
          <a:xfrm>
            <a:off x="4965192" y="5864596"/>
            <a:ext cx="19659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Types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86600" y="5138928"/>
            <a:ext cx="211226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159752" y="5303520"/>
            <a:ext cx="1965960" cy="56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2500" dirty="0"/>
          </a:p>
        </p:txBody>
      </p:sp>
      <p:sp>
        <p:nvSpPr>
          <p:cNvPr id="24" name="Text 22"/>
          <p:cNvSpPr txBox="1"/>
          <p:nvPr/>
        </p:nvSpPr>
        <p:spPr>
          <a:xfrm>
            <a:off x="7159752" y="5864596"/>
            <a:ext cx="19659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281160" y="5138928"/>
            <a:ext cx="211226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354312" y="5303520"/>
            <a:ext cx="1965960" cy="56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500" dirty="0"/>
          </a:p>
        </p:txBody>
      </p:sp>
      <p:sp>
        <p:nvSpPr>
          <p:cNvPr id="27" name="Text 25"/>
          <p:cNvSpPr txBox="1"/>
          <p:nvPr/>
        </p:nvSpPr>
        <p:spPr>
          <a:xfrm>
            <a:off x="9354312" y="5864596"/>
            <a:ext cx="19659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Segments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32588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companies generate large volumes of claims data containing customer, policy, incident, financial and operational information.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2395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systematic analysis, it is difficult to: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7432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overall claim volume and financial exposure.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patterns across insurance types and risk segments.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incident severity and claim-value distribution.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reporting delays and operational patterns.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claim activity across agents and vendors.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historical claim characteristics to estimate future claim amounts.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18872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7512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7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7830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insurance claims data be transformed into actionable insights for understanding claim exposure, risk, severity, operations and claim amount prediction?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55080" y="37033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629400" y="3858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C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418795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 insurance claims data into a structured analytical solution that supports reporting, pattern identification and predictive analysis.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5394960"/>
            <a:ext cx="3246120" cy="548640"/>
          </a:xfrm>
          <a:prstGeom prst="roundRect">
            <a:avLst>
              <a:gd name="adj" fmla="val 10000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5394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Claims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67912" y="5669280"/>
            <a:ext cx="475488" cy="0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89120" y="5394960"/>
            <a:ext cx="3246120" cy="548640"/>
          </a:xfrm>
          <a:prstGeom prst="roundRect">
            <a:avLst>
              <a:gd name="adj" fmla="val 10000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0" y="5394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Analysis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54112" y="5669280"/>
            <a:ext cx="475488" cy="0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75320" y="5394960"/>
            <a:ext cx="3246120" cy="548640"/>
          </a:xfrm>
          <a:prstGeom prst="roundRect">
            <a:avLst>
              <a:gd name="adj" fmla="val 10000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5320" y="5394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961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analytical objectives drive the scope of this project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1591056"/>
            <a:ext cx="512064" cy="512064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5910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24028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&amp; Financial Analysis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2788920"/>
            <a:ext cx="3099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claim volume, total claim exposure, average and median claim amount and premium patterns.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4256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0288" y="1591056"/>
            <a:ext cx="512064" cy="512064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15910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24028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Severity Analysis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788920"/>
            <a:ext cx="3099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distribution of risk segments and incident severity across insurance claims.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65592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21624" y="1591056"/>
            <a:ext cx="512064" cy="512064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21624" y="15910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21624" y="224028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Demographic Analysis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421624" y="2788920"/>
            <a:ext cx="3099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age, marital status, employment status and other demographic attributes.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7947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" y="4014216"/>
            <a:ext cx="512064" cy="512064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014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466344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Analysis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58952" y="5212080"/>
            <a:ext cx="3099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reporting delays and examine claim activity across agents and vendors.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34256" y="37947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0288" y="4014216"/>
            <a:ext cx="512064" cy="512064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014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90288" y="466344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Analysis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4590288" y="5212080"/>
            <a:ext cx="3099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relationships between risk, severity, insurance type, injury, police reports and claim amounts.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65592" y="37947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21624" y="4014216"/>
            <a:ext cx="512064" cy="512064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21624" y="4014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421624" y="466344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Analysis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8421624" y="5212080"/>
            <a:ext cx="3099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regression models to estimate claim amounts using historical claim and customer characteristics.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961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related datasets form the analytical foundation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6858000" cy="153619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claims-level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reference information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reference information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02920" y="3200400"/>
            <a:ext cx="6858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3401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 Across Datasets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33101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08C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11,800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02920" y="4160520"/>
            <a:ext cx="6858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4315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Period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6177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2020 – June 2021    ·    13 months of claims activity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Analytical Path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72400" y="178308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0" y="17830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Data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738360" y="2386584"/>
            <a:ext cx="0" cy="420624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772400" y="288036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0" y="28803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Cleaning &amp; Transformation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738360" y="3483864"/>
            <a:ext cx="0" cy="420624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772400" y="397764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0" y="39776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CLAIMS_ANALYTICS_VW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738360" y="4581144"/>
            <a:ext cx="0" cy="420624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772400" y="507492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0" y="50749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Power BI  ·  Streamlit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 — Insurance Claims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961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analytical fields used throughout the project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5486400" cy="3685032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identifier for each claim transaction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customer identifier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POLICY_NUMBER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policy identifier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TXN_DATE_TIME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date and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POLICY_EFF_DT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effective 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LOSS_DT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of loss / incident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REPORT_DT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the incident was reported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INSURANCE_TYPE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of insurance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CLAIM_AMOUNT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Monetary claim amount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premium amount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/ policy tenure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371600"/>
          <a:ext cx="5486400" cy="3401568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RISK_SEGMENTATION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segment of the claim / customer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INCIDENT_SEVERITY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 classification of the incident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ANY_INJURY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injury was reported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POLICE_REPORT_AVAILABLE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 of police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associated with the claim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associated with the claim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MARITAL_STATUS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marital 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EMPLOYMENT_STATUS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employment 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HOUSE_TYPE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house 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SOCIAL_CLASS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social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CUSTOMER_EDUCATION_LEVEL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education level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530352" y="6144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field-level dictionary is provided in Appendix 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— Entity Relationship Diagram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0175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08C95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3017520" cy="402336"/>
          </a:xfrm>
          <a:prstGeom prst="roundRect">
            <a:avLst>
              <a:gd name="adj" fmla="val 13636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7160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EMPLOYEE_DATA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1883664"/>
            <a:ext cx="26151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AGENT_ID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name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region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details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4251960"/>
            <a:ext cx="30175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08C95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4251960"/>
            <a:ext cx="3017520" cy="402336"/>
          </a:xfrm>
          <a:prstGeom prst="roundRect">
            <a:avLst>
              <a:gd name="adj" fmla="val 13636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2519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VENDOR_DATA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4764024"/>
            <a:ext cx="26151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VENDOR_ID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name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location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details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0" y="1371600"/>
            <a:ext cx="4206240" cy="429768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9050">
            <a:solidFill>
              <a:srgbClr val="2F75B5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20640" y="1371600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137160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INSURANCE_DATA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1883664"/>
            <a:ext cx="3803904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TRANSACTION_ID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POLICY_NUMBER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b="1" i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AGENT_ID</a:t>
            </a:r>
            <a:endParaRPr lang="en-US" sz="1050" b="1" i="1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b="1" i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VENDOR_ID</a:t>
            </a:r>
            <a:endParaRPr lang="en-US" sz="1050" b="1" i="1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INSURANCE_TYPE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CLAIM_AMOUNT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RISK_SEGMENTATION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INCIDENT_SEVERITY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attributes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attributes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attributes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03320" y="2084832"/>
            <a:ext cx="1371600" cy="0"/>
          </a:xfrm>
          <a:prstGeom prst="line">
            <a:avLst/>
          </a:prstGeom>
          <a:noFill/>
          <a:ln w="22225">
            <a:solidFill>
              <a:srgbClr val="17365D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703320" y="1783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AGENT_ID  1 : 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03320" y="4956048"/>
            <a:ext cx="1371600" cy="0"/>
          </a:xfrm>
          <a:prstGeom prst="line">
            <a:avLst/>
          </a:prstGeom>
          <a:noFill/>
          <a:ln w="22225">
            <a:solidFill>
              <a:srgbClr val="17365D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703320" y="4654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VENDOR_ID  1 : 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01200" y="1371600"/>
            <a:ext cx="2103120" cy="4297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802368" y="1572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Notes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820656" y="1938528"/>
            <a:ext cx="1737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is the central claims-level fact table.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and Vendor provide reference information.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on AGENT_ID and VENDOR_ID.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VENDOR_ID is nullable — 32.45% of claims have no vendor.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58952" y="1371600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62763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Excel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48256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analysis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checks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assessment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4256" y="11887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90288" y="1371600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162763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/ Snowflake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048256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cleaning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views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65592" y="11887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21624" y="1371600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421624" y="162763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/ Databricks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439912" y="2048256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analysis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7033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58952" y="3886200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58952" y="414223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562856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reporting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visualizations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34256" y="37033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90288" y="3886200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90288" y="414223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608576" y="4562856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Python app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&amp; dynamic KPIs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pages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interface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65592" y="37033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21624" y="3886200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8421624" y="414223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439912" y="4562856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· RMSE · R²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Project Architecture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0574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7780">
            <a:solidFill>
              <a:srgbClr val="2F75B5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30936" y="134416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FILES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78608" y="1627632"/>
            <a:ext cx="201168" cy="0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98064" y="1234440"/>
            <a:ext cx="20574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7780">
            <a:solidFill>
              <a:srgbClr val="2F75B5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26080" y="134416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PROFILING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73752" y="1627632"/>
            <a:ext cx="201168" cy="0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93208" y="1234440"/>
            <a:ext cx="20574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7780">
            <a:solidFill>
              <a:srgbClr val="17365D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21224" y="134416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221224" y="1636776"/>
            <a:ext cx="1801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tables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68896" y="1627632"/>
            <a:ext cx="201168" cy="0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88352" y="1234440"/>
            <a:ext cx="20574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7780">
            <a:solidFill>
              <a:srgbClr val="17365D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516368" y="134416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CLEANING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464040" y="1627632"/>
            <a:ext cx="201168" cy="0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83496" y="1234440"/>
            <a:ext cx="20574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7780">
            <a:solidFill>
              <a:srgbClr val="17365D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811512" y="134416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TRANSFORMATION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977640" y="2487168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977640" y="248716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CLAIMS_ANALYTICS_VW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972800" y="2048256"/>
            <a:ext cx="0" cy="402336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83880" y="2816352"/>
            <a:ext cx="2788920" cy="0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0" y="2450592"/>
            <a:ext cx="0" cy="384048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3000" y="3977640"/>
            <a:ext cx="32461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7780">
            <a:solidFill>
              <a:srgbClr val="2F75B5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271016" y="408736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DATABRICKS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271016" y="4379976"/>
            <a:ext cx="299008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analysis</a:t>
            </a:r>
            <a:endParaRPr lang="en-US" sz="9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61488" y="3566160"/>
            <a:ext cx="0" cy="384048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617720" y="3977640"/>
            <a:ext cx="32461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7780">
            <a:solidFill>
              <a:srgbClr val="2F75B5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745736" y="408736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745736" y="4379976"/>
            <a:ext cx="299008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Severity</a:t>
            </a:r>
            <a:endParaRPr lang="en-US" sz="9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36208" y="3566160"/>
            <a:ext cx="0" cy="384048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092440" y="3977640"/>
            <a:ext cx="32461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7780">
            <a:solidFill>
              <a:srgbClr val="008C95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220456" y="408736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220456" y="4379976"/>
            <a:ext cx="299008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Descriptive</a:t>
            </a:r>
            <a:endParaRPr lang="en-US" sz="9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· Predictive</a:t>
            </a:r>
            <a:endParaRPr lang="en-US" sz="9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710928" y="3566160"/>
            <a:ext cx="0" cy="384048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761488" y="3566160"/>
            <a:ext cx="8321040" cy="0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0760" y="3145536"/>
            <a:ext cx="0" cy="420624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5623560"/>
            <a:ext cx="11201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777240" y="574243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analytical view acts as the common analytical layer for Python, Power BI and Streamlit — eliminating duplication of cleaning logic across tools.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Assessment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6700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76072" y="1399032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08C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1943100"/>
            <a:ext cx="2523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82696" y="1234440"/>
            <a:ext cx="26700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55848" y="1399032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08C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3355848" y="1943100"/>
            <a:ext cx="2523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Agent References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62472" y="1234440"/>
            <a:ext cx="26700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35624" y="1399032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08C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6135624" y="1943100"/>
            <a:ext cx="2523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Vendor References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42248" y="1234440"/>
            <a:ext cx="26700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915400" y="1399032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08C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1943100"/>
            <a:ext cx="2523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Claim / Premium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606040"/>
            <a:ext cx="553212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2788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Missing-Value Findings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2004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ADDRESS_LINE2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10128" y="3273552"/>
            <a:ext cx="1417320" cy="118872"/>
          </a:xfrm>
          <a:prstGeom prst="rect">
            <a:avLst/>
          </a:prstGeom>
          <a:solidFill>
            <a:srgbClr val="E3E9F0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0128" y="3273552"/>
            <a:ext cx="1205431" cy="11887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73168" y="32004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8,505  (85.05%)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6758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VENDOR_ID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10128" y="3749040"/>
            <a:ext cx="1417320" cy="118872"/>
          </a:xfrm>
          <a:prstGeom prst="rect">
            <a:avLst/>
          </a:prstGeom>
          <a:solidFill>
            <a:srgbClr val="E3E9F0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0128" y="3749040"/>
            <a:ext cx="459920" cy="11887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73168" y="36758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3,245  (32.45%)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1513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AUTHORITY_CONTACTED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10128" y="4224528"/>
            <a:ext cx="1417320" cy="118872"/>
          </a:xfrm>
          <a:prstGeom prst="rect">
            <a:avLst/>
          </a:prstGeom>
          <a:solidFill>
            <a:srgbClr val="E3E9F0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0128" y="4224528"/>
            <a:ext cx="275669" cy="11887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73168" y="415137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1,945  (19.45%)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46268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CUSTOMER_EDUCATION_LEVEL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10128" y="4700016"/>
            <a:ext cx="1417320" cy="118872"/>
          </a:xfrm>
          <a:prstGeom prst="rect">
            <a:avLst/>
          </a:prstGeom>
          <a:solidFill>
            <a:srgbClr val="E3E9F0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10128" y="4700016"/>
            <a:ext cx="74976" cy="11887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73168" y="46268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529  (5.29%)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51023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10128" y="5175504"/>
            <a:ext cx="1417320" cy="118872"/>
          </a:xfrm>
          <a:prstGeom prst="rect">
            <a:avLst/>
          </a:prstGeom>
          <a:solidFill>
            <a:srgbClr val="E3E9F0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0128" y="5175504"/>
            <a:ext cx="27432" cy="11887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73168" y="51023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 (0.54%)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55778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INCIDENT_CITY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310128" y="5650992"/>
            <a:ext cx="1417320" cy="118872"/>
          </a:xfrm>
          <a:prstGeom prst="rect">
            <a:avLst/>
          </a:prstGeom>
          <a:solidFill>
            <a:srgbClr val="E3E9F0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10128" y="5650992"/>
            <a:ext cx="27432" cy="11887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773168" y="55778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 (0.46%)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99632" y="2606040"/>
            <a:ext cx="553212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6473952" y="2788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Checks Passed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473952" y="3246120"/>
            <a:ext cx="201168" cy="201168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73952" y="3246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6784848" y="320040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full-row duplicates identified.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473952" y="3721608"/>
            <a:ext cx="201168" cy="201168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73952" y="3721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6784848" y="36758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invalid Agent_ID references identified.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473952" y="4197096"/>
            <a:ext cx="201168" cy="201168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473952" y="41970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6784848" y="415137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invalid non-null Vendor_ID references identified.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473952" y="4672584"/>
            <a:ext cx="201168" cy="201168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473952" y="4672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6784848" y="462686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delay remained between 0 and 5 days.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473952" y="5148072"/>
            <a:ext cx="201168" cy="201168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473952" y="5148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6784848" y="51023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policy effective date occurred after the loss date.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473952" y="5623560"/>
            <a:ext cx="201168" cy="201168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473952" y="5623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6784848" y="55778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report date occurred before the loss date.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Data Cleaning &amp; Transformation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703320" cy="420624"/>
          </a:xfrm>
          <a:prstGeom prst="roundRect">
            <a:avLst>
              <a:gd name="adj" fmla="val 13043"/>
            </a:avLst>
          </a:prstGeom>
          <a:solidFill>
            <a:srgbClr val="6B7684"/>
          </a:solidFill>
          <a:ln w="12700">
            <a:solidFill>
              <a:srgbClr val="6B768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34440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59152" y="1673352"/>
            <a:ext cx="0" cy="118872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02920" y="1787652"/>
            <a:ext cx="3703320" cy="420624"/>
          </a:xfrm>
          <a:prstGeom prst="roundRect">
            <a:avLst>
              <a:gd name="adj" fmla="val 13043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787652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Validation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359152" y="2226564"/>
            <a:ext cx="0" cy="118872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2920" y="2340864"/>
            <a:ext cx="3703320" cy="420624"/>
          </a:xfrm>
          <a:prstGeom prst="roundRect">
            <a:avLst>
              <a:gd name="adj" fmla="val 13043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34086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/ Blank Handling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59152" y="2779776"/>
            <a:ext cx="0" cy="118872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2920" y="2894076"/>
            <a:ext cx="3703320" cy="420624"/>
          </a:xfrm>
          <a:prstGeom prst="roundRect">
            <a:avLst>
              <a:gd name="adj" fmla="val 13043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894076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Validation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359152" y="3332988"/>
            <a:ext cx="0" cy="118872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" y="3447288"/>
            <a:ext cx="3703320" cy="420624"/>
          </a:xfrm>
          <a:prstGeom prst="roundRect">
            <a:avLst>
              <a:gd name="adj" fmla="val 13043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447288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Foreign-Key Validation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359152" y="3886200"/>
            <a:ext cx="0" cy="118872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" y="4000500"/>
            <a:ext cx="3703320" cy="420624"/>
          </a:xfrm>
          <a:prstGeom prst="roundRect">
            <a:avLst>
              <a:gd name="adj" fmla="val 13043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4000500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Validation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359152" y="4439412"/>
            <a:ext cx="0" cy="118872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2920" y="4553712"/>
            <a:ext cx="3703320" cy="420624"/>
          </a:xfrm>
          <a:prstGeom prst="roundRect">
            <a:avLst>
              <a:gd name="adj" fmla="val 13043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4553712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Columns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359152" y="4992624"/>
            <a:ext cx="0" cy="118872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02920" y="5106924"/>
            <a:ext cx="3703320" cy="420624"/>
          </a:xfrm>
          <a:prstGeom prst="roundRect">
            <a:avLst>
              <a:gd name="adj" fmla="val 13043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510692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Tables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359152" y="5545836"/>
            <a:ext cx="0" cy="118872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" y="5660136"/>
            <a:ext cx="3703320" cy="420624"/>
          </a:xfrm>
          <a:prstGeom prst="roundRect">
            <a:avLst>
              <a:gd name="adj" fmla="val 13043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2920" y="5660136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CLAIMS_ANALYTICS_VW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26280" y="1234440"/>
            <a:ext cx="3794760" cy="420624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4773168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Derived Fields Created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791456" y="1911096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10912" y="18105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REPORTING_DELAY_DAYS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91456" y="2263140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10912" y="21625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CLAIM_TO_PREMIUM_RATIO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91456" y="2615184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010912" y="2514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AGE_GROUP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91456" y="2967228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010912" y="28666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TENURE_GROUP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91456" y="3319272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10912" y="3218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CLAIM_AMOUNT_BUCKET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91456" y="3671316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10912" y="35707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REPORTING_CATEGORY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91456" y="4023360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010912" y="39227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CLAIM_VALUE_CATEGORY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91456" y="4375404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010912" y="42748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LOSS_YEAR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91456" y="4727448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010912" y="46268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LOSS_MONTH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91456" y="5079492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010912" y="49789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LOSS_MONTH_NAME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613648" y="1234440"/>
            <a:ext cx="3108960" cy="1965960"/>
          </a:xfrm>
          <a:prstGeom prst="roundRect">
            <a:avLst>
              <a:gd name="adj" fmla="val 3721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8869680" y="1444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Security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8869680" y="181051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fields such as SSN, account number and routing number were excluded from the downstream analytical dataset.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613648" y="3474720"/>
            <a:ext cx="3108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8869680" y="3675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View?</a:t>
            </a:r>
            <a:endParaRPr lang="en-US" sz="1500" dirty="0"/>
          </a:p>
        </p:txBody>
      </p:sp>
      <p:sp>
        <p:nvSpPr>
          <p:cNvPr id="57" name="Text 55"/>
          <p:cNvSpPr txBox="1"/>
          <p:nvPr/>
        </p:nvSpPr>
        <p:spPr>
          <a:xfrm>
            <a:off x="8869680" y="4041648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cleaning and derivation logic lives once in SQL, so Python, Power BI and Streamlit consume identical, consistent data.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Analysis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76072" y="1353312"/>
            <a:ext cx="1609344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1840687"/>
            <a:ext cx="160934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Claims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118872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404872" y="1353312"/>
            <a:ext cx="1609344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₹165.64M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2404872" y="1840687"/>
            <a:ext cx="160934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Claim Amount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0520" y="118872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233672" y="1353312"/>
            <a:ext cx="1609344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</a:t>
            </a:r>
            <a:r>
              <a:rPr lang="en-US" sz="245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16,563.83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4233672" y="1840687"/>
            <a:ext cx="160934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Claim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18872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062472" y="1353312"/>
            <a:ext cx="1609344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₹7,000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6062472" y="1840687"/>
            <a:ext cx="160934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Claim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18120" y="118872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891272" y="1353312"/>
            <a:ext cx="1609344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₹88.51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7891272" y="1840687"/>
            <a:ext cx="160934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Premium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46920" y="118872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720072" y="1353312"/>
            <a:ext cx="1609344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3.21 days</a:t>
            </a:r>
            <a:endParaRPr lang="en-US" sz="2500" dirty="0"/>
          </a:p>
        </p:txBody>
      </p:sp>
      <p:sp>
        <p:nvSpPr>
          <p:cNvPr id="21" name="Text 19"/>
          <p:cNvSpPr txBox="1"/>
          <p:nvPr/>
        </p:nvSpPr>
        <p:spPr>
          <a:xfrm>
            <a:off x="9720072" y="1840687"/>
            <a:ext cx="160934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Reporting Delay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2450592"/>
            <a:ext cx="3547872" cy="365760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04088" y="2606040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by Insurance Type</a:t>
            </a:r>
            <a:endParaRPr lang="en-US" sz="14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612648" y="2944368"/>
          <a:ext cx="3328416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4343400" y="2450592"/>
            <a:ext cx="3547872" cy="365760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4544568" y="2606040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by Risk Segment</a:t>
            </a:r>
            <a:endParaRPr lang="en-US" sz="1400" dirty="0"/>
          </a:p>
        </p:txBody>
      </p:sp>
      <p:graphicFrame>
        <p:nvGraphicFramePr>
          <p:cNvPr id="27" name="Chart 1"/>
          <p:cNvGraphicFramePr/>
          <p:nvPr/>
        </p:nvGraphicFramePr>
        <p:xfrm>
          <a:off x="4453128" y="2944368"/>
          <a:ext cx="3328416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Shape 24"/>
          <p:cNvSpPr/>
          <p:nvPr/>
        </p:nvSpPr>
        <p:spPr>
          <a:xfrm>
            <a:off x="8183880" y="2450592"/>
            <a:ext cx="3547872" cy="365760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8385048" y="2606040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by Incident Severity</a:t>
            </a:r>
            <a:endParaRPr lang="en-US" sz="1400" dirty="0"/>
          </a:p>
        </p:txBody>
      </p:sp>
      <p:graphicFrame>
        <p:nvGraphicFramePr>
          <p:cNvPr id="30" name="Chart 2"/>
          <p:cNvGraphicFramePr/>
          <p:nvPr/>
        </p:nvGraphicFramePr>
        <p:xfrm>
          <a:off x="8293608" y="2944368"/>
          <a:ext cx="3328416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Analysis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961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Examining relationships between claim attributes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61288" y="120700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590288" y="12070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510528" y="120700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942832" y="12070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499616"/>
            <a:ext cx="1122883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737360"/>
            <a:ext cx="329184" cy="329184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" y="1499616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risk vary across incident severity?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90288" y="1719072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E2F1F2"/>
          </a:solidFill>
          <a:ln w="12700">
            <a:solidFill>
              <a:srgbClr val="BFE0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0288" y="1719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40" dirty="0">
                <a:solidFill>
                  <a:srgbClr val="006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OBSERVED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1499616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4,395  ·  Medium 4,150  ·  High 1,455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942832" y="1499616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risk categories are distributed across severity levels.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395728"/>
            <a:ext cx="1122883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2633472"/>
            <a:ext cx="329184" cy="329184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2633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" y="2395728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risk profile differ by insurance type?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90288" y="2615184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E2F1F2"/>
          </a:solidFill>
          <a:ln w="12700">
            <a:solidFill>
              <a:srgbClr val="BFE0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90288" y="26151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40" dirty="0">
                <a:solidFill>
                  <a:srgbClr val="006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OBSERVED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510528" y="2395728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insurance types  ·  10,000 claims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942832" y="2395728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compare risk composition across insurance products.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291840"/>
            <a:ext cx="1122883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3529584"/>
            <a:ext cx="329184" cy="329184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3529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61288" y="329184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claim amount vary by severity?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90288" y="3511296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E2F1F2"/>
          </a:solidFill>
          <a:ln w="12700">
            <a:solidFill>
              <a:srgbClr val="BFE0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90288" y="35112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40" dirty="0">
                <a:solidFill>
                  <a:srgbClr val="006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OBSERVED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510528" y="3291840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₹16,563.83  ·  Median ₹7,000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942832" y="329184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understand financial exposure across severity levels.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4187952"/>
            <a:ext cx="1122883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3232" y="4425696"/>
            <a:ext cx="329184" cy="329184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3232" y="4425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" y="4187952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reporting delay relate to claim amount?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90288" y="4407408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E2F1F2"/>
          </a:solidFill>
          <a:ln w="12700">
            <a:solidFill>
              <a:srgbClr val="BFE0E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90288" y="44074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40" dirty="0">
                <a:solidFill>
                  <a:srgbClr val="006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OBSERVED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6510528" y="4187952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0–5 days  ·  Average 3.21 days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942832" y="4187952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compare claim exposure across reporting timelines.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2920" y="5084064"/>
            <a:ext cx="1122883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13232" y="5321808"/>
            <a:ext cx="329184" cy="329184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13232" y="5321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161288" y="5084064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agents and vendors have different claim exposure?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90288" y="530352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E2F1F2"/>
          </a:solidFill>
          <a:ln w="12700">
            <a:solidFill>
              <a:srgbClr val="BFE0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590288" y="5303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40" dirty="0">
                <a:solidFill>
                  <a:srgbClr val="006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OBSERVED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6510528" y="5084064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vendor claim volume and exposure analyzed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942832" y="5084064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claims are distributed across operational entities.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02920" y="5998464"/>
            <a:ext cx="10561320" cy="603504"/>
          </a:xfrm>
          <a:prstGeom prst="roundRect">
            <a:avLst>
              <a:gd name="adj" fmla="val 10606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822960" y="5998464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7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analysis identifies relationships and patterns in claim data. It does not establish causation.</a:t>
            </a:r>
            <a:endParaRPr lang="en-US" sz="1000" dirty="0"/>
          </a:p>
        </p:txBody>
      </p:sp>
      <p:sp>
        <p:nvSpPr>
          <p:cNvPr id="51" name="Text 2">
            <a:extLst>
              <a:ext uri="{FF2B5EF4-FFF2-40B4-BE49-F238E27FC236}">
                <a16:creationId xmlns:a16="http://schemas.microsoft.com/office/drawing/2014/main" id="{C9D8CC3B-ADCE-BC05-D174-4EC557E08413}"/>
              </a:ext>
            </a:extLst>
          </p:cNvPr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Analysis — Claim Amount Prediction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447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C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647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CLAIM_AMOUNT using historical customer, claim, risk, incident and reporting attributes.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8346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7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906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CLAIM_AMOUNT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02920" y="38404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4005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&amp; Evaluation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4370832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370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Linear Regression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91840" y="4370832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91840" y="4370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Random Forest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498348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08406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394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04872" y="498348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04872" y="508406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496312" y="5394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032504" y="498348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32504" y="508406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123944" y="5394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1280160"/>
            <a:ext cx="5559552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446520" y="148170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46520" y="1847088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DF3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0" y="18470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Type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988552" y="1847088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DF3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25712" y="18470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46520" y="2414016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DF3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83680" y="24140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988552" y="2414016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DF3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25712" y="24140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Segmentation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46520" y="2980944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DF3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83680" y="29809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Severity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988552" y="2980944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DF3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25712" y="29809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46520" y="3547872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DF3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83680" y="35478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Status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988552" y="3547872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DF3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25712" y="35478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Type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446520" y="411480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DF3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8368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Class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988552" y="411480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DF3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125712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446520" y="4681728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DF3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583680" y="4681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Injury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988552" y="4681728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DF3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125712" y="4681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Report Available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446520" y="5248656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DF3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583680" y="52486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Hour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988552" y="5248656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DF3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125712" y="52486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Delay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 Performance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6766560" cy="13716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6,935.15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11,976.84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8C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6,903.99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12,250.86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063240"/>
            <a:ext cx="6766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32461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6118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was selected as the final model based on combined test performance.</a:t>
            </a:r>
            <a:endParaRPr lang="en-US" sz="1250" dirty="0"/>
          </a:p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a slightly lower MAE, but Linear Regression achieved a lower RMSE and a higher R². Linear Regression therefore provided the stronger overall performance for this dataset based on the selected evaluation metrics.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543800" y="1325880"/>
            <a:ext cx="4187952" cy="2194560"/>
          </a:xfrm>
          <a:prstGeom prst="roundRect">
            <a:avLst>
              <a:gd name="adj" fmla="val 3333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818120" y="1508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7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2677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FD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0.7066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272491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71% of the variation in claim amount is explained by the selected features.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543800" y="3657600"/>
            <a:ext cx="418795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818120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8C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 Note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41605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represent estimates of claim amount and should not be interpreted as guaranteed claim settlements.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01 — Insurance Claims Overview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4" name="Image 0" descr="img/dash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15568"/>
            <a:ext cx="7863840" cy="44256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15568"/>
            <a:ext cx="7863840" cy="4425696"/>
          </a:xfrm>
          <a:prstGeom prst="rect">
            <a:avLst/>
          </a:prstGeom>
          <a:ln w="12700">
            <a:solidFill>
              <a:srgbClr val="D6DE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95360" y="1115568"/>
            <a:ext cx="313639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814816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C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814816" y="1536192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high-level view of claim volume, financial exposure, insurance type distribution and monthly claim trends.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595360" y="2816352"/>
            <a:ext cx="3136392" cy="2724912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814816" y="29626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Components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833104" y="3246120"/>
            <a:ext cx="2697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Claims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Claim Amount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Claim-to-Premium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Claims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Claims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Claim Amount Trend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Exposure by Insurance Type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Volume by Insurance Type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Insurance Type slicers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5669280"/>
            <a:ext cx="11228832" cy="658368"/>
          </a:xfrm>
          <a:prstGeom prst="roundRect">
            <a:avLst>
              <a:gd name="adj" fmla="val 9722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566928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page provides the overall business-level view of insurance claim activity and financial exposure.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02 — Risk &amp; Severity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4" name="Image 0" descr="img/dash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15568"/>
            <a:ext cx="7863840" cy="44256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15568"/>
            <a:ext cx="7863840" cy="4425696"/>
          </a:xfrm>
          <a:prstGeom prst="rect">
            <a:avLst/>
          </a:prstGeom>
          <a:ln w="12700">
            <a:solidFill>
              <a:srgbClr val="D6DE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95360" y="1115568"/>
            <a:ext cx="313639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814816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C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814816" y="1536192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distribution of risk segments, incident severity, claim exposure and customer age groups.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595360" y="2816352"/>
            <a:ext cx="3136392" cy="2724912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814816" y="29626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Components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833104" y="3246120"/>
            <a:ext cx="2697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by Risk Segment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by Incident Severity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Exposure by Risk Segment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by Age Group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× Incident Severity matrix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Type slicer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Segment slicer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Severity slicer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5669280"/>
            <a:ext cx="11228832" cy="658368"/>
          </a:xfrm>
          <a:prstGeom prst="roundRect">
            <a:avLst>
              <a:gd name="adj" fmla="val 9722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566928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and Medium risk segments account for most claims, while High risk represents 14.55% of total claims.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03 — Claims Operations &amp; Review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4" name="Image 0" descr="img/dash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15568"/>
            <a:ext cx="7863840" cy="44256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15568"/>
            <a:ext cx="7863840" cy="4425696"/>
          </a:xfrm>
          <a:prstGeom prst="rect">
            <a:avLst/>
          </a:prstGeom>
          <a:ln w="12700">
            <a:solidFill>
              <a:srgbClr val="D6DE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95360" y="1115568"/>
            <a:ext cx="313639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814816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C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814816" y="1536192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reporting behavior and operational claim exposure across agents and vendors.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595360" y="2816352"/>
            <a:ext cx="3136392" cy="2724912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814816" y="29626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Components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833104" y="3246120"/>
            <a:ext cx="2697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Claims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Claims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Reporting Delay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Claims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vs Delayed Reporting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Agents by Claim Exposure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by Risk Segmentation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Vendors by Claim Exposure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5669280"/>
            <a:ext cx="11228832" cy="658368"/>
          </a:xfrm>
          <a:prstGeom prst="roundRect">
            <a:avLst>
              <a:gd name="adj" fmla="val 9722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566928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84.35% of claims are reported after the loss date, with an average reporting delay of 3.21 days.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Analytics Application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6812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Streamlit application provides an interactive Python-based analytics interface connected directly to the Snowflake analytical view.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2542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Features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3108960"/>
            <a:ext cx="137160" cy="13716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9260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data connection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59352" y="292608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3108960"/>
            <a:ext cx="137160" cy="13716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16552" y="29260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credentials via Streamlit secrets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547872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3730752"/>
            <a:ext cx="137160" cy="13716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5478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data loading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959352" y="3547872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0520" y="3730752"/>
            <a:ext cx="137160" cy="13716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16552" y="35478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169664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4352544"/>
            <a:ext cx="137160" cy="13716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16966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KPIs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959352" y="4169664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520" y="4352544"/>
            <a:ext cx="137160" cy="13716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16552" y="416966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791456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4974336"/>
            <a:ext cx="137160" cy="13716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" y="479145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analysis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959352" y="4791456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60520" y="4974336"/>
            <a:ext cx="137160" cy="13716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16552" y="479145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" y="5413248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" y="5596128"/>
            <a:ext cx="137160" cy="13716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0120" y="541324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interface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680960" y="1234440"/>
            <a:ext cx="4050792" cy="4892040"/>
          </a:xfrm>
          <a:prstGeom prst="roundRect">
            <a:avLst>
              <a:gd name="adj" fmla="val 1806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936992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Navigation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936992" y="1810512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36992" y="181051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720072" y="2340864"/>
            <a:ext cx="0" cy="201168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936992" y="2615184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936992" y="261518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9720072" y="3145536"/>
            <a:ext cx="0" cy="201168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936992" y="3419856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936992" y="341985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Analysis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9720072" y="3950208"/>
            <a:ext cx="0" cy="201168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936992" y="4224528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936992" y="422452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9720072" y="4754880"/>
            <a:ext cx="0" cy="201168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936992" y="5029200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936992" y="502920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Project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7936992" y="55595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running application is included in the project repository.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49961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499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17904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Exposure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029968"/>
            <a:ext cx="3099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claims with total exposure of ₹165.64M. Average claim is ₹16,563.83 while the median is ₹7,000 — a right-skewed distribution.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4256" y="12801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149961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0288" y="1499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65776" y="1517904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Distribution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029968"/>
            <a:ext cx="3099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claims account for 4,395, Medium-risk for 4,150 and High-risk for 1,455 (14.55% of the book).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65592" y="12801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21624" y="149961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21624" y="1499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1517904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Severity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421624" y="2029968"/>
            <a:ext cx="3099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 represents 3,390 claims, Major Loss 3,317 and Minor Loss 3,293 — an almost even split.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" y="392277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3922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941064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Behaviour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4453128"/>
            <a:ext cx="3099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reporting delay is 3.21 days. 1,565 claims were reported on the same day as the loss date.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34256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392277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90288" y="3922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065776" y="3941064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90288" y="4453128"/>
            <a:ext cx="3099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full-row duplicates and no invalid agent or vendor relationships were identified during validation.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65592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21624" y="392277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21624" y="3922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897112" y="3941064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Modeling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421624" y="4453128"/>
            <a:ext cx="3099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achieved an R² of 0.7066 on the test set, explaining a substantial share of claim-amount variation.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122883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80160"/>
            <a:ext cx="868680" cy="914400"/>
          </a:xfrm>
          <a:prstGeom prst="roundRect">
            <a:avLst>
              <a:gd name="adj" fmla="val 8421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28016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4356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Claim Exposure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755648"/>
            <a:ext cx="9829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high-value claims and claim exposure by insurance type to support financial planning and operational monitoring.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1122883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286000"/>
            <a:ext cx="868680" cy="914400"/>
          </a:xfrm>
          <a:prstGeom prst="roundRect">
            <a:avLst>
              <a:gd name="adj" fmla="val 8421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28600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4414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Risk-Based Monitoring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761488"/>
            <a:ext cx="9829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risk segmentation together with incident severity to identify claim groups requiring closer operational review.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1122883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91840"/>
            <a:ext cx="868680" cy="914400"/>
          </a:xfrm>
          <a:prstGeom prst="roundRect">
            <a:avLst>
              <a:gd name="adj" fmla="val 8421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329184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4472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Monitoring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767328"/>
            <a:ext cx="9829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reporting delays and same-day reporting patterns to understand operational reporting behaviour.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297680"/>
            <a:ext cx="1122883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297680"/>
            <a:ext cx="868680" cy="914400"/>
          </a:xfrm>
          <a:prstGeom prst="roundRect">
            <a:avLst>
              <a:gd name="adj" fmla="val 8421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429768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453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&amp; Vendor Monitoring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773168"/>
            <a:ext cx="9829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claim volume and financial exposure metrics to monitor operational workload across agents and vendors.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5303520"/>
            <a:ext cx="1122883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5303520"/>
            <a:ext cx="868680" cy="914400"/>
          </a:xfrm>
          <a:prstGeom prst="roundRect">
            <a:avLst>
              <a:gd name="adj" fmla="val 8421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530352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54589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779008"/>
            <a:ext cx="9829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claim amount prediction as a supporting analytical tool for estimation and planning, with continuous validation against future outcomes.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Deliverables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961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assignment components completed end to end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532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563624"/>
            <a:ext cx="237744" cy="237744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2376" y="1563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106424" y="141732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Data Profiling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141732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99632" y="1417320"/>
            <a:ext cx="5532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1563624"/>
            <a:ext cx="237744" cy="237744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9088" y="1563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803136" y="141732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Data Quality Analysis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314432" y="141732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075688"/>
            <a:ext cx="5532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" y="2221992"/>
            <a:ext cx="237744" cy="237744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221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106424" y="207568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Setup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2075688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9632" y="2075688"/>
            <a:ext cx="5532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088" y="2221992"/>
            <a:ext cx="237744" cy="237744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19088" y="2221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803136" y="207568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Cleaning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0314432" y="2075688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2734056"/>
            <a:ext cx="5532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" y="2880360"/>
            <a:ext cx="237744" cy="237744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2376" y="28803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06424" y="273405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Transformation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2734056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99632" y="2734056"/>
            <a:ext cx="5532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19088" y="2880360"/>
            <a:ext cx="237744" cy="237744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19088" y="28803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803136" y="273405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EDA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0314432" y="2734056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3392424"/>
            <a:ext cx="5532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376" y="3538728"/>
            <a:ext cx="237744" cy="237744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2376" y="3538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106424" y="339242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Views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4617720" y="3392424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99632" y="3392424"/>
            <a:ext cx="5532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19088" y="3538728"/>
            <a:ext cx="237744" cy="237744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19088" y="3538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803136" y="339242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10314432" y="3392424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2920" y="4050792"/>
            <a:ext cx="5532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376" y="4197096"/>
            <a:ext cx="237744" cy="237744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22376" y="41970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1106424" y="405079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Analysis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4617720" y="405079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99632" y="4050792"/>
            <a:ext cx="5532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19088" y="4197096"/>
            <a:ext cx="237744" cy="237744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19088" y="41970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6803136" y="405079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10314432" y="405079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02920" y="4709160"/>
            <a:ext cx="5532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2376" y="4855464"/>
            <a:ext cx="237744" cy="237744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22376" y="4855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1106424" y="470916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4617720" y="470916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199632" y="4709160"/>
            <a:ext cx="5532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19088" y="4855464"/>
            <a:ext cx="237744" cy="237744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419088" y="4855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6803136" y="470916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Application</a:t>
            </a:r>
            <a:endParaRPr lang="en-US" sz="1250" dirty="0"/>
          </a:p>
        </p:txBody>
      </p:sp>
      <p:sp>
        <p:nvSpPr>
          <p:cNvPr id="64" name="Text 62"/>
          <p:cNvSpPr txBox="1"/>
          <p:nvPr/>
        </p:nvSpPr>
        <p:spPr>
          <a:xfrm>
            <a:off x="10314432" y="470916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02920" y="5367528"/>
            <a:ext cx="5532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22376" y="5513832"/>
            <a:ext cx="237744" cy="237744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22376" y="5513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1106424" y="536752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250" dirty="0"/>
          </a:p>
        </p:txBody>
      </p:sp>
      <p:sp>
        <p:nvSpPr>
          <p:cNvPr id="69" name="Text 67"/>
          <p:cNvSpPr txBox="1"/>
          <p:nvPr/>
        </p:nvSpPr>
        <p:spPr>
          <a:xfrm>
            <a:off x="4617720" y="5367528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199632" y="5367528"/>
            <a:ext cx="5532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19088" y="5513832"/>
            <a:ext cx="237744" cy="237744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419088" y="5513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73" name="Text 71"/>
          <p:cNvSpPr txBox="1"/>
          <p:nvPr/>
        </p:nvSpPr>
        <p:spPr>
          <a:xfrm>
            <a:off x="6803136" y="536752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50" dirty="0"/>
          </a:p>
        </p:txBody>
      </p:sp>
      <p:sp>
        <p:nvSpPr>
          <p:cNvPr id="74" name="Text 72"/>
          <p:cNvSpPr txBox="1"/>
          <p:nvPr/>
        </p:nvSpPr>
        <p:spPr>
          <a:xfrm>
            <a:off x="10314432" y="5367528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28832" cy="914400"/>
          </a:xfrm>
          <a:prstGeom prst="roundRect">
            <a:avLst>
              <a:gd name="adj" fmla="val 8000"/>
            </a:avLst>
          </a:prstGeom>
          <a:solidFill>
            <a:srgbClr val="1D4272"/>
          </a:solidFill>
          <a:ln w="12700">
            <a:solidFill>
              <a:srgbClr val="2E5C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an end-to-end insurance claims analytics workflow, from raw data profiling and quality assessment through SQL-based data preparation, Python analysis, business intelligence and machine learning.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404872"/>
            <a:ext cx="11228832" cy="914400"/>
          </a:xfrm>
          <a:prstGeom prst="roundRect">
            <a:avLst>
              <a:gd name="adj" fmla="val 8000"/>
            </a:avLst>
          </a:prstGeom>
          <a:solidFill>
            <a:srgbClr val="1D4272"/>
          </a:solidFill>
          <a:ln w="12700">
            <a:solidFill>
              <a:srgbClr val="2E5C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40487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claims data was transformed into a structured analytical dataset and delivered through Power BI and Streamlit.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438144"/>
            <a:ext cx="11228832" cy="914400"/>
          </a:xfrm>
          <a:prstGeom prst="roundRect">
            <a:avLst>
              <a:gd name="adj" fmla="val 8000"/>
            </a:avLst>
          </a:prstGeom>
          <a:solidFill>
            <a:srgbClr val="1D4272"/>
          </a:solidFill>
          <a:ln w="12700">
            <a:solidFill>
              <a:srgbClr val="2E5C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438144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provides visibility into claim exposure, insurance types, risk segments, incident severity, customer characteristics, reporting behaviour, agent and vendor activity, and claim amount prediction.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4471416"/>
            <a:ext cx="11228832" cy="914400"/>
          </a:xfrm>
          <a:prstGeom prst="roundRect">
            <a:avLst>
              <a:gd name="adj" fmla="val 8000"/>
            </a:avLst>
          </a:prstGeom>
          <a:solidFill>
            <a:srgbClr val="1D4272"/>
          </a:solidFill>
          <a:ln w="12700">
            <a:solidFill>
              <a:srgbClr val="2E5C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471416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solution demonstrates how multiple data analytics tools work together to support a complete business analytics workflow.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5596128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2A5C96"/>
          </a:solidFill>
          <a:ln w="12700">
            <a:solidFill>
              <a:srgbClr val="2A5C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5596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450592" y="5870448"/>
            <a:ext cx="274320" cy="0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798064" y="5596128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2A5C96"/>
          </a:solidFill>
          <a:ln w="12700">
            <a:solidFill>
              <a:srgbClr val="2A5C9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98064" y="5596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81728" y="5870448"/>
            <a:ext cx="274320" cy="0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29200" y="5596128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2A5C96"/>
          </a:solidFill>
          <a:ln w="12700">
            <a:solidFill>
              <a:srgbClr val="2A5C9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0" y="5596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12864" y="5870448"/>
            <a:ext cx="274320" cy="0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60336" y="5596128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2A5C96"/>
          </a:solidFill>
          <a:ln w="12700">
            <a:solidFill>
              <a:srgbClr val="2A5C9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60336" y="5596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44000" y="5870448"/>
            <a:ext cx="274320" cy="0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491472" y="5596128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91472" y="55961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310259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4160831" y="3429000"/>
            <a:ext cx="3870338" cy="0"/>
          </a:xfrm>
          <a:prstGeom prst="line">
            <a:avLst/>
          </a:prstGeom>
          <a:noFill/>
          <a:ln w="19050">
            <a:solidFill>
              <a:srgbClr val="008C9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3977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A — Insurance Data Dictionary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961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insurance fields with business meaning and data type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5486400" cy="356616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claim transaction identifier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identifier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POLICY_NUMBER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identifier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TXN_DATE_TIME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timestamp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Date/Time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POLICY_EFF_DT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effective 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LOSS_DT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of 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REPORT_DT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of reporting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INSURANCE_TYPE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CLAIM_AMOUNT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amount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amount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/ policy tenure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371600"/>
          <a:ext cx="5486400" cy="329184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RISK_SEGMENTATION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INCIDENT_SEVERITY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severity 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ANY_INJURY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Injury indicator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POLICE_REPORT_AVAILABLE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Police report indicator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identifier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identifier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MARITAL_STATUS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Marital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EMPLOYMENT_STATUS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Employment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HOUSE_TYPE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SOCIAL_CLASS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class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CUSTOMER_EDUCATION_LEVEL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B — Derived Analytical Fields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961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engineered during SQL transformation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66420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5819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REPORTING_DELAY_DAYS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between loss date and report date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9632" y="1463040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66420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931152" y="15819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CLAIM_TO_PREMIUM_RATIO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931152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amount relative to premium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95728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" y="259689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2514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AGE_GROUP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2807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 grouping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99632" y="2395728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259689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31152" y="2514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TENURE_GROUP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931152" y="2807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grouping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328416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4088" y="352958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4088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34472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CLAIM_AMOUNT_BUCKET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37398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amount range category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9632" y="3328416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352958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931152" y="34472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REPORTING_CATEGORY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931152" y="37398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delay category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4261104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04088" y="44622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04088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234440" y="43799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CLAIM_VALUE_CATEGORY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1234440" y="46725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value category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99632" y="4261104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00800" y="44622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931152" y="43799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LOSS_YEAR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6931152" y="46725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extracted from loss date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2920" y="5193792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04088" y="539496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04088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234440" y="53126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LOSS_MONTH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1234440" y="5605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extracted from loss date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99632" y="5193792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00800" y="539496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0080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931152" y="53126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LOSS_MONTH_NAME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6931152" y="5605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name extracted from loss date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C — SQL Processing Pipeline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Order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5029200" cy="493776"/>
          </a:xfrm>
          <a:prstGeom prst="roundRect">
            <a:avLst>
              <a:gd name="adj" fmla="val 11111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627632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01_Database_Setup.sql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2139696"/>
            <a:ext cx="0" cy="146304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02920" y="2295144"/>
            <a:ext cx="5029200" cy="493776"/>
          </a:xfrm>
          <a:prstGeom prst="roundRect">
            <a:avLst>
              <a:gd name="adj" fmla="val 11111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295144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02_Raw_Data_Validation.sql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807208"/>
            <a:ext cx="0" cy="146304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" y="2962656"/>
            <a:ext cx="5029200" cy="493776"/>
          </a:xfrm>
          <a:prstGeom prst="roundRect">
            <a:avLst>
              <a:gd name="adj" fmla="val 11111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962656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03_Data_Cleaning.sql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17520" y="3474720"/>
            <a:ext cx="0" cy="146304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" y="3630168"/>
            <a:ext cx="5029200" cy="493776"/>
          </a:xfrm>
          <a:prstGeom prst="roundRect">
            <a:avLst>
              <a:gd name="adj" fmla="val 11111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3630168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04_Cleaned_Data_Validation.sql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17520" y="4142232"/>
            <a:ext cx="0" cy="146304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2920" y="4297680"/>
            <a:ext cx="5029200" cy="493776"/>
          </a:xfrm>
          <a:prstGeom prst="roundRect">
            <a:avLst>
              <a:gd name="adj" fmla="val 11111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4297680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05_Data_Transformation.sql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17520" y="4809744"/>
            <a:ext cx="0" cy="146304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2920" y="4965192"/>
            <a:ext cx="5029200" cy="493776"/>
          </a:xfrm>
          <a:prstGeom prst="roundRect">
            <a:avLst>
              <a:gd name="adj" fmla="val 11111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4965192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06_EDA_Business_Analysis.sql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17520" y="5477256"/>
            <a:ext cx="0" cy="146304"/>
          </a:xfrm>
          <a:prstGeom prst="line">
            <a:avLst/>
          </a:prstGeom>
          <a:noFill/>
          <a:ln w="22225">
            <a:solidFill>
              <a:srgbClr val="2F75B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02920" y="5632704"/>
            <a:ext cx="5029200" cy="493776"/>
          </a:xfrm>
          <a:prstGeom prst="roundRect">
            <a:avLst>
              <a:gd name="adj" fmla="val 11111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5632704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07_Final_Views.sql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234440"/>
            <a:ext cx="5833872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17220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Analytical Views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72200" y="1828800"/>
            <a:ext cx="5303520" cy="384048"/>
          </a:xfrm>
          <a:prstGeom prst="roundRect">
            <a:avLst>
              <a:gd name="adj" fmla="val 11905"/>
            </a:avLst>
          </a:prstGeom>
          <a:solidFill>
            <a:srgbClr val="E4EEF8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1975104"/>
            <a:ext cx="91440" cy="91440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0" y="182880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CLAIMS_ANALYTICS_VW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2263140"/>
            <a:ext cx="5303520" cy="384048"/>
          </a:xfrm>
          <a:prstGeom prst="roundRect">
            <a:avLst>
              <a:gd name="adj" fmla="val 11905"/>
            </a:avLst>
          </a:prstGeom>
          <a:solidFill>
            <a:srgbClr val="F2F6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2409444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83680" y="226314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CLAIMS_SUMMARY_VW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72200" y="2697480"/>
            <a:ext cx="5303520" cy="384048"/>
          </a:xfrm>
          <a:prstGeom prst="roundRect">
            <a:avLst>
              <a:gd name="adj" fmla="val 11905"/>
            </a:avLst>
          </a:prstGeom>
          <a:solidFill>
            <a:srgbClr val="F2F6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2843784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83680" y="26974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INSURANCE_TYPE_VW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72200" y="3131820"/>
            <a:ext cx="5303520" cy="384048"/>
          </a:xfrm>
          <a:prstGeom prst="roundRect">
            <a:avLst>
              <a:gd name="adj" fmla="val 11905"/>
            </a:avLst>
          </a:prstGeom>
          <a:solidFill>
            <a:srgbClr val="F2F6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55080" y="3278124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83680" y="313182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RISK_SEGMENT_VW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172200" y="3566160"/>
            <a:ext cx="5303520" cy="384048"/>
          </a:xfrm>
          <a:prstGeom prst="roundRect">
            <a:avLst>
              <a:gd name="adj" fmla="val 11905"/>
            </a:avLst>
          </a:prstGeom>
          <a:solidFill>
            <a:srgbClr val="F2F6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3712464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83680" y="356616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INCIDENT_SEVERITY_VW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172200" y="4000500"/>
            <a:ext cx="5303520" cy="384048"/>
          </a:xfrm>
          <a:prstGeom prst="roundRect">
            <a:avLst>
              <a:gd name="adj" fmla="val 11905"/>
            </a:avLst>
          </a:prstGeom>
          <a:solidFill>
            <a:srgbClr val="F2F6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55080" y="4146804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83680" y="400050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AGENT_PERFORMANCE_VW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172200" y="4434840"/>
            <a:ext cx="5303520" cy="384048"/>
          </a:xfrm>
          <a:prstGeom prst="roundRect">
            <a:avLst>
              <a:gd name="adj" fmla="val 11905"/>
            </a:avLst>
          </a:prstGeom>
          <a:solidFill>
            <a:srgbClr val="F2F6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55080" y="4581144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583680" y="443484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VENDOR_PERFORMANCE_VW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172200" y="4869180"/>
            <a:ext cx="5303520" cy="384048"/>
          </a:xfrm>
          <a:prstGeom prst="roundRect">
            <a:avLst>
              <a:gd name="adj" fmla="val 11905"/>
            </a:avLst>
          </a:prstGeom>
          <a:solidFill>
            <a:srgbClr val="F2F6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5080" y="5015484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583680" y="48691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MONTHLY_CLAIMS_TREND_VW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172200" y="5303520"/>
            <a:ext cx="5303520" cy="384048"/>
          </a:xfrm>
          <a:prstGeom prst="roundRect">
            <a:avLst>
              <a:gd name="adj" fmla="val 11905"/>
            </a:avLst>
          </a:prstGeom>
          <a:solidFill>
            <a:srgbClr val="F2F6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55080" y="5449824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583680" y="530352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STATE_CLAIMS_VW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172200" y="5737860"/>
            <a:ext cx="5303520" cy="384048"/>
          </a:xfrm>
          <a:prstGeom prst="roundRect">
            <a:avLst>
              <a:gd name="adj" fmla="val 11905"/>
            </a:avLst>
          </a:prstGeom>
          <a:solidFill>
            <a:srgbClr val="F2F6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55080" y="5884164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583680" y="573786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CLAIM_INVESTIGATION_PRIORITY_VW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D — Key Power BI Measures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961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built on CLAIMS_ANALYTICS_VW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63040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4630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Measures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2404872"/>
            <a:ext cx="109728" cy="109728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33272" y="22402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Claims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008376"/>
            <a:ext cx="109728" cy="109728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33272" y="284378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611880"/>
            <a:ext cx="109728" cy="109728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33272" y="344728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Agents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215384"/>
            <a:ext cx="109728" cy="109728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33272" y="405079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Vendors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818888"/>
            <a:ext cx="109728" cy="109728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33272" y="465429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Claims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34256" y="14630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34256" y="1463040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34256" y="14630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Measures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608576" y="2404872"/>
            <a:ext cx="109728" cy="109728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64608" y="22402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Claim Amount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08576" y="3008376"/>
            <a:ext cx="109728" cy="109728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64608" y="284378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Claim Amount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08576" y="3611880"/>
            <a:ext cx="109728" cy="109728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64608" y="344728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Claim Amount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08576" y="4215384"/>
            <a:ext cx="109728" cy="109728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64608" y="405079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Premium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08576" y="4818888"/>
            <a:ext cx="109728" cy="109728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64608" y="465429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Premium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65592" y="14630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blurRad="101600" dist="25400" dir="5400000" algn="bl" rotWithShape="0">
              <a:srgbClr val="9AA8B8">
                <a:alpha val="3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65592" y="1463040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65592" y="14630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 &amp; Operational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8439912" y="2404872"/>
            <a:ext cx="109728" cy="109728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95944" y="22402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Claim-to-Premium Ratio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39912" y="3008376"/>
            <a:ext cx="109728" cy="109728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95944" y="284378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Reporting Delay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439912" y="3611880"/>
            <a:ext cx="109728" cy="109728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95944" y="344728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Claims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439912" y="4215384"/>
            <a:ext cx="109728" cy="109728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695944" y="405079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Reporting 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439912" y="4818888"/>
            <a:ext cx="109728" cy="109728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95944" y="465429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Claim %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3114</Words>
  <Application>Microsoft Office PowerPoint</Application>
  <PresentationFormat>Widescreen</PresentationFormat>
  <Paragraphs>756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Claims Analytics</dc:title>
  <dc:subject>PptxGenJS Presentation</dc:subject>
  <dc:creator>Shubham Vishwakarma</dc:creator>
  <cp:lastModifiedBy>shubham vishwakarma</cp:lastModifiedBy>
  <cp:revision>8</cp:revision>
  <dcterms:created xsi:type="dcterms:W3CDTF">2026-09-19T15:04:25Z</dcterms:created>
  <dcterms:modified xsi:type="dcterms:W3CDTF">2026-09-21T09:07:46Z</dcterms:modified>
</cp:coreProperties>
</file>